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24" r:id="rId5"/>
    <p:sldId id="334" r:id="rId6"/>
    <p:sldId id="344" r:id="rId7"/>
    <p:sldId id="345" r:id="rId8"/>
    <p:sldId id="347" r:id="rId9"/>
    <p:sldId id="341" r:id="rId10"/>
    <p:sldId id="335" r:id="rId11"/>
    <p:sldId id="348" r:id="rId12"/>
    <p:sldId id="349" r:id="rId13"/>
    <p:sldId id="350" r:id="rId14"/>
    <p:sldId id="351" r:id="rId15"/>
    <p:sldId id="352" r:id="rId16"/>
    <p:sldId id="33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5. 6. 2026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op.wagjo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xkcd.com/327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2</a:t>
            </a:r>
            <a:r>
              <a:rPr lang="en-US" sz="4000" dirty="0"/>
              <a:t>7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Pou</a:t>
            </a:r>
            <a:r>
              <a:rPr lang="sk-SK" dirty="0"/>
              <a:t>žitie databáz v Jave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JDBC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SQLite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Prečo databázy v Jave?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314"/>
            <a:ext cx="9554497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Databázy patria medzi najdôležitejšie technológie pri vývoji moderných aplikácií. Umožňujú trvalé uchovávanie údajov, ich efektívne vyhľadávanie, úpravu a správu</a:t>
            </a:r>
          </a:p>
          <a:p>
            <a:r>
              <a:rPr lang="sk-SK" dirty="0"/>
              <a:t>Dlhodobé uloženie dát (aj po reštarte aplikácie)</a:t>
            </a:r>
          </a:p>
          <a:p>
            <a:r>
              <a:rPr lang="sk-SK" dirty="0"/>
              <a:t>Súbežný prístup viacerých používateľov/procesov</a:t>
            </a:r>
          </a:p>
          <a:p>
            <a:r>
              <a:rPr lang="sk-SK" dirty="0"/>
              <a:t>ACID vlastnosti</a:t>
            </a:r>
          </a:p>
          <a:p>
            <a:r>
              <a:rPr lang="sk-SK" dirty="0"/>
              <a:t>Výkonné </a:t>
            </a:r>
            <a:r>
              <a:rPr lang="sk-SK" dirty="0" err="1"/>
              <a:t>dotazovanie</a:t>
            </a:r>
            <a:r>
              <a:rPr lang="sk-SK" dirty="0"/>
              <a:t> a </a:t>
            </a:r>
            <a:r>
              <a:rPr lang="sk-SK" dirty="0" err="1"/>
              <a:t>reporting</a:t>
            </a:r>
            <a:endParaRPr lang="sk-SK" dirty="0"/>
          </a:p>
          <a:p>
            <a:pPr marL="0" indent="0">
              <a:lnSpc>
                <a:spcPct val="100000"/>
              </a:lnSpc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EE462-68AC-5DFC-4A18-979C55ECD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F72686-C27E-D351-7B34-EEAE2DB7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ACID</a:t>
            </a:r>
          </a:p>
        </p:txBody>
      </p:sp>
      <p:sp>
        <p:nvSpPr>
          <p:cNvPr id="8" name="Zástupný objekt pre obsah 2">
            <a:extLst>
              <a:ext uri="{FF2B5EF4-FFF2-40B4-BE49-F238E27FC236}">
                <a16:creationId xmlns:a16="http://schemas.microsoft.com/office/drawing/2014/main" id="{D0510884-56A4-20EF-C703-00460B82380D}"/>
              </a:ext>
            </a:extLst>
          </p:cNvPr>
          <p:cNvSpPr txBox="1">
            <a:spLocks/>
          </p:cNvSpPr>
          <p:nvPr/>
        </p:nvSpPr>
        <p:spPr>
          <a:xfrm>
            <a:off x="838200" y="1585314"/>
            <a:ext cx="10931013" cy="4980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b="1" dirty="0" err="1"/>
              <a:t>Atomicita</a:t>
            </a:r>
            <a:r>
              <a:rPr lang="sk-SK" dirty="0"/>
              <a:t> - Viaceré zmeny v databáza sa vykonajú ako jedna </a:t>
            </a:r>
            <a:r>
              <a:rPr lang="sk-SK" dirty="0" err="1"/>
              <a:t>tranzakcia</a:t>
            </a:r>
            <a:r>
              <a:rPr lang="sk-SK" dirty="0"/>
              <a:t>, buď sa vykonajú všetky, alebo ani jedna</a:t>
            </a:r>
          </a:p>
          <a:p>
            <a:r>
              <a:rPr lang="sk-SK" b="1" dirty="0"/>
              <a:t>Konzistencia</a:t>
            </a:r>
            <a:r>
              <a:rPr lang="sk-SK" dirty="0"/>
              <a:t> - Zmeny v databáze neporušia databázový invariant, napr. nepovolenie duplicitných hodnôt</a:t>
            </a:r>
          </a:p>
          <a:p>
            <a:r>
              <a:rPr lang="sk-SK" b="1" dirty="0"/>
              <a:t>Izolácia</a:t>
            </a:r>
            <a:r>
              <a:rPr lang="sk-SK" dirty="0"/>
              <a:t> - Pri súčasnom prístupe k databáze od viacerých užívateľov títo nebudú nikdy vidieť nedokončené zmeny od ostatných</a:t>
            </a:r>
          </a:p>
          <a:p>
            <a:r>
              <a:rPr lang="sk-SK" b="1" dirty="0" err="1"/>
              <a:t>Durability</a:t>
            </a:r>
            <a:r>
              <a:rPr lang="sk-SK" dirty="0"/>
              <a:t> - Po úspešnom prevedení zmeny sa táto zmena zachová aj pri reštarte </a:t>
            </a:r>
            <a:r>
              <a:rPr lang="sk-SK" dirty="0" err="1"/>
              <a:t>aleo</a:t>
            </a:r>
            <a:r>
              <a:rPr lang="sk-SK" dirty="0"/>
              <a:t> chybe systému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sk-SK" i="1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7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205FF0-6D33-56AD-0391-FDD95D24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8A198-3283-8E89-E9BD-E0D8A98E2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Relačné databázy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C71911B-4B97-0C87-017F-3B7F4C756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6" y="1585314"/>
            <a:ext cx="6203614" cy="4980078"/>
          </a:xfrm>
        </p:spPr>
        <p:txBody>
          <a:bodyPr>
            <a:normAutofit/>
          </a:bodyPr>
          <a:lstStyle/>
          <a:p>
            <a:r>
              <a:rPr lang="sk-SK" dirty="0"/>
              <a:t>Údaje sú organizované do tabuliek pozostávajúcich z riadkov a stĺpcov.</a:t>
            </a:r>
          </a:p>
          <a:p>
            <a:r>
              <a:rPr lang="sk-SK" dirty="0"/>
              <a:t>Každý riadok predstavuje jeden záznam a každý stĺpec určitý atribút záznamu.</a:t>
            </a:r>
          </a:p>
          <a:p>
            <a:r>
              <a:rPr lang="sk-SK" dirty="0"/>
              <a:t>Medzi najznámejšie relačné databázy patria: </a:t>
            </a:r>
            <a:r>
              <a:rPr lang="sk-SK" dirty="0" err="1"/>
              <a:t>PostgreSQL</a:t>
            </a:r>
            <a:r>
              <a:rPr lang="sk-SK" dirty="0"/>
              <a:t>, </a:t>
            </a:r>
            <a:r>
              <a:rPr lang="sk-SK" dirty="0" err="1"/>
              <a:t>SQLite</a:t>
            </a:r>
            <a:r>
              <a:rPr lang="sk-SK" dirty="0"/>
              <a:t>, MySQL / </a:t>
            </a:r>
            <a:r>
              <a:rPr lang="sk-SK" dirty="0" err="1"/>
              <a:t>MariaDB</a:t>
            </a:r>
            <a:r>
              <a:rPr lang="sk-SK" dirty="0"/>
              <a:t>, Oracle </a:t>
            </a:r>
            <a:r>
              <a:rPr lang="sk-SK" dirty="0" err="1"/>
              <a:t>Database</a:t>
            </a:r>
            <a:r>
              <a:rPr lang="sk-SK" dirty="0"/>
              <a:t> a Microsoft SQL Server</a:t>
            </a:r>
          </a:p>
          <a:p>
            <a:endParaRPr lang="sk-SK" dirty="0"/>
          </a:p>
          <a:p>
            <a:pPr marL="0" indent="0">
              <a:lnSpc>
                <a:spcPct val="110000"/>
              </a:lnSpc>
              <a:buNone/>
            </a:pPr>
            <a:endParaRPr lang="sk-SK" dirty="0">
              <a:highlight>
                <a:srgbClr val="FFFF00"/>
              </a:highlight>
            </a:endParaRP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73906D27-7C1D-ED0A-4BE5-0E60D8D50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524130"/>
              </p:ext>
            </p:extLst>
          </p:nvPr>
        </p:nvGraphicFramePr>
        <p:xfrm>
          <a:off x="6832880" y="1510811"/>
          <a:ext cx="4917368" cy="2481777"/>
        </p:xfrm>
        <a:graphic>
          <a:graphicData uri="http://schemas.openxmlformats.org/drawingml/2006/table">
            <a:tbl>
              <a:tblPr/>
              <a:tblGrid>
                <a:gridCol w="1229342">
                  <a:extLst>
                    <a:ext uri="{9D8B030D-6E8A-4147-A177-3AD203B41FA5}">
                      <a16:colId xmlns:a16="http://schemas.microsoft.com/office/drawing/2014/main" val="2741531652"/>
                    </a:ext>
                  </a:extLst>
                </a:gridCol>
                <a:gridCol w="1229342">
                  <a:extLst>
                    <a:ext uri="{9D8B030D-6E8A-4147-A177-3AD203B41FA5}">
                      <a16:colId xmlns:a16="http://schemas.microsoft.com/office/drawing/2014/main" val="3639971895"/>
                    </a:ext>
                  </a:extLst>
                </a:gridCol>
                <a:gridCol w="1229342">
                  <a:extLst>
                    <a:ext uri="{9D8B030D-6E8A-4147-A177-3AD203B41FA5}">
                      <a16:colId xmlns:a16="http://schemas.microsoft.com/office/drawing/2014/main" val="2953791499"/>
                    </a:ext>
                  </a:extLst>
                </a:gridCol>
                <a:gridCol w="1229342">
                  <a:extLst>
                    <a:ext uri="{9D8B030D-6E8A-4147-A177-3AD203B41FA5}">
                      <a16:colId xmlns:a16="http://schemas.microsoft.com/office/drawing/2014/main" val="555966463"/>
                    </a:ext>
                  </a:extLst>
                </a:gridCol>
              </a:tblGrid>
              <a:tr h="36270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>
                          <a:effectLst/>
                        </a:rPr>
                        <a:t>id</a:t>
                      </a:r>
                    </a:p>
                  </a:txBody>
                  <a:tcPr>
                    <a:lnL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107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>
                          <a:effectLst/>
                        </a:rPr>
                        <a:t>nazov</a:t>
                      </a:r>
                    </a:p>
                  </a:txBody>
                  <a:tcPr>
                    <a:lnL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F08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>
                          <a:effectLst/>
                        </a:rPr>
                        <a:t>autor</a:t>
                      </a:r>
                    </a:p>
                  </a:txBody>
                  <a:tcPr>
                    <a:lnL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F09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1">
                          <a:effectLst/>
                        </a:rPr>
                        <a:t>rok</a:t>
                      </a:r>
                    </a:p>
                  </a:txBody>
                  <a:tcPr>
                    <a:lnL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905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D0FD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56041"/>
                  </a:ext>
                </a:extLst>
              </a:tr>
              <a:tr h="117878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1</a:t>
                      </a:r>
                    </a:p>
                  </a:txBody>
                  <a:tcPr>
                    <a:lnL w="6965" cap="flat" cmpd="sng" algn="ctr">
                      <a:solidFill>
                        <a:srgbClr val="107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F08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107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D00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Java Programovanie</a:t>
                      </a:r>
                    </a:p>
                  </a:txBody>
                  <a:tcPr>
                    <a:lnL w="6965" cap="flat" cmpd="sng" algn="ctr">
                      <a:solidFill>
                        <a:srgbClr val="F08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F09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F08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F00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Ján Novák</a:t>
                      </a:r>
                    </a:p>
                  </a:txBody>
                  <a:tcPr>
                    <a:lnL w="6965" cap="flat" cmpd="sng" algn="ctr">
                      <a:solidFill>
                        <a:srgbClr val="F09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D0FD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F09E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401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>
                          <a:effectLst/>
                        </a:rPr>
                        <a:t>2023</a:t>
                      </a:r>
                    </a:p>
                  </a:txBody>
                  <a:tcPr>
                    <a:lnL w="6965" cap="flat" cmpd="sng" algn="ctr">
                      <a:solidFill>
                        <a:srgbClr val="D0FD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D0FD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D0FD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A01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831789"/>
                  </a:ext>
                </a:extLst>
              </a:tr>
              <a:tr h="90675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>
                          <a:effectLst/>
                        </a:rPr>
                        <a:t>2</a:t>
                      </a:r>
                    </a:p>
                  </a:txBody>
                  <a:tcPr>
                    <a:lnL w="6965" cap="flat" cmpd="sng" algn="ctr">
                      <a:solidFill>
                        <a:srgbClr val="D00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F00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D00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D00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Databázy</a:t>
                      </a:r>
                    </a:p>
                  </a:txBody>
                  <a:tcPr>
                    <a:lnL w="6965" cap="flat" cmpd="sng" algn="ctr">
                      <a:solidFill>
                        <a:srgbClr val="F00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401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F00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F00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>
                          <a:effectLst/>
                        </a:rPr>
                        <a:t>Peter Horváth</a:t>
                      </a:r>
                    </a:p>
                  </a:txBody>
                  <a:tcPr>
                    <a:lnL w="6965" cap="flat" cmpd="sng" algn="ctr">
                      <a:solidFill>
                        <a:srgbClr val="401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A01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401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401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sk-SK" sz="2000" b="0" dirty="0">
                          <a:effectLst/>
                        </a:rPr>
                        <a:t>2022</a:t>
                      </a:r>
                    </a:p>
                  </a:txBody>
                  <a:tcPr>
                    <a:lnL w="6965" cap="flat" cmpd="sng" algn="ctr">
                      <a:solidFill>
                        <a:srgbClr val="A01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65" cap="flat" cmpd="sng" algn="ctr">
                      <a:solidFill>
                        <a:srgbClr val="A01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65" cap="flat" cmpd="sng" algn="ctr">
                      <a:solidFill>
                        <a:srgbClr val="A01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65" cap="flat" cmpd="sng" algn="ctr">
                      <a:solidFill>
                        <a:srgbClr val="A01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291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844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5D5F0D-00C3-BB04-091D-E6A5D82A8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SQL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2517F03-6339-073D-28F5-5ABFC1DC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b="1" dirty="0"/>
              <a:t>Vytvorenie tabuľky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CREATE TABLE kniha (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id INTEGER PRIMARY KEY,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TEXT,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autor TEXT,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rok INTEGER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2229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6D77-10E3-619E-19D2-8D55324C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80E6BE-F3E1-FEFE-A540-E4D44E1D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SQL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950EDF0-F348-E856-1EFF-B5FE8D0F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k-SK" b="1" dirty="0"/>
              <a:t>Vloženie údajov</a:t>
            </a:r>
            <a:endParaRPr lang="sk-SK" dirty="0"/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INSERT INTO kniha(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, autor, rok)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VALUES ('Java Programovanie', 'Ján Novák', 2023);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b="1" dirty="0"/>
              <a:t>Čítanie údajov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SELECT * FROM kniha;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164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3BDA7-9566-F561-9683-F0A6783C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4271F5-B8D0-1A6A-FC99-DBB86E0A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SQL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9486ED2-8A35-3EA9-CA97-64D044530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4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b="1" dirty="0"/>
              <a:t>Aktualizácia údajov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UPDATE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kniha</a:t>
            </a:r>
            <a:endParaRPr lang="en-US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SET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rok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= 2024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WHERE id = 1;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b="1" dirty="0"/>
              <a:t>Odstránenie údajov</a:t>
            </a:r>
            <a:endParaRPr lang="sk-SK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DELETE FROM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</a:rPr>
              <a:t>kniha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 WHERE id = 1;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806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5FAB6-526A-309D-CBA1-E2FFE32F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38802A-6DF7-4409-DE85-773190BF3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Spôsoby prístupu k databázam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F81BCF6-8BED-B561-568D-73896BBD5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1585314"/>
            <a:ext cx="11159611" cy="4980078"/>
          </a:xfrm>
        </p:spPr>
        <p:txBody>
          <a:bodyPr>
            <a:normAutofit/>
          </a:bodyPr>
          <a:lstStyle/>
          <a:p>
            <a:r>
              <a:rPr lang="sk-SK" b="1" dirty="0"/>
              <a:t>JDBC</a:t>
            </a:r>
            <a:r>
              <a:rPr lang="sk-SK" dirty="0"/>
              <a:t> - nízkoúrovňový, plná kontrola nad SQL</a:t>
            </a:r>
          </a:p>
          <a:p>
            <a:r>
              <a:rPr lang="sk-SK" b="1" dirty="0"/>
              <a:t>ORM</a:t>
            </a:r>
            <a:r>
              <a:rPr lang="sk-SK" dirty="0"/>
              <a:t> (</a:t>
            </a:r>
            <a:r>
              <a:rPr lang="sk-SK" dirty="0" err="1"/>
              <a:t>Object-Relational</a:t>
            </a:r>
            <a:r>
              <a:rPr lang="sk-SK" dirty="0"/>
              <a:t> </a:t>
            </a:r>
            <a:r>
              <a:rPr lang="sk-SK" dirty="0" err="1"/>
              <a:t>Mapping</a:t>
            </a:r>
            <a:r>
              <a:rPr lang="sk-SK" dirty="0"/>
              <a:t>) - automatické mapovanie Java objektov na tabuľky</a:t>
            </a:r>
          </a:p>
          <a:p>
            <a:r>
              <a:rPr lang="sk-SK" dirty="0"/>
              <a:t>Vyššie abstrakcie - </a:t>
            </a:r>
            <a:r>
              <a:rPr lang="sk-SK" dirty="0" err="1"/>
              <a:t>Spring</a:t>
            </a:r>
            <a:r>
              <a:rPr lang="sk-SK" dirty="0"/>
              <a:t> </a:t>
            </a:r>
            <a:r>
              <a:rPr lang="sk-SK" dirty="0" err="1"/>
              <a:t>Data</a:t>
            </a:r>
            <a:r>
              <a:rPr lang="sk-SK" dirty="0"/>
              <a:t> JPA, </a:t>
            </a:r>
            <a:r>
              <a:rPr lang="sk-SK" dirty="0" err="1"/>
              <a:t>jOOQ</a:t>
            </a:r>
            <a:r>
              <a:rPr lang="sk-SK" dirty="0"/>
              <a:t>, </a:t>
            </a:r>
            <a:r>
              <a:rPr lang="sk-SK" dirty="0" err="1"/>
              <a:t>Querydsl</a:t>
            </a:r>
            <a:r>
              <a:rPr lang="sk-SK" dirty="0"/>
              <a:t> (nad ORM)</a:t>
            </a:r>
          </a:p>
        </p:txBody>
      </p:sp>
    </p:spTree>
    <p:extLst>
      <p:ext uri="{BB962C8B-B14F-4D97-AF65-F5344CB8AC3E}">
        <p14:creationId xmlns:p14="http://schemas.microsoft.com/office/powerpoint/2010/main" val="2952172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2CE7D-2138-DBED-56E8-5E69B291B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4E18B7-D6FC-358D-1D57-6AB6F007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JDBC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C6CEA9-7301-C6F3-016D-C94C41552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92826"/>
            <a:ext cx="11739717" cy="4972565"/>
          </a:xfrm>
        </p:spPr>
        <p:txBody>
          <a:bodyPr>
            <a:normAutofit/>
          </a:bodyPr>
          <a:lstStyle/>
          <a:p>
            <a:r>
              <a:rPr lang="sk-SK" dirty="0"/>
              <a:t>Predstavuje vrstvu medzi Java aplikáciou a databázovým serverom, vďaka ktorej môže programátor používať rovnaké rozhranie pre rôzne databázové systémy.</a:t>
            </a:r>
          </a:p>
          <a:p>
            <a:r>
              <a:rPr lang="sk-SK" dirty="0"/>
              <a:t>JDBC </a:t>
            </a:r>
            <a:r>
              <a:rPr lang="sk-SK" dirty="0" err="1"/>
              <a:t>driver</a:t>
            </a:r>
            <a:r>
              <a:rPr lang="sk-SK" dirty="0"/>
              <a:t> je teda knižnica implementujúca JDBC rozhranie pre konkrétnu databázu. O pripojenie ku konkrétnej databáza sa v JDBC stará trieda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DriverManager</a:t>
            </a:r>
            <a:r>
              <a:rPr lang="sk-S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058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93CBA-33EC-F40E-4965-98B41297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2A48F3-9936-C513-075C-AE4CF601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Trieda </a:t>
            </a:r>
            <a:r>
              <a:rPr lang="sk-SK" sz="4000" dirty="0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Connection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A31E114-16B9-FE9C-2E64-D7759D712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92826"/>
            <a:ext cx="11739717" cy="4972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Objekt triedy 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Connection</a:t>
            </a:r>
            <a:r>
              <a:rPr lang="sk-SK" dirty="0"/>
              <a:t> reprezentuje otvorené spojenie s databázou.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Príklad vytvorenia spojenia so </a:t>
            </a:r>
            <a:r>
              <a:rPr lang="sk-SK" dirty="0" err="1"/>
              <a:t>SQLite</a:t>
            </a:r>
            <a:r>
              <a:rPr lang="sk-SK" dirty="0"/>
              <a:t>: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Connection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conn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DriverManager.getConnection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jdbc:sqlite:knihy.db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Po úspešnom vytvorení spojenia môže aplikácia vykonávať SQL príkazy.</a:t>
            </a:r>
          </a:p>
        </p:txBody>
      </p:sp>
    </p:spTree>
    <p:extLst>
      <p:ext uri="{BB962C8B-B14F-4D97-AF65-F5344CB8AC3E}">
        <p14:creationId xmlns:p14="http://schemas.microsoft.com/office/powerpoint/2010/main" val="91662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BA440-13E8-F49A-901A-4A2C4441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1FF0F2-CEDE-386A-9D00-E875DF97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Trieda </a:t>
            </a:r>
            <a:r>
              <a:rPr lang="sk-SK" sz="40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Statement</a:t>
            </a:r>
            <a:endParaRPr lang="sk-SK" sz="40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EA287C-73D1-76D0-B619-8B2FC7A1B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92826"/>
            <a:ext cx="11739717" cy="4972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Objekt triedy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Statement</a:t>
            </a:r>
            <a:r>
              <a:rPr lang="sk-SK" dirty="0"/>
              <a:t> slúži na vykonávanie jednoduchých SQL príkazov.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Statement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stmt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conn.createStatement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ResultSet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stmt.executeQuery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("SELECT * FROM kniha");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Používa sa najmä v jednoduchých príkladoch a pri SQL príkazoch bez parametrov.</a:t>
            </a:r>
          </a:p>
        </p:txBody>
      </p:sp>
    </p:spTree>
    <p:extLst>
      <p:ext uri="{BB962C8B-B14F-4D97-AF65-F5344CB8AC3E}">
        <p14:creationId xmlns:p14="http://schemas.microsoft.com/office/powerpoint/2010/main" val="256097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028F0A-AEFF-411D-2916-946CD02EE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4DB5DB-9A16-BAA1-CC92-00308EED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Trieda </a:t>
            </a:r>
            <a:r>
              <a:rPr lang="sk-SK" sz="40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PreparedStatement</a:t>
            </a:r>
            <a:endParaRPr lang="sk-SK" sz="40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2E5A007-2C97-5F88-FA40-58FE950FF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92826"/>
            <a:ext cx="11739717" cy="49725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PreparedStatement</a:t>
            </a:r>
            <a:r>
              <a:rPr lang="sk-SK" dirty="0"/>
              <a:t> je rozšírením triedy 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Statement</a:t>
            </a:r>
            <a:r>
              <a:rPr lang="sk-SK" dirty="0"/>
              <a:t>. Výhody: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vyššia bezpečnosť,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ochrana proti SQL </a:t>
            </a:r>
            <a:r>
              <a:rPr lang="sk-SK" sz="2800" dirty="0" err="1"/>
              <a:t>Injection</a:t>
            </a:r>
            <a:r>
              <a:rPr lang="sk-SK" sz="2800" dirty="0"/>
              <a:t> (</a:t>
            </a:r>
            <a:r>
              <a:rPr lang="sk-SK" sz="2800" dirty="0" err="1"/>
              <a:t>little</a:t>
            </a:r>
            <a:r>
              <a:rPr lang="sk-SK" sz="2800" dirty="0"/>
              <a:t> </a:t>
            </a:r>
            <a:r>
              <a:rPr lang="sk-SK" sz="2800" dirty="0" err="1">
                <a:hlinkClick r:id="rId2"/>
              </a:rPr>
              <a:t>bobby</a:t>
            </a:r>
            <a:r>
              <a:rPr lang="sk-SK" sz="2800" dirty="0">
                <a:hlinkClick r:id="rId2"/>
              </a:rPr>
              <a:t> </a:t>
            </a:r>
            <a:r>
              <a:rPr lang="sk-SK" sz="2800" dirty="0" err="1">
                <a:hlinkClick r:id="rId2"/>
              </a:rPr>
              <a:t>tables</a:t>
            </a:r>
            <a:r>
              <a:rPr lang="sk-SK" sz="2800" dirty="0"/>
              <a:t>),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lepší výkon pri opakovanom vykonávaní,</a:t>
            </a:r>
          </a:p>
          <a:p>
            <a:pPr lvl="1">
              <a:lnSpc>
                <a:spcPct val="100000"/>
              </a:lnSpc>
            </a:pPr>
            <a:r>
              <a:rPr lang="sk-SK" sz="2800" dirty="0"/>
              <a:t>automatické ošetrenie (</a:t>
            </a:r>
            <a:r>
              <a:rPr lang="sk-SK" sz="2800" dirty="0" err="1"/>
              <a:t>escapovanie</a:t>
            </a:r>
            <a:r>
              <a:rPr lang="sk-SK" sz="2800" dirty="0"/>
              <a:t>) špeciálnych znakov.</a:t>
            </a:r>
          </a:p>
        </p:txBody>
      </p:sp>
    </p:spTree>
    <p:extLst>
      <p:ext uri="{BB962C8B-B14F-4D97-AF65-F5344CB8AC3E}">
        <p14:creationId xmlns:p14="http://schemas.microsoft.com/office/powerpoint/2010/main" val="204068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2453A-A93F-C9DB-9647-65496ACE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6E78D3-A1EC-8D00-A2C9-BD373737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Trieda </a:t>
            </a:r>
            <a:r>
              <a:rPr lang="sk-SK" sz="40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PreparedStatement</a:t>
            </a:r>
            <a:endParaRPr lang="sk-SK" sz="40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6677C4E-55AD-AC42-93B8-6D8287483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92826"/>
            <a:ext cx="11739717" cy="49725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sql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"SELECT * FROM kniha WHERE id = ?";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PreparedStatement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pstmt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conn.prepareStatement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sql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pstmt.setInt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(1, 5);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ResultSet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rs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pstmt.executeQuery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sk-SK" dirty="0"/>
              <a:t>Vo väčšine reálnych aplikácií sa odporúča používať práve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PreparedStatement</a:t>
            </a:r>
            <a:r>
              <a:rPr lang="sk-SK" dirty="0"/>
              <a:t>.</a:t>
            </a:r>
            <a:endParaRPr lang="sk-SK" sz="2800" dirty="0"/>
          </a:p>
        </p:txBody>
      </p:sp>
    </p:spTree>
    <p:extLst>
      <p:ext uri="{BB962C8B-B14F-4D97-AF65-F5344CB8AC3E}">
        <p14:creationId xmlns:p14="http://schemas.microsoft.com/office/powerpoint/2010/main" val="367065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67AE3-3A81-46B0-EC19-D58E0DE3B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1F7328-121A-0461-3EFB-0CE12B1D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Trieda </a:t>
            </a:r>
            <a:r>
              <a:rPr lang="sk-SK" sz="4000" dirty="0" err="1">
                <a:highlight>
                  <a:srgbClr val="FFFF00"/>
                </a:highlight>
                <a:latin typeface="Consolas" panose="020B0609020204030204" pitchFamily="49" charset="0"/>
                <a:ea typeface="+mn-ea"/>
                <a:cs typeface="+mn-cs"/>
              </a:rPr>
              <a:t>ResultSet</a:t>
            </a:r>
            <a:endParaRPr lang="sk-SK" sz="4000" dirty="0">
              <a:highlight>
                <a:srgbClr val="FFFF00"/>
              </a:highlight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1A694F8-2735-4820-8F33-2B313CC1B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592826"/>
            <a:ext cx="11739717" cy="4972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Objekt triedy </a:t>
            </a:r>
            <a:r>
              <a:rPr lang="sk-SK" dirty="0" err="1"/>
              <a:t>ResultSet</a:t>
            </a:r>
            <a:r>
              <a:rPr lang="sk-SK" dirty="0"/>
              <a:t> obsahuje výsledok SQL dotazu.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rs.next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()) {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id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rs.getInt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("id");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rs.getString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(id + " " +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83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4E49D-2ECF-BE43-F270-35F8788D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6CE188-7E29-6BC6-6949-381947C26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SQLite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26F0FE-7F5A-75B7-D627-C4BFD2460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85" y="2141316"/>
            <a:ext cx="11469267" cy="4424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Populárna </a:t>
            </a:r>
            <a:r>
              <a:rPr lang="sk-SK" dirty="0" err="1"/>
              <a:t>embedovaná</a:t>
            </a:r>
            <a:r>
              <a:rPr lang="sk-SK" dirty="0"/>
              <a:t> relačná databáza. Nepotrebujeme žiadny samostatný server, ale databáza beží priamo v našom programe.</a:t>
            </a:r>
          </a:p>
          <a:p>
            <a:pPr marL="0" indent="0">
              <a:buNone/>
            </a:pPr>
            <a:r>
              <a:rPr lang="sk-SK" dirty="0"/>
              <a:t>Celá databáza je jeden súbor na disku.</a:t>
            </a:r>
          </a:p>
          <a:p>
            <a:pPr marL="0" indent="0">
              <a:buNone/>
            </a:pPr>
            <a:r>
              <a:rPr lang="sk-SK" dirty="0"/>
              <a:t>Oblasti použitia: Desktopové aplikácie, Mobilné aplikácie, </a:t>
            </a:r>
            <a:r>
              <a:rPr lang="sk-SK" dirty="0" err="1"/>
              <a:t>IoT</a:t>
            </a:r>
            <a:r>
              <a:rPr lang="sk-SK" dirty="0"/>
              <a:t> / </a:t>
            </a:r>
            <a:r>
              <a:rPr lang="sk-SK" dirty="0" err="1"/>
              <a:t>embedded</a:t>
            </a:r>
            <a:r>
              <a:rPr lang="sk-SK" dirty="0"/>
              <a:t> systémy</a:t>
            </a:r>
          </a:p>
          <a:p>
            <a:pPr marL="0" indent="0">
              <a:buNone/>
            </a:pPr>
            <a:r>
              <a:rPr lang="sk-SK" dirty="0"/>
              <a:t>Nie je vhodná v týchto prípadoch: Vysoká konkurencia zápisov, veľké dáta a komplexná analytika alebo Distribuované systémy s viacerými </a:t>
            </a:r>
            <a:r>
              <a:rPr lang="sk-SK" dirty="0" err="1"/>
              <a:t>nodmi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400212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28073</TotalTime>
  <Words>662</Words>
  <Application>Microsoft Office PowerPoint</Application>
  <PresentationFormat>Širokouhlá</PresentationFormat>
  <Paragraphs>111</Paragraphs>
  <Slides>16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27</vt:lpstr>
      <vt:lpstr>Prečo databázy v Jave?</vt:lpstr>
      <vt:lpstr>ACID</vt:lpstr>
      <vt:lpstr>Relačné databázy</vt:lpstr>
      <vt:lpstr>SQL</vt:lpstr>
      <vt:lpstr>SQL</vt:lpstr>
      <vt:lpstr>SQL</vt:lpstr>
      <vt:lpstr>Spôsoby prístupu k databázam</vt:lpstr>
      <vt:lpstr>JDBC</vt:lpstr>
      <vt:lpstr>Trieda Connection</vt:lpstr>
      <vt:lpstr>Trieda Statement</vt:lpstr>
      <vt:lpstr>Trieda PreparedStatement</vt:lpstr>
      <vt:lpstr>Trieda PreparedStatement</vt:lpstr>
      <vt:lpstr>Trieda ResultSet</vt:lpstr>
      <vt:lpstr>SQLite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94</cp:revision>
  <dcterms:created xsi:type="dcterms:W3CDTF">2025-09-05T09:09:34Z</dcterms:created>
  <dcterms:modified xsi:type="dcterms:W3CDTF">2026-06-05T16:41:28Z</dcterms:modified>
</cp:coreProperties>
</file>