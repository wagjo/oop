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bookmarkIdSeed="2">
  <p:sldMasterIdLst>
    <p:sldMasterId id="2147483696" r:id="rId1"/>
  </p:sldMasterIdLst>
  <p:sldIdLst>
    <p:sldId id="266" r:id="rId2"/>
    <p:sldId id="257" r:id="rId3"/>
    <p:sldId id="269" r:id="rId4"/>
    <p:sldId id="280" r:id="rId5"/>
    <p:sldId id="281" r:id="rId6"/>
    <p:sldId id="282" r:id="rId7"/>
    <p:sldId id="283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Úvodná snímk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sk-SK"/>
              <a:t>Kliknutím upravte štýl predlohy podnadpisu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7114912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30979669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Hlavička sekc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5574200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898179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a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6863701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Len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40546845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Prázdn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697743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5430396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ok s popis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sk-SK"/>
              <a:t>Kliknutím na ikonu pridáte obrázok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sk-SK"/>
              <a:t>Kliknite sem a upravte štýly predlohy textu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17196638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z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936366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Z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405875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sk-SK"/>
              <a:t>Kliknutím upravte štýl predlohy nadpisu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sk-SK"/>
              <a:t>Kliknite sem a upravte štýly predlohy textu</a:t>
            </a:r>
          </a:p>
          <a:p>
            <a:pPr lvl="1"/>
            <a:r>
              <a:rPr lang="sk-SK"/>
              <a:t>Druhá úroveň</a:t>
            </a:r>
          </a:p>
          <a:p>
            <a:pPr lvl="2"/>
            <a:r>
              <a:rPr lang="sk-SK"/>
              <a:t>Tretia úroveň</a:t>
            </a:r>
          </a:p>
          <a:p>
            <a:pPr lvl="3"/>
            <a:r>
              <a:rPr lang="sk-SK"/>
              <a:t>Štvrtá úroveň</a:t>
            </a:r>
          </a:p>
          <a:p>
            <a:pPr lvl="4"/>
            <a:r>
              <a:rPr lang="sk-SK"/>
              <a:t>Piata úroveň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0052495-8BC8-4CFB-94B1-B0429F101A0D}" type="datetimeFigureOut">
              <a:rPr lang="sk-SK" smtClean="0"/>
              <a:t>17. 10. 2026</a:t>
            </a:fld>
            <a:endParaRPr lang="sk-SK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sk-SK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F12504F-4570-4D96-AE99-1195B26940D9}" type="slidenum">
              <a:rPr lang="sk-SK" smtClean="0"/>
              <a:t>‹#›</a:t>
            </a:fld>
            <a:endParaRPr lang="sk-SK"/>
          </a:p>
        </p:txBody>
      </p:sp>
    </p:spTree>
    <p:extLst>
      <p:ext uri="{BB962C8B-B14F-4D97-AF65-F5344CB8AC3E}">
        <p14:creationId xmlns:p14="http://schemas.microsoft.com/office/powerpoint/2010/main" val="25725244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oop.wagjo.com/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8E144086-9642-901A-F3D2-FA2652CA9A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899" y="1188637"/>
            <a:ext cx="3291839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Objektovo orientované programovanie</a:t>
            </a:r>
            <a:endParaRPr lang="sk-SK" sz="4000" i="1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8685716B-C55C-CDF8-4632-389CB907CA6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endParaRPr lang="sk-SK" dirty="0"/>
          </a:p>
          <a:p>
            <a:pPr marL="0" indent="0">
              <a:buNone/>
            </a:pPr>
            <a:r>
              <a:rPr lang="sk-SK" dirty="0"/>
              <a:t>Učiteľ: </a:t>
            </a:r>
            <a:br>
              <a:rPr lang="sk-SK" dirty="0"/>
            </a:br>
            <a:r>
              <a:rPr lang="sk-SK" b="1" dirty="0"/>
              <a:t>Ing. Jozef Wagner</a:t>
            </a:r>
            <a:r>
              <a:rPr lang="en-US" b="1" dirty="0"/>
              <a:t>,</a:t>
            </a:r>
            <a:r>
              <a:rPr lang="sk-SK" b="1" dirty="0"/>
              <a:t> PhD.</a:t>
            </a:r>
          </a:p>
          <a:p>
            <a:pPr marL="0" indent="0">
              <a:buNone/>
            </a:pPr>
            <a:endParaRPr lang="sk-SK" b="1" dirty="0"/>
          </a:p>
          <a:p>
            <a:pPr marL="0" indent="0">
              <a:buNone/>
            </a:pPr>
            <a:r>
              <a:rPr lang="sk-SK" dirty="0"/>
              <a:t>Učebnica: </a:t>
            </a:r>
            <a:br>
              <a:rPr lang="sk-SK" dirty="0"/>
            </a:br>
            <a:r>
              <a:rPr lang="sk-SK" dirty="0">
                <a:hlinkClick r:id="rId2"/>
              </a:rPr>
              <a:t>https://oop.wagjo.com/</a:t>
            </a:r>
            <a:r>
              <a:rPr lang="sk-SK" dirty="0"/>
              <a:t> </a:t>
            </a:r>
          </a:p>
          <a:p>
            <a:pPr marL="0" indent="0">
              <a:buNone/>
            </a:pP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25174436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A4026A73-1F7F-49F2-B319-8CA3B3D532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21732" y="321733"/>
            <a:ext cx="11546828" cy="6214534"/>
          </a:xfrm>
          <a:custGeom>
            <a:avLst/>
            <a:gdLst>
              <a:gd name="connsiteX0" fmla="*/ 0 w 11546828"/>
              <a:gd name="connsiteY0" fmla="*/ 0 h 6214534"/>
              <a:gd name="connsiteX1" fmla="*/ 7965430 w 11546828"/>
              <a:gd name="connsiteY1" fmla="*/ 0 h 6214534"/>
              <a:gd name="connsiteX2" fmla="*/ 7965430 w 11546828"/>
              <a:gd name="connsiteY2" fmla="*/ 1786 h 6214534"/>
              <a:gd name="connsiteX3" fmla="*/ 11546828 w 11546828"/>
              <a:gd name="connsiteY3" fmla="*/ 1786 h 6214534"/>
              <a:gd name="connsiteX4" fmla="*/ 11546828 w 11546828"/>
              <a:gd name="connsiteY4" fmla="*/ 2866740 h 6214534"/>
              <a:gd name="connsiteX5" fmla="*/ 11225095 w 11546828"/>
              <a:gd name="connsiteY5" fmla="*/ 3179536 h 6214534"/>
              <a:gd name="connsiteX6" fmla="*/ 11225095 w 11546828"/>
              <a:gd name="connsiteY6" fmla="*/ 301542 h 6214534"/>
              <a:gd name="connsiteX7" fmla="*/ 320042 w 11546828"/>
              <a:gd name="connsiteY7" fmla="*/ 301542 h 6214534"/>
              <a:gd name="connsiteX8" fmla="*/ 320042 w 11546828"/>
              <a:gd name="connsiteY8" fmla="*/ 5909424 h 6214534"/>
              <a:gd name="connsiteX9" fmla="*/ 8417210 w 11546828"/>
              <a:gd name="connsiteY9" fmla="*/ 5909424 h 6214534"/>
              <a:gd name="connsiteX10" fmla="*/ 8103383 w 11546828"/>
              <a:gd name="connsiteY10" fmla="*/ 6214534 h 6214534"/>
              <a:gd name="connsiteX11" fmla="*/ 7222929 w 11546828"/>
              <a:gd name="connsiteY11" fmla="*/ 6214534 h 6214534"/>
              <a:gd name="connsiteX12" fmla="*/ 7222929 w 11546828"/>
              <a:gd name="connsiteY12" fmla="*/ 6212748 h 6214534"/>
              <a:gd name="connsiteX13" fmla="*/ 0 w 11546828"/>
              <a:gd name="connsiteY13" fmla="*/ 6212748 h 6214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1546828" h="6214534">
                <a:moveTo>
                  <a:pt x="0" y="0"/>
                </a:moveTo>
                <a:lnTo>
                  <a:pt x="7965430" y="0"/>
                </a:lnTo>
                <a:lnTo>
                  <a:pt x="7965430" y="1786"/>
                </a:lnTo>
                <a:lnTo>
                  <a:pt x="11546828" y="1786"/>
                </a:lnTo>
                <a:lnTo>
                  <a:pt x="11546828" y="2866740"/>
                </a:lnTo>
                <a:lnTo>
                  <a:pt x="11225095" y="3179536"/>
                </a:lnTo>
                <a:lnTo>
                  <a:pt x="11225095" y="301542"/>
                </a:lnTo>
                <a:lnTo>
                  <a:pt x="320042" y="301542"/>
                </a:lnTo>
                <a:lnTo>
                  <a:pt x="320042" y="5909424"/>
                </a:lnTo>
                <a:lnTo>
                  <a:pt x="8417210" y="5909424"/>
                </a:lnTo>
                <a:lnTo>
                  <a:pt x="8103383" y="6214534"/>
                </a:lnTo>
                <a:lnTo>
                  <a:pt x="7222929" y="6214534"/>
                </a:lnTo>
                <a:lnTo>
                  <a:pt x="7222929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2" name="Right Triangle 11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3680000-8E97-7BCD-0373-6D09E7201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06900" y="1188637"/>
            <a:ext cx="3141430" cy="4480726"/>
          </a:xfrm>
        </p:spPr>
        <p:txBody>
          <a:bodyPr>
            <a:normAutofit/>
          </a:bodyPr>
          <a:lstStyle/>
          <a:p>
            <a:pPr algn="r"/>
            <a:r>
              <a:rPr lang="sk-SK" sz="4000" dirty="0"/>
              <a:t>OPG</a:t>
            </a:r>
            <a:br>
              <a:rPr lang="sk-SK" sz="4000" dirty="0"/>
            </a:br>
            <a:r>
              <a:rPr lang="sk-SK" sz="4000" dirty="0"/>
              <a:t>Cvičenie </a:t>
            </a:r>
            <a:r>
              <a:rPr lang="en-US" sz="4000" dirty="0"/>
              <a:t>5</a:t>
            </a:r>
            <a:endParaRPr lang="sk-SK" sz="4000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19A88E58-5472-E350-E606-D7A492AB52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8928" y="1338729"/>
            <a:ext cx="4795584" cy="4180542"/>
          </a:xfrm>
        </p:spPr>
        <p:txBody>
          <a:bodyPr anchor="ctr">
            <a:no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/>
              <a:t>Liter</a:t>
            </a:r>
            <a:r>
              <a:rPr lang="sk-SK" dirty="0" err="1"/>
              <a:t>ály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 err="1"/>
              <a:t>null</a:t>
            </a:r>
            <a:endParaRPr lang="sk-SK" dirty="0"/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Typová konverzia</a:t>
            </a:r>
          </a:p>
          <a:p>
            <a:pPr marL="514350" indent="-514350">
              <a:buFont typeface="+mj-lt"/>
              <a:buAutoNum type="arabicPeriod"/>
            </a:pPr>
            <a:r>
              <a:rPr lang="sk-SK" dirty="0"/>
              <a:t>Obalené typy</a:t>
            </a:r>
          </a:p>
        </p:txBody>
      </p:sp>
    </p:spTree>
    <p:extLst>
      <p:ext uri="{BB962C8B-B14F-4D97-AF65-F5344CB8AC3E}">
        <p14:creationId xmlns:p14="http://schemas.microsoft.com/office/powerpoint/2010/main" val="29912883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85B952C-DEB0-F05A-6099-A8BDC351D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EA1B4840-2877-41AB-3F4C-3F6D130D50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4742" y="1571414"/>
            <a:ext cx="10422417" cy="4729437"/>
          </a:xfrm>
        </p:spPr>
        <p:txBody>
          <a:bodyPr>
            <a:noAutofit/>
          </a:bodyPr>
          <a:lstStyle/>
          <a:p>
            <a:pPr marL="0" indent="0">
              <a:spcBef>
                <a:spcPts val="1200"/>
              </a:spcBef>
              <a:buNone/>
            </a:pP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Literál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je zápis konkrétneho údaja priamo v kóde</a:t>
            </a:r>
          </a:p>
          <a:p>
            <a:pPr marL="0" indent="0">
              <a:spcBef>
                <a:spcPts val="1200"/>
              </a:spcBef>
              <a:buNone/>
            </a:pPr>
            <a:endParaRPr lang="sk-SK" sz="2000" dirty="0"/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123   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123L  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0xFF  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 hexadecimálnej sústave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0b1010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 binárnej sústave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07    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v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osmičkovej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sústave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3.14  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1_000_000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podtržníkom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'a'           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"Line1\nLine2"  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escape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sekvenciou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"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Unicode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:\u263A"   //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String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s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Unicode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znakom ☺</a:t>
            </a:r>
          </a:p>
          <a:p>
            <a:pPr marL="0" indent="0">
              <a:spcBef>
                <a:spcPts val="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{1, 2, 3}          // pole (zložený typ, prvky sú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literály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916E66A-BCC7-CD34-6629-ED8AD7BB94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Literál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7045398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FA8BAED-4B09-2A59-7456-E8811DF3E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C1E6AE06-71A5-A8B5-C4A1-B67C3C897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7"/>
            <a:ext cx="10241933" cy="470287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vyjadruje neprítomnosť hodnoty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600"/>
              </a:spcBef>
              <a:buNone/>
            </a:pPr>
            <a:r>
              <a:rPr lang="sk-SK" dirty="0"/>
              <a:t>Používa sa pri nasledovných situáciách:</a:t>
            </a:r>
          </a:p>
          <a:p>
            <a:pPr lvl="1">
              <a:spcBef>
                <a:spcPts val="600"/>
              </a:spcBef>
            </a:pPr>
            <a:r>
              <a:rPr lang="sk-SK" sz="2800" dirty="0"/>
              <a:t>Inicializácia premenných, keď ešte nemáme vypočítanú hodnotu</a:t>
            </a:r>
          </a:p>
          <a:p>
            <a:pPr lvl="1">
              <a:spcBef>
                <a:spcPts val="600"/>
              </a:spcBef>
            </a:pPr>
            <a:r>
              <a:rPr lang="sk-SK" sz="2800" dirty="0"/>
              <a:t>Ak metóda, ktorá má vyhľadať objekt ho nenašla, alebo nedokáže vypočítať výsledok</a:t>
            </a:r>
          </a:p>
          <a:p>
            <a:pPr lvl="1">
              <a:spcBef>
                <a:spcPts val="600"/>
              </a:spcBef>
            </a:pPr>
            <a:r>
              <a:rPr lang="sk-SK" sz="2800" dirty="0"/>
              <a:t>Keď už nechceme, aby premenná viac ukazovala na konkrétny objekt</a:t>
            </a:r>
          </a:p>
          <a:p>
            <a:pPr marL="36000" indent="0">
              <a:lnSpc>
                <a:spcPct val="110000"/>
              </a:lnSpc>
              <a:spcBef>
                <a:spcPts val="60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Výnimka </a:t>
            </a:r>
            <a:r>
              <a:rPr lang="sk-SK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NullPointerException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sa vyhodí, ak program očakával objekt a nie </a:t>
            </a:r>
            <a:r>
              <a:rPr lang="sk-SK" sz="2400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null</a:t>
            </a:r>
            <a:endParaRPr lang="sk-SK" sz="2400" dirty="0">
              <a:solidFill>
                <a:srgbClr val="FF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5840C1A-BB43-43D0-0D2E-4E5176CB9B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 err="1"/>
              <a:t>Null</a:t>
            </a:r>
            <a:endParaRPr lang="sk-SK" dirty="0"/>
          </a:p>
        </p:txBody>
      </p:sp>
    </p:spTree>
    <p:extLst>
      <p:ext uri="{BB962C8B-B14F-4D97-AF65-F5344CB8AC3E}">
        <p14:creationId xmlns:p14="http://schemas.microsoft.com/office/powerpoint/2010/main" val="176410964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E1F9665-9798-37F0-9288-FDD188B33C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D8E4A649-EEEB-9406-E017-14B3B00DF8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24643" y="1533966"/>
            <a:ext cx="10241933" cy="4894265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/>
              <a:t>Typová konverzia umožňuje konvertovať medzi dátovými typmi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Implicitná konverzia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-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widening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, automaticky konvertuje menšie typy na väčšie 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600"/>
              </a:spcBef>
              <a:buNone/>
            </a:pP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byte →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short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→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→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→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→ </a:t>
            </a:r>
            <a:r>
              <a:rPr lang="sk-SK" sz="2400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sz="2400" dirty="0"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</a:p>
          <a:p>
            <a:pPr marL="0" indent="0">
              <a:spcBef>
                <a:spcPts val="600"/>
              </a:spcBef>
              <a:buNone/>
            </a:pP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char</a:t>
            </a:r>
            <a:r>
              <a:rPr lang="sk-SK" sz="2400" b="1" dirty="0">
                <a:highlight>
                  <a:srgbClr val="FFFF00"/>
                </a:highlight>
                <a:latin typeface="Consolas" panose="020B0609020204030204" pitchFamily="49" charset="0"/>
              </a:rPr>
              <a:t> → </a:t>
            </a:r>
            <a:r>
              <a:rPr lang="sk-SK" sz="2400" b="1" dirty="0" err="1">
                <a:highlight>
                  <a:srgbClr val="FFFF00"/>
                </a:highlight>
                <a:latin typeface="Consolas" panose="020B0609020204030204" pitchFamily="49" charset="0"/>
              </a:rPr>
              <a:t>int</a:t>
            </a:r>
            <a:endParaRPr lang="sk-SK" sz="2400" b="1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endParaRPr lang="sk-SK" sz="2400" dirty="0"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0" indent="0">
              <a:spcBef>
                <a:spcPts val="0"/>
              </a:spcBef>
              <a:buNone/>
            </a:pP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Explicitná konverzia 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-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narrowing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alebo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casting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, manuálna konverzia.</a:t>
            </a:r>
            <a:r>
              <a:rPr lang="sk-SK" dirty="0"/>
              <a:t> Môžu nastať nasledovné problémy:</a:t>
            </a:r>
          </a:p>
          <a:p>
            <a:pPr lvl="1"/>
            <a:r>
              <a:rPr lang="sk-SK" sz="2800" dirty="0"/>
              <a:t>odrezanie desatinných miest</a:t>
            </a:r>
          </a:p>
          <a:p>
            <a:pPr lvl="1"/>
            <a:r>
              <a:rPr lang="sk-SK" sz="2800" dirty="0"/>
              <a:t>pretečenie (</a:t>
            </a:r>
            <a:r>
              <a:rPr lang="sk-SK" sz="2800" dirty="0" err="1"/>
              <a:t>overflow</a:t>
            </a:r>
            <a:r>
              <a:rPr lang="sk-SK" sz="2800" dirty="0"/>
              <a:t>)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0268FAF7-D5C8-CDBA-F566-11399AA4B9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Typová konverzia</a:t>
            </a:r>
          </a:p>
        </p:txBody>
      </p:sp>
    </p:spTree>
    <p:extLst>
      <p:ext uri="{BB962C8B-B14F-4D97-AF65-F5344CB8AC3E}">
        <p14:creationId xmlns:p14="http://schemas.microsoft.com/office/powerpoint/2010/main" val="1929431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3A7BD4A-C597-48DB-F65E-FF33371FDD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Nadpis 4">
            <a:extLst>
              <a:ext uri="{FF2B5EF4-FFF2-40B4-BE49-F238E27FC236}">
                <a16:creationId xmlns:a16="http://schemas.microsoft.com/office/drawing/2014/main" id="{9A6E9BF1-6B43-7F9C-031A-FA435821B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sk-SK" dirty="0"/>
          </a:p>
        </p:txBody>
      </p:sp>
      <p:pic>
        <p:nvPicPr>
          <p:cNvPr id="7" name="Zástupný objekt pre obsah 6">
            <a:extLst>
              <a:ext uri="{FF2B5EF4-FFF2-40B4-BE49-F238E27FC236}">
                <a16:creationId xmlns:a16="http://schemas.microsoft.com/office/drawing/2014/main" id="{B5570634-536E-56E8-6B3B-54D4471A150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1936" y="158875"/>
            <a:ext cx="9832848" cy="6540249"/>
          </a:xfrm>
        </p:spPr>
      </p:pic>
    </p:spTree>
    <p:extLst>
      <p:ext uri="{BB962C8B-B14F-4D97-AF65-F5344CB8AC3E}">
        <p14:creationId xmlns:p14="http://schemas.microsoft.com/office/powerpoint/2010/main" val="8742082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1AE41F6-CB61-A160-FFEC-8766058CEB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Zástupný objekt pre obsah 2">
            <a:extLst>
              <a:ext uri="{FF2B5EF4-FFF2-40B4-BE49-F238E27FC236}">
                <a16:creationId xmlns:a16="http://schemas.microsoft.com/office/drawing/2014/main" id="{20BEFA32-B090-EFA9-3FCB-86DC103381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802112" cy="4702876"/>
          </a:xfrm>
        </p:spPr>
        <p:txBody>
          <a:bodyPr>
            <a:no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Pre každý primitívny dátový typ existuje príslušný obalený typ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Byte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Short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Integer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Long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Float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Double</a:t>
            </a:r>
            <a:r>
              <a:rPr lang="sk-SK" dirty="0"/>
              <a:t>, </a:t>
            </a:r>
            <a:r>
              <a:rPr lang="sk-SK" dirty="0" err="1">
                <a:highlight>
                  <a:srgbClr val="FFFF00"/>
                </a:highlight>
                <a:latin typeface="Consolas" panose="020B0609020204030204" pitchFamily="49" charset="0"/>
              </a:rPr>
              <a:t>Character</a:t>
            </a:r>
            <a:r>
              <a:rPr lang="sk-SK" dirty="0"/>
              <a:t>, </a:t>
            </a:r>
            <a:r>
              <a:rPr lang="sk-SK" dirty="0">
                <a:highlight>
                  <a:srgbClr val="FFFF00"/>
                </a:highlight>
                <a:latin typeface="Consolas" panose="020B0609020204030204" pitchFamily="49" charset="0"/>
              </a:rPr>
              <a:t>Boolean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Autoboxing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a </a:t>
            </a:r>
            <a:r>
              <a:rPr lang="sk-SK" b="1" dirty="0">
                <a:solidFill>
                  <a:srgbClr val="FF0000"/>
                </a:solidFill>
                <a:highlight>
                  <a:srgbClr val="00FFFF"/>
                </a:highlight>
              </a:rPr>
              <a:t>auto-</a:t>
            </a:r>
            <a:r>
              <a:rPr lang="sk-SK" b="1" dirty="0" err="1">
                <a:solidFill>
                  <a:srgbClr val="FF0000"/>
                </a:solidFill>
                <a:highlight>
                  <a:srgbClr val="00FFFF"/>
                </a:highlight>
              </a:rPr>
              <a:t>unboxing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je automatická konverzia z a do balených typov</a:t>
            </a:r>
            <a:r>
              <a:rPr lang="sk-SK" dirty="0"/>
              <a:t>, keď je to potrebné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Uprednostňujeme primitívne typy pred obalenými, Java robí konverzie za nás. 2 obalené objekty porovnávam cez </a:t>
            </a:r>
            <a:r>
              <a:rPr lang="sk-SK" dirty="0" err="1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equals</a:t>
            </a:r>
            <a:r>
              <a:rPr lang="sk-SK" dirty="0">
                <a:solidFill>
                  <a:srgbClr val="FF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()</a:t>
            </a:r>
          </a:p>
          <a:p>
            <a:pPr marL="0" indent="0">
              <a:spcBef>
                <a:spcPts val="0"/>
              </a:spcBef>
              <a:buNone/>
            </a:pPr>
            <a:endParaRPr lang="sk-SK" dirty="0"/>
          </a:p>
          <a:p>
            <a:pPr marL="0" indent="0">
              <a:spcBef>
                <a:spcPts val="0"/>
              </a:spcBef>
              <a:buNone/>
            </a:pPr>
            <a:r>
              <a:rPr lang="sk-SK" dirty="0"/>
              <a:t>Obalené triedy obsahujú užitočné metódy a konštanty</a:t>
            </a:r>
          </a:p>
        </p:txBody>
      </p:sp>
      <p:sp>
        <p:nvSpPr>
          <p:cNvPr id="5" name="Nadpis 4">
            <a:extLst>
              <a:ext uri="{FF2B5EF4-FFF2-40B4-BE49-F238E27FC236}">
                <a16:creationId xmlns:a16="http://schemas.microsoft.com/office/drawing/2014/main" id="{DFE31504-0A3E-4872-8C1E-5C5F9D5D6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Obalené typy -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wrapper</a:t>
            </a:r>
            <a:r>
              <a:rPr lang="sk-SK" dirty="0">
                <a:solidFill>
                  <a:srgbClr val="FF0000"/>
                </a:solidFill>
                <a:highlight>
                  <a:srgbClr val="00FFFF"/>
                </a:highlight>
              </a:rPr>
              <a:t> </a:t>
            </a:r>
            <a:r>
              <a:rPr lang="sk-SK" dirty="0" err="1">
                <a:solidFill>
                  <a:srgbClr val="FF0000"/>
                </a:solidFill>
                <a:highlight>
                  <a:srgbClr val="00FFFF"/>
                </a:highlight>
              </a:rPr>
              <a:t>classes</a:t>
            </a:r>
            <a:endParaRPr lang="sk-SK" dirty="0">
              <a:solidFill>
                <a:srgbClr val="FF0000"/>
              </a:solidFill>
              <a:highlight>
                <a:srgbClr val="00FFFF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1312209904"/>
      </p:ext>
    </p:extLst>
  </p:cSld>
  <p:clrMapOvr>
    <a:masterClrMapping/>
  </p:clrMapOvr>
</p:sld>
</file>

<file path=ppt/theme/theme1.xml><?xml version="1.0" encoding="utf-8"?>
<a:theme xmlns:a="http://schemas.openxmlformats.org/drawingml/2006/main" name="Motív Office">
  <a:themeElements>
    <a:clrScheme name="Motív 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Motív 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Motív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415</TotalTime>
  <Words>311</Words>
  <Application>Microsoft Office PowerPoint</Application>
  <PresentationFormat>Širokouhlá</PresentationFormat>
  <Paragraphs>53</Paragraphs>
  <Slides>7</Slides>
  <Notes>0</Notes>
  <HiddenSlides>0</HiddenSlides>
  <MMClips>0</MMClips>
  <ScaleCrop>false</ScaleCrop>
  <HeadingPairs>
    <vt:vector size="6" baseType="variant">
      <vt:variant>
        <vt:lpstr>Použité písma</vt:lpstr>
      </vt:variant>
      <vt:variant>
        <vt:i4>4</vt:i4>
      </vt:variant>
      <vt:variant>
        <vt:lpstr>Motív</vt:lpstr>
      </vt:variant>
      <vt:variant>
        <vt:i4>1</vt:i4>
      </vt:variant>
      <vt:variant>
        <vt:lpstr>Nadpisy snímok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Consolas</vt:lpstr>
      <vt:lpstr>Motív Office</vt:lpstr>
      <vt:lpstr>Objektovo orientované programovanie</vt:lpstr>
      <vt:lpstr>OPG Cvičenie 5</vt:lpstr>
      <vt:lpstr>Literál</vt:lpstr>
      <vt:lpstr>Null</vt:lpstr>
      <vt:lpstr>Typová konverzia</vt:lpstr>
      <vt:lpstr>Prezentácia programu PowerPoint</vt:lpstr>
      <vt:lpstr>Obalené typy - wrapper classes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Lenka Wagnerová</dc:creator>
  <cp:lastModifiedBy>Wagner Jozef Ing., PhD.</cp:lastModifiedBy>
  <cp:revision>22</cp:revision>
  <dcterms:created xsi:type="dcterms:W3CDTF">2025-09-05T09:09:34Z</dcterms:created>
  <dcterms:modified xsi:type="dcterms:W3CDTF">2026-10-17T09:05:12Z</dcterms:modified>
</cp:coreProperties>
</file>