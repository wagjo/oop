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6" r:id="rId2"/>
    <p:sldId id="257" r:id="rId3"/>
    <p:sldId id="258" r:id="rId4"/>
    <p:sldId id="267" r:id="rId5"/>
    <p:sldId id="269" r:id="rId6"/>
    <p:sldId id="268" r:id="rId7"/>
    <p:sldId id="27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7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5. 10. 2026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91365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5. 10. 2026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74269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5. 10. 2026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07281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5. 10. 2026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65352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5. 10. 2026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74369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5. 10. 2026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07842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5. 10. 2026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17515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5. 10. 2026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08196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5. 10. 2026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09070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5. 10. 2026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88063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5. 10. 2026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52091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5. 10. 2026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82812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323955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</a:t>
            </a:r>
            <a:r>
              <a:rPr lang="en-US" b="1" dirty="0"/>
              <a:t>,</a:t>
            </a:r>
            <a:r>
              <a:rPr lang="sk-SK" b="1" dirty="0"/>
              <a:t>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786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</a:t>
            </a:r>
            <a:br>
              <a:rPr lang="sk-SK" sz="4000" dirty="0"/>
            </a:br>
            <a:r>
              <a:rPr lang="sk-SK" sz="4000" dirty="0"/>
              <a:t>Teória </a:t>
            </a:r>
            <a:r>
              <a:rPr lang="en-US" sz="4000" dirty="0"/>
              <a:t>6</a:t>
            </a:r>
            <a:endParaRPr lang="sk-SK" sz="4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Aritmetické</a:t>
            </a:r>
            <a:r>
              <a:rPr lang="en-US" dirty="0"/>
              <a:t> </a:t>
            </a:r>
            <a:r>
              <a:rPr lang="en-US" dirty="0" err="1"/>
              <a:t>operátory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Operátory priradenia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Relačné operátory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Bitové</a:t>
            </a:r>
            <a:r>
              <a:rPr lang="en-US" dirty="0"/>
              <a:t> a </a:t>
            </a:r>
            <a:r>
              <a:rPr lang="en-US" dirty="0" err="1"/>
              <a:t>logické</a:t>
            </a:r>
            <a:r>
              <a:rPr lang="en-US" dirty="0"/>
              <a:t> </a:t>
            </a:r>
            <a:r>
              <a:rPr lang="en-US" dirty="0" err="1"/>
              <a:t>operátory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6D5FFFD-949C-5777-368D-7616CC67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>
                <a:solidFill>
                  <a:srgbClr val="FF0000"/>
                </a:solidFill>
                <a:highlight>
                  <a:srgbClr val="00FFFF"/>
                </a:highlight>
              </a:rPr>
              <a:t>Aritmetick</a:t>
            </a:r>
            <a:r>
              <a:rPr lang="sk-SK" sz="4000" dirty="0">
                <a:solidFill>
                  <a:srgbClr val="FF0000"/>
                </a:solidFill>
                <a:highlight>
                  <a:srgbClr val="00FFFF"/>
                </a:highlight>
              </a:rPr>
              <a:t>é operátory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834EA18-2911-E0AA-A6B4-7AC44110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9316" y="1603602"/>
            <a:ext cx="8953716" cy="4720998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pl-PL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+ - 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* / %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Ak sú obidva </a:t>
            </a:r>
            <a:r>
              <a:rPr lang="sk-SK" dirty="0" err="1">
                <a:solidFill>
                  <a:srgbClr val="FF0000"/>
                </a:solidFill>
                <a:highlight>
                  <a:srgbClr val="00FFFF"/>
                </a:highlight>
              </a:rPr>
              <a:t>operandy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celé čísla, </a:t>
            </a:r>
            <a:br>
              <a:rPr lang="en-US" dirty="0">
                <a:solidFill>
                  <a:srgbClr val="FF0000"/>
                </a:solidFill>
                <a:highlight>
                  <a:srgbClr val="00FFFF"/>
                </a:highlight>
              </a:rPr>
            </a:b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výsledok je celé číslo zaokrúhlené nadol</a:t>
            </a:r>
            <a:endParaRPr lang="en-US" dirty="0">
              <a:solidFill>
                <a:srgbClr val="FF0000"/>
              </a:solidFill>
              <a:highlight>
                <a:srgbClr val="00FFFF"/>
              </a:highlight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sk-SK" sz="24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7 / 2; // </a:t>
            </a: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3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sz="24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7.0 / 2; // 3.5</a:t>
            </a:r>
          </a:p>
          <a:p>
            <a:pPr marL="0" indent="0">
              <a:spcBef>
                <a:spcPts val="1200"/>
              </a:spcBef>
              <a:buNone/>
            </a:pPr>
            <a:endParaRPr lang="en-US" dirty="0"/>
          </a:p>
          <a:p>
            <a:pPr marL="0" indent="0">
              <a:spcBef>
                <a:spcPts val="1200"/>
              </a:spcBef>
              <a:buNone/>
            </a:pPr>
            <a:r>
              <a:rPr lang="sk-SK" dirty="0" err="1"/>
              <a:t>Modulo</a:t>
            </a:r>
            <a:r>
              <a:rPr lang="sk-SK" dirty="0"/>
              <a:t>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%</a:t>
            </a:r>
            <a:r>
              <a:rPr lang="sk-SK" dirty="0"/>
              <a:t> má vo výsledku znamienko deleného čísla</a:t>
            </a:r>
            <a:endParaRPr lang="en-US" dirty="0"/>
          </a:p>
          <a:p>
            <a:pPr marL="0" indent="0">
              <a:spcBef>
                <a:spcPts val="120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( 17 % 5 );   //  2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(-17 % 5 );   // -2</a:t>
            </a:r>
          </a:p>
        </p:txBody>
      </p:sp>
    </p:spTree>
    <p:extLst>
      <p:ext uri="{BB962C8B-B14F-4D97-AF65-F5344CB8AC3E}">
        <p14:creationId xmlns:p14="http://schemas.microsoft.com/office/powerpoint/2010/main" val="4278490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F93B10-2E41-C701-3360-8A6B10EA4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2F6475C-8AE4-1B52-20C6-BFA2AE5BE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  <a:highlight>
                  <a:srgbClr val="00FFFF"/>
                </a:highlight>
              </a:rPr>
              <a:t>Oper</a:t>
            </a:r>
            <a:r>
              <a:rPr lang="sk-SK" sz="4000" dirty="0" err="1">
                <a:solidFill>
                  <a:srgbClr val="FF0000"/>
                </a:solidFill>
                <a:highlight>
                  <a:srgbClr val="00FFFF"/>
                </a:highlight>
              </a:rPr>
              <a:t>átory</a:t>
            </a:r>
            <a:r>
              <a:rPr lang="sk-SK" sz="4000" dirty="0">
                <a:solidFill>
                  <a:srgbClr val="FF0000"/>
                </a:solidFill>
                <a:highlight>
                  <a:srgbClr val="00FFFF"/>
                </a:highlight>
              </a:rPr>
              <a:t> priradenia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B8D3C36-B54C-15A2-A394-4B84ABC28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9316" y="1603602"/>
            <a:ext cx="8953716" cy="4720998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Operátor 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=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kopíruje primitívnu hodnotu, </a:t>
            </a:r>
            <a:b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</a:b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pri objektoch kopíruje referenciu na objekt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+= -= *= /= %=</a:t>
            </a:r>
            <a:r>
              <a:rPr lang="sk-SK" dirty="0">
                <a:solidFill>
                  <a:srgbClr val="FF0000"/>
                </a:solidFill>
              </a:rPr>
              <a:t>  </a:t>
            </a:r>
            <a:r>
              <a:rPr lang="sk-SK" dirty="0"/>
              <a:t>priradenie s operáciou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sk-SK" dirty="0" err="1"/>
              <a:t>Inkrement</a:t>
            </a:r>
            <a:r>
              <a:rPr lang="sk-SK" dirty="0"/>
              <a:t>/</a:t>
            </a:r>
            <a:r>
              <a:rPr lang="sk-SK" dirty="0" err="1"/>
              <a:t>Dekrement</a:t>
            </a:r>
            <a:endParaRPr lang="sk-SK" dirty="0"/>
          </a:p>
          <a:p>
            <a:pPr marL="457200" lvl="1" indent="0">
              <a:spcBef>
                <a:spcPts val="1200"/>
              </a:spcBef>
              <a:buNone/>
            </a:pPr>
            <a:r>
              <a:rPr lang="sk-SK" sz="28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++x</a:t>
            </a: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 najprv zvýši </a:t>
            </a:r>
            <a:r>
              <a:rPr lang="sk-SK" sz="28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x</a:t>
            </a: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, potom vráti novú hodnotu</a:t>
            </a:r>
          </a:p>
          <a:p>
            <a:pPr marL="457200" lvl="1" indent="0">
              <a:spcBef>
                <a:spcPts val="1200"/>
              </a:spcBef>
              <a:buNone/>
            </a:pPr>
            <a:r>
              <a:rPr lang="sk-SK" sz="28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x++</a:t>
            </a: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 najprv vráti starú hodnotu </a:t>
            </a:r>
            <a:r>
              <a:rPr lang="sk-SK" sz="28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x</a:t>
            </a: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, potom ju zvýši</a:t>
            </a:r>
          </a:p>
          <a:p>
            <a:pPr marL="0" indent="0">
              <a:spcBef>
                <a:spcPts val="0"/>
              </a:spcBef>
              <a:buNone/>
            </a:pPr>
            <a:endParaRPr lang="pl-PL" sz="2400" dirty="0">
              <a:solidFill>
                <a:srgbClr val="FF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pl-PL" sz="24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 x = 5;</a:t>
            </a:r>
          </a:p>
          <a:p>
            <a:pPr marL="0" indent="0">
              <a:spcBef>
                <a:spcPts val="0"/>
              </a:spcBef>
              <a:buNone/>
            </a:pPr>
            <a:r>
              <a:rPr lang="pl-PL" sz="24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 y = x++;   // y == 5, x == 6</a:t>
            </a:r>
          </a:p>
          <a:p>
            <a:pPr marL="0" indent="0">
              <a:spcBef>
                <a:spcPts val="0"/>
              </a:spcBef>
              <a:buNone/>
            </a:pPr>
            <a:r>
              <a:rPr lang="pl-PL" sz="24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 z = ++x;   // z == 7, x == 7</a:t>
            </a:r>
            <a:endParaRPr lang="sk-SK" sz="2400" dirty="0">
              <a:solidFill>
                <a:srgbClr val="FF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765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92F114-DEE4-D90A-7581-20A4F3721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E6014E-B909-AABD-E007-0861B6B97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sz="4000" dirty="0"/>
              <a:t>Relačné operátory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192B795-699D-1948-C459-BBA8DBFCF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3516" y="1690688"/>
            <a:ext cx="10855668" cy="4720998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sk-SK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== != &lt; &gt; &lt;= &gt;=</a:t>
            </a:r>
            <a:r>
              <a:rPr kumimoji="0" lang="sk-SK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</a:t>
            </a:r>
            <a:r>
              <a:rPr kumimoji="0" lang="sk-SK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00FFFF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výsledok je boolean </a:t>
            </a:r>
            <a:r>
              <a:rPr kumimoji="0" lang="sk-SK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hodnota </a:t>
            </a:r>
            <a:r>
              <a:rPr kumimoji="0" lang="sk-SK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true</a:t>
            </a:r>
            <a:r>
              <a:rPr kumimoji="0" lang="sk-SK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alebo </a:t>
            </a:r>
            <a:r>
              <a:rPr kumimoji="0" lang="sk-SK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false</a:t>
            </a:r>
            <a:endParaRPr kumimoji="0" lang="sk-SK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==</a:t>
            </a:r>
            <a:r>
              <a:rPr lang="sk-SK" dirty="0"/>
              <a:t> porovnáva primitívne hodnoty, pri objektoch porovnáva identitu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instanceof</a:t>
            </a:r>
            <a:r>
              <a:rPr lang="sk-SK" dirty="0">
                <a:solidFill>
                  <a:srgbClr val="FF0000"/>
                </a:solidFill>
              </a:rPr>
              <a:t>  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zistí, či daný objekt je inštancia </a:t>
            </a:r>
            <a:r>
              <a:rPr lang="sk-SK" b="1" dirty="0">
                <a:solidFill>
                  <a:srgbClr val="FF0000"/>
                </a:solidFill>
                <a:highlight>
                  <a:srgbClr val="00FFFF"/>
                </a:highlight>
              </a:rPr>
              <a:t>typu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alebo implementuje </a:t>
            </a:r>
            <a:r>
              <a:rPr lang="sk-SK" b="1" dirty="0">
                <a:solidFill>
                  <a:srgbClr val="FF0000"/>
                </a:solidFill>
                <a:highlight>
                  <a:srgbClr val="00FFFF"/>
                </a:highlight>
              </a:rPr>
              <a:t>rozhranie</a:t>
            </a:r>
          </a:p>
          <a:p>
            <a:pPr marL="0" indent="0">
              <a:spcBef>
                <a:spcPts val="1200"/>
              </a:spcBef>
              <a:buNone/>
            </a:pPr>
            <a:endParaRPr lang="sk-SK" sz="2200" b="1" dirty="0"/>
          </a:p>
          <a:p>
            <a:pPr marL="0" indent="0">
              <a:spcBef>
                <a:spcPts val="0"/>
              </a:spcBef>
              <a:buNone/>
            </a:pP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 otestuj(</a:t>
            </a: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Object</a:t>
            </a: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 o)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600" b="1" dirty="0">
                <a:highlight>
                  <a:srgbClr val="FFFF00"/>
                </a:highlight>
                <a:latin typeface="Consolas" panose="020B0609020204030204" pitchFamily="49" charset="0"/>
              </a:rPr>
              <a:t>o </a:t>
            </a:r>
            <a:r>
              <a:rPr lang="sk-SK" sz="26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instancof</a:t>
            </a:r>
            <a:r>
              <a:rPr lang="sk-SK" sz="2600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6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("Je to </a:t>
            </a: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600" b="1" dirty="0">
                <a:highlight>
                  <a:srgbClr val="FFFF00"/>
                </a:highlight>
                <a:latin typeface="Consolas" panose="020B0609020204030204" pitchFamily="49" charset="0"/>
              </a:rPr>
              <a:t>o </a:t>
            </a:r>
            <a:r>
              <a:rPr lang="sk-SK" sz="26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instancof</a:t>
            </a:r>
            <a:r>
              <a:rPr lang="sk-SK" sz="2600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6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("Je to desatinné číslo");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44418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AF546F-B152-3FAE-1F20-39E75A276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05D0157-248D-5295-8A65-FFD6840EB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sz="4000" dirty="0">
                <a:solidFill>
                  <a:srgbClr val="FF0000"/>
                </a:solidFill>
                <a:highlight>
                  <a:srgbClr val="00FFFF"/>
                </a:highlight>
              </a:rPr>
              <a:t>Bitové operátory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F3A9161-FB93-93FD-4767-A610521B7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1231"/>
            <a:ext cx="10855668" cy="5021643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&amp;  |  ^  ~  &gt;&gt;  &lt;&lt;  &gt;&gt;&gt;</a:t>
            </a:r>
            <a:endParaRPr lang="sk-SK" dirty="0">
              <a:solidFill>
                <a:srgbClr val="FF0000"/>
              </a:solidFill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Nepliesť si ich s logickými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/>
              <a:t>Bitové operátory pracujú na úrovni jednotlivých bitov.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/>
              <a:t>Vstupy a výstupy týchto operátorov sú vždy čísla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sk-SK" sz="20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x = 5; // 0101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y = 3; // 0011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x &amp; y   	// 0001 → 1 (bitový AND)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x | y  	// 0111 → 7 (bitový OR)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x ^ y   	// 0110 → 6 (bitový XOR)</a:t>
            </a:r>
          </a:p>
          <a:p>
            <a:pPr marL="0" indent="0">
              <a:spcBef>
                <a:spcPts val="0"/>
              </a:spcBef>
              <a:buNone/>
            </a:pPr>
            <a:r>
              <a:rPr lang="it-IT" sz="2400" dirty="0">
                <a:highlight>
                  <a:srgbClr val="FFFF00"/>
                </a:highlight>
                <a:latin typeface="Consolas" panose="020B0609020204030204" pitchFamily="49" charset="0"/>
              </a:rPr>
              <a:t>x &lt;&lt; 1  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	</a:t>
            </a:r>
            <a:r>
              <a:rPr lang="it-IT" sz="2400" dirty="0">
                <a:highlight>
                  <a:srgbClr val="FFFF00"/>
                </a:highlight>
                <a:latin typeface="Consolas" panose="020B0609020204030204" pitchFamily="49" charset="0"/>
              </a:rPr>
              <a:t>// 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1010 → 10 (</a:t>
            </a:r>
            <a:r>
              <a:rPr lang="it-IT" sz="2400" dirty="0">
                <a:highlight>
                  <a:srgbClr val="FFFF00"/>
                </a:highlight>
                <a:latin typeface="Consolas" panose="020B0609020204030204" pitchFamily="49" charset="0"/>
              </a:rPr>
              <a:t>posun doľava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endParaRPr lang="it-IT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it-IT" sz="2400" dirty="0">
                <a:highlight>
                  <a:srgbClr val="FFFF00"/>
                </a:highlight>
                <a:latin typeface="Consolas" panose="020B0609020204030204" pitchFamily="49" charset="0"/>
              </a:rPr>
              <a:t>x &gt;&gt; 1  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	</a:t>
            </a:r>
            <a:r>
              <a:rPr lang="it-IT" sz="2400" dirty="0">
                <a:highlight>
                  <a:srgbClr val="FFFF00"/>
                </a:highlight>
                <a:latin typeface="Consolas" panose="020B0609020204030204" pitchFamily="49" charset="0"/>
              </a:rPr>
              <a:t>// 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0010 → 2 (</a:t>
            </a:r>
            <a:r>
              <a:rPr lang="it-IT" sz="2400" dirty="0">
                <a:highlight>
                  <a:srgbClr val="FFFF00"/>
                </a:highlight>
                <a:latin typeface="Consolas" panose="020B0609020204030204" pitchFamily="49" charset="0"/>
              </a:rPr>
              <a:t>posun doprava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~x      	//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invertovanie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bitov → ...11111010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endParaRPr lang="sk-SK" sz="2200" b="1" dirty="0"/>
          </a:p>
        </p:txBody>
      </p:sp>
    </p:spTree>
    <p:extLst>
      <p:ext uri="{BB962C8B-B14F-4D97-AF65-F5344CB8AC3E}">
        <p14:creationId xmlns:p14="http://schemas.microsoft.com/office/powerpoint/2010/main" val="2656754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EBB9C8-297B-578A-91D4-F44FA07E7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D87C1CE-E301-5472-77F4-BFF2AD923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sz="4000" dirty="0">
                <a:solidFill>
                  <a:srgbClr val="FF0000"/>
                </a:solidFill>
                <a:highlight>
                  <a:srgbClr val="00FFFF"/>
                </a:highlight>
              </a:rPr>
              <a:t>Logické operátory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8B339A4-E3D2-B5CE-4C58-C654B8037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1231"/>
            <a:ext cx="10855668" cy="5021643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&amp;&amp;  ||  !</a:t>
            </a:r>
            <a:r>
              <a:rPr lang="sk-SK" dirty="0">
                <a:solidFill>
                  <a:srgbClr val="FF0000"/>
                </a:solidFill>
              </a:rPr>
              <a:t> </a:t>
            </a:r>
            <a:r>
              <a:rPr lang="sk-SK" dirty="0"/>
              <a:t>- 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pracujú s boolean hodnotami</a:t>
            </a:r>
          </a:p>
          <a:p>
            <a:pPr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sk-SK" b="1" dirty="0" err="1">
                <a:solidFill>
                  <a:srgbClr val="FF0000"/>
                </a:solidFill>
                <a:highlight>
                  <a:srgbClr val="00FFFF"/>
                </a:highlight>
              </a:rPr>
              <a:t>short-circuit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- predčasné ukončenie, ak už vieme, či výsledok bude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true</a:t>
            </a:r>
            <a:r>
              <a:rPr lang="sk-SK" dirty="0">
                <a:solidFill>
                  <a:srgbClr val="FF0000"/>
                </a:solidFill>
              </a:rPr>
              <a:t> 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alebo</a:t>
            </a:r>
            <a:r>
              <a:rPr lang="sk-SK" dirty="0">
                <a:solidFill>
                  <a:srgbClr val="FF0000"/>
                </a:solidFill>
              </a:rPr>
              <a:t>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false</a:t>
            </a:r>
            <a:endParaRPr lang="sk-SK" dirty="0">
              <a:solidFill>
                <a:srgbClr val="FF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endParaRPr lang="sk-SK" sz="20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s 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null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(s !=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null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&amp;&amp;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s.length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 &gt; 0)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("Reťazec nie je prázdny");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boolean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isAdmin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true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uzivatel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"Fero";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isAdmin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||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maUzivatelPristup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uzivatel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("Vstup povolený");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  <a:endParaRPr lang="sk-SK" sz="2200" b="1" dirty="0"/>
          </a:p>
        </p:txBody>
      </p:sp>
    </p:spTree>
    <p:extLst>
      <p:ext uri="{BB962C8B-B14F-4D97-AF65-F5344CB8AC3E}">
        <p14:creationId xmlns:p14="http://schemas.microsoft.com/office/powerpoint/2010/main" val="2058191755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466</TotalTime>
  <Words>469</Words>
  <Application>Microsoft Office PowerPoint</Application>
  <PresentationFormat>Širokouhlá</PresentationFormat>
  <Paragraphs>68</Paragraphs>
  <Slides>7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Consolas</vt:lpstr>
      <vt:lpstr>Motív Office</vt:lpstr>
      <vt:lpstr>Objektovo orientované programovanie</vt:lpstr>
      <vt:lpstr>OPG Teória 6</vt:lpstr>
      <vt:lpstr>Aritmetické operátory</vt:lpstr>
      <vt:lpstr>Operátory priradenia</vt:lpstr>
      <vt:lpstr>Relačné operátory</vt:lpstr>
      <vt:lpstr>Bitové operátory</vt:lpstr>
      <vt:lpstr>Logické operátory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24</cp:revision>
  <dcterms:created xsi:type="dcterms:W3CDTF">2025-09-05T09:09:34Z</dcterms:created>
  <dcterms:modified xsi:type="dcterms:W3CDTF">2026-10-05T19:52:45Z</dcterms:modified>
</cp:coreProperties>
</file>