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96" r:id="rId1"/>
  </p:sldMasterIdLst>
  <p:sldIdLst>
    <p:sldId id="266" r:id="rId2"/>
    <p:sldId id="257" r:id="rId3"/>
    <p:sldId id="269" r:id="rId4"/>
    <p:sldId id="284" r:id="rId5"/>
    <p:sldId id="285" r:id="rId6"/>
    <p:sldId id="286" r:id="rId7"/>
    <p:sldId id="287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Kliknutím upravte štýl predlohy podnadpisu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25. 10. 2026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711491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25. 10. 2026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097966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25. 10. 2026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557420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25. 10. 2026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89817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25. 10. 2026</a:t>
            </a:fld>
            <a:endParaRPr lang="sk-S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686370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25. 10. 2026</a:t>
            </a:fld>
            <a:endParaRPr lang="sk-S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054684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25. 10. 2026</a:t>
            </a:fld>
            <a:endParaRPr lang="sk-S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697743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25. 10. 2026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543039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k-SK"/>
              <a:t>Kliknutím na ikonu pridáte obrázok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25. 10. 2026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719663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25. 10. 2026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593636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25. 10. 2026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405875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052495-8BC8-4CFB-94B1-B0429F101A0D}" type="datetimeFigureOut">
              <a:rPr lang="sk-SK" smtClean="0"/>
              <a:t>25. 10. 2026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572524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oop.wagjo.com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E144086-9642-901A-F3D2-FA2652CA9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899" y="1188637"/>
            <a:ext cx="3291839" cy="4480726"/>
          </a:xfrm>
        </p:spPr>
        <p:txBody>
          <a:bodyPr>
            <a:normAutofit/>
          </a:bodyPr>
          <a:lstStyle/>
          <a:p>
            <a:pPr algn="r"/>
            <a:r>
              <a:rPr lang="sk-SK" sz="4000" dirty="0"/>
              <a:t>Objektovo orientované programovanie</a:t>
            </a:r>
            <a:endParaRPr lang="sk-SK" sz="4000" i="1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685716B-C55C-CDF8-4632-389CB907CA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4795584" cy="418054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r>
              <a:rPr lang="sk-SK" dirty="0"/>
              <a:t>Učiteľ: </a:t>
            </a:r>
            <a:br>
              <a:rPr lang="sk-SK" dirty="0"/>
            </a:br>
            <a:r>
              <a:rPr lang="sk-SK" b="1" dirty="0"/>
              <a:t>Ing. Jozef Wagner PhD.</a:t>
            </a:r>
          </a:p>
          <a:p>
            <a:pPr marL="0" indent="0">
              <a:buNone/>
            </a:pPr>
            <a:endParaRPr lang="sk-SK" b="1" dirty="0"/>
          </a:p>
          <a:p>
            <a:pPr marL="0" indent="0">
              <a:buNone/>
            </a:pPr>
            <a:r>
              <a:rPr lang="sk-SK" dirty="0"/>
              <a:t>Učebnica: </a:t>
            </a:r>
            <a:br>
              <a:rPr lang="sk-SK" dirty="0"/>
            </a:br>
            <a:r>
              <a:rPr lang="sk-SK" dirty="0">
                <a:hlinkClick r:id="rId2"/>
              </a:rPr>
              <a:t>https://oop.wagjo.com/</a:t>
            </a:r>
            <a:r>
              <a:rPr lang="sk-SK" dirty="0"/>
              <a:t> </a:t>
            </a:r>
          </a:p>
          <a:p>
            <a:pPr marL="0" indent="0">
              <a:buNone/>
            </a:pP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517443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3680000-8E97-7BCD-0373-6D09E7201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900" y="1188637"/>
            <a:ext cx="3141430" cy="4480726"/>
          </a:xfrm>
        </p:spPr>
        <p:txBody>
          <a:bodyPr>
            <a:normAutofit/>
          </a:bodyPr>
          <a:lstStyle/>
          <a:p>
            <a:pPr algn="r"/>
            <a:r>
              <a:rPr lang="sk-SK" sz="4000" dirty="0"/>
              <a:t>OPG</a:t>
            </a:r>
            <a:br>
              <a:rPr lang="sk-SK" sz="4000" dirty="0"/>
            </a:br>
            <a:r>
              <a:rPr lang="sk-SK" sz="4000" dirty="0"/>
              <a:t>Cvičenie </a:t>
            </a:r>
            <a:r>
              <a:rPr lang="en-US" sz="4000" dirty="0"/>
              <a:t>6</a:t>
            </a:r>
            <a:endParaRPr lang="sk-SK" sz="40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9A88E58-5472-E350-E606-D7A492AB52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4795584" cy="4180542"/>
          </a:xfrm>
        </p:spPr>
        <p:txBody>
          <a:bodyPr anchor="ctr"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Re</a:t>
            </a:r>
            <a:r>
              <a:rPr lang="sk-SK" dirty="0" err="1"/>
              <a:t>ťazce</a:t>
            </a:r>
            <a:r>
              <a:rPr lang="sk-SK" dirty="0"/>
              <a:t> - </a:t>
            </a:r>
            <a:r>
              <a:rPr lang="sk-SK" dirty="0" err="1"/>
              <a:t>String</a:t>
            </a:r>
            <a:endParaRPr lang="sk-SK" dirty="0"/>
          </a:p>
          <a:p>
            <a:pPr marL="514350" indent="-514350">
              <a:buFont typeface="+mj-lt"/>
              <a:buAutoNum type="arabicPeriod"/>
            </a:pPr>
            <a:r>
              <a:rPr lang="sk-SK" dirty="0"/>
              <a:t>Metódy na prácu s reťazcami</a:t>
            </a:r>
          </a:p>
          <a:p>
            <a:pPr marL="514350" indent="-514350">
              <a:buFont typeface="+mj-lt"/>
              <a:buAutoNum type="arabicPeriod"/>
            </a:pPr>
            <a:r>
              <a:rPr lang="sk-SK" dirty="0" err="1"/>
              <a:t>StringBuilder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991288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5B952C-DEB0-F05A-6099-A8BDC351D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EA1B4840-2877-41AB-3F4C-3F6D130D50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4742" y="1571414"/>
            <a:ext cx="10422417" cy="4729437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sk-SK" dirty="0"/>
              <a:t>Objekt triedy </a:t>
            </a:r>
            <a:r>
              <a:rPr lang="sk-SK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java.lang.String</a:t>
            </a:r>
            <a:endParaRPr lang="sk-SK" dirty="0">
              <a:solidFill>
                <a:srgbClr val="FF000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lvl="1">
              <a:spcBef>
                <a:spcPts val="1200"/>
              </a:spcBef>
            </a:pPr>
            <a:r>
              <a:rPr lang="sk-SK" sz="2800" dirty="0">
                <a:solidFill>
                  <a:srgbClr val="FF0000"/>
                </a:solidFill>
                <a:highlight>
                  <a:srgbClr val="00FFFF"/>
                </a:highlight>
              </a:rPr>
              <a:t>Nie je primitívny typ</a:t>
            </a:r>
          </a:p>
          <a:p>
            <a:pPr lvl="1">
              <a:spcBef>
                <a:spcPts val="1200"/>
              </a:spcBef>
            </a:pPr>
            <a:r>
              <a:rPr lang="sk-SK" sz="2800" dirty="0">
                <a:solidFill>
                  <a:srgbClr val="FF0000"/>
                </a:solidFill>
                <a:highlight>
                  <a:srgbClr val="00FFFF"/>
                </a:highlight>
              </a:rPr>
              <a:t>Je nemenný, po vytvorení sa objekt nedá meniť</a:t>
            </a:r>
          </a:p>
          <a:p>
            <a:pPr lvl="1">
              <a:spcBef>
                <a:spcPts val="1200"/>
              </a:spcBef>
            </a:pPr>
            <a:r>
              <a:rPr lang="sk-SK" sz="2800" dirty="0">
                <a:solidFill>
                  <a:srgbClr val="FF0000"/>
                </a:solidFill>
                <a:highlight>
                  <a:srgbClr val="00FFFF"/>
                </a:highlight>
              </a:rPr>
              <a:t>Reťazec má dĺžku a index, viem pristupovať k jeho znakom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Vytvorenie reťazca </a:t>
            </a:r>
            <a:r>
              <a:rPr lang="sk-SK" dirty="0">
                <a:solidFill>
                  <a:srgbClr val="FF0000"/>
                </a:solidFill>
              </a:rPr>
              <a:t>	</a:t>
            </a:r>
            <a:r>
              <a:rPr lang="sk-SK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sk-SK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s  = "</a:t>
            </a:r>
            <a:r>
              <a:rPr lang="sk-SK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Hello</a:t>
            </a:r>
            <a:r>
              <a:rPr lang="sk-SK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world</a:t>
            </a:r>
            <a:r>
              <a:rPr lang="sk-SK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!"</a:t>
            </a: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  <a:endParaRPr lang="sk-SK" dirty="0">
              <a:solidFill>
                <a:srgbClr val="FF000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en-US" dirty="0">
                <a:solidFill>
                  <a:srgbClr val="FF0000"/>
                </a:solidFill>
                <a:highlight>
                  <a:srgbClr val="00FFFF"/>
                </a:highlight>
              </a:rPr>
              <a:t>D</a:t>
            </a:r>
            <a:r>
              <a:rPr lang="sk-SK" dirty="0" err="1">
                <a:solidFill>
                  <a:srgbClr val="FF0000"/>
                </a:solidFill>
                <a:highlight>
                  <a:srgbClr val="00FFFF"/>
                </a:highlight>
              </a:rPr>
              <a:t>ĺžka</a:t>
            </a: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 reťazca </a:t>
            </a:r>
            <a:r>
              <a:rPr lang="sk-SK" dirty="0">
                <a:solidFill>
                  <a:srgbClr val="FF0000"/>
                </a:solidFill>
              </a:rPr>
              <a:t>		</a:t>
            </a:r>
            <a:r>
              <a:rPr lang="sk-SK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sk-SK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len   = </a:t>
            </a:r>
            <a:r>
              <a:rPr lang="sk-SK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s.</a:t>
            </a:r>
            <a:r>
              <a:rPr lang="sk-SK" b="1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length</a:t>
            </a:r>
            <a:r>
              <a:rPr lang="sk-SK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();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Znak na </a:t>
            </a:r>
            <a:r>
              <a:rPr lang="sk-SK" dirty="0" err="1">
                <a:solidFill>
                  <a:srgbClr val="FF0000"/>
                </a:solidFill>
                <a:highlight>
                  <a:srgbClr val="00FFFF"/>
                </a:highlight>
              </a:rPr>
              <a:t>pocícii</a:t>
            </a: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 </a:t>
            </a:r>
            <a:r>
              <a:rPr lang="sk-SK" dirty="0">
                <a:solidFill>
                  <a:srgbClr val="FF0000"/>
                </a:solidFill>
              </a:rPr>
              <a:t>		</a:t>
            </a:r>
            <a:r>
              <a:rPr lang="sk-SK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char</a:t>
            </a:r>
            <a:r>
              <a:rPr lang="sk-SK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c    = </a:t>
            </a:r>
            <a:r>
              <a:rPr lang="sk-SK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s.</a:t>
            </a:r>
            <a:r>
              <a:rPr lang="sk-SK" b="1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charAt</a:t>
            </a:r>
            <a:r>
              <a:rPr lang="sk-SK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(4);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Spájanie reťazcov </a:t>
            </a:r>
            <a:r>
              <a:rPr lang="sk-SK" dirty="0">
                <a:solidFill>
                  <a:srgbClr val="FF0000"/>
                </a:solidFill>
              </a:rPr>
              <a:t>	</a:t>
            </a:r>
            <a:r>
              <a:rPr lang="sk-SK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sk-SK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s1 = "</a:t>
            </a:r>
            <a:r>
              <a:rPr lang="sk-SK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Hello</a:t>
            </a:r>
            <a:r>
              <a:rPr lang="sk-SK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" + "</a:t>
            </a:r>
            <a:r>
              <a:rPr lang="sk-SK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world</a:t>
            </a:r>
            <a:r>
              <a:rPr lang="sk-SK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";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Opakovanie reťazca </a:t>
            </a:r>
            <a:r>
              <a:rPr lang="sk-SK" dirty="0">
                <a:solidFill>
                  <a:srgbClr val="FF0000"/>
                </a:solidFill>
              </a:rPr>
              <a:t>	</a:t>
            </a: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String s2 = "</a:t>
            </a:r>
            <a:r>
              <a:rPr lang="en-US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ha".</a:t>
            </a:r>
            <a:r>
              <a:rPr lang="en-US" b="1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repeat</a:t>
            </a: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(5);</a:t>
            </a:r>
            <a:endParaRPr lang="sk-SK" dirty="0">
              <a:solidFill>
                <a:srgbClr val="FF000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0916E66A-BCC7-CD34-6629-ED8AD7BB9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Reťazec</a:t>
            </a:r>
          </a:p>
        </p:txBody>
      </p:sp>
    </p:spTree>
    <p:extLst>
      <p:ext uri="{BB962C8B-B14F-4D97-AF65-F5344CB8AC3E}">
        <p14:creationId xmlns:p14="http://schemas.microsoft.com/office/powerpoint/2010/main" val="7045398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64D4F3-558F-536E-0192-AA26057C2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CDE61EC9-51BB-2110-CE88-7E551A51E4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4742" y="1571414"/>
            <a:ext cx="10422417" cy="4729437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Porovnanie hodnôt</a:t>
            </a:r>
            <a:r>
              <a:rPr lang="sk-SK" dirty="0">
                <a:solidFill>
                  <a:srgbClr val="FF0000"/>
                </a:solidFill>
              </a:rPr>
              <a:t>	</a:t>
            </a:r>
            <a:r>
              <a:rPr lang="sk-SK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s.</a:t>
            </a:r>
            <a:r>
              <a:rPr lang="sk-SK" b="1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equals</a:t>
            </a:r>
            <a:r>
              <a:rPr lang="sk-SK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(s2)</a:t>
            </a: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  <a:endParaRPr lang="sk-SK" dirty="0">
              <a:solidFill>
                <a:srgbClr val="FF000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Porovnanie lexikograficky: 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sk-SK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sk-SK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abd</a:t>
            </a:r>
            <a:r>
              <a:rPr lang="sk-SK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".</a:t>
            </a:r>
            <a:r>
              <a:rPr lang="sk-SK" b="1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compareTo</a:t>
            </a:r>
            <a:r>
              <a:rPr lang="sk-SK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("</a:t>
            </a:r>
            <a:r>
              <a:rPr lang="sk-SK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abc</a:t>
            </a:r>
            <a:r>
              <a:rPr lang="sk-SK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"); //  1 (d &gt; c)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sk-SK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sk-SK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abc</a:t>
            </a:r>
            <a:r>
              <a:rPr lang="sk-SK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".</a:t>
            </a:r>
            <a:r>
              <a:rPr lang="sk-SK" b="1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compareTo</a:t>
            </a:r>
            <a:r>
              <a:rPr lang="sk-SK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("</a:t>
            </a:r>
            <a:r>
              <a:rPr lang="sk-SK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ab</a:t>
            </a:r>
            <a:r>
              <a:rPr lang="sk-SK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"); //  1 (dlhší je väčší)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Má reťazec iba biele znaky?</a:t>
            </a:r>
            <a:r>
              <a:rPr lang="sk-SK" dirty="0">
                <a:solidFill>
                  <a:srgbClr val="FF0000"/>
                </a:solidFill>
              </a:rPr>
              <a:t>	</a:t>
            </a:r>
            <a:r>
              <a:rPr lang="sk-SK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s.</a:t>
            </a:r>
            <a:r>
              <a:rPr lang="sk-SK" b="1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isBlank</a:t>
            </a:r>
            <a:r>
              <a:rPr lang="sk-SK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();</a:t>
            </a:r>
          </a:p>
          <a:p>
            <a:pPr marL="0" indent="0">
              <a:spcBef>
                <a:spcPts val="1200"/>
              </a:spcBef>
              <a:buNone/>
            </a:pPr>
            <a:endParaRPr lang="sk-SK" dirty="0">
              <a:solidFill>
                <a:srgbClr val="FF0000"/>
              </a:solidFill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Vytvorenie podreťazca	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String s = "Hello world!";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String s2 = </a:t>
            </a:r>
            <a:r>
              <a:rPr lang="en-US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s.</a:t>
            </a:r>
            <a:r>
              <a:rPr lang="en-US" b="1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substring</a:t>
            </a: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(6, 11); // "world"</a:t>
            </a:r>
            <a:endParaRPr lang="sk-SK" dirty="0">
              <a:solidFill>
                <a:srgbClr val="FF000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1337C016-66F4-3E04-A237-F22BD8C9D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Porovnanie a podreťazec</a:t>
            </a:r>
          </a:p>
        </p:txBody>
      </p:sp>
    </p:spTree>
    <p:extLst>
      <p:ext uri="{BB962C8B-B14F-4D97-AF65-F5344CB8AC3E}">
        <p14:creationId xmlns:p14="http://schemas.microsoft.com/office/powerpoint/2010/main" val="27297644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189BE4-58C3-793E-8D05-E862FD2FE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97E15F05-38DA-D05B-BC4A-B1E79E27CE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4742" y="1571414"/>
            <a:ext cx="10696738" cy="4729437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Vyhľadávanie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url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= "https://oop.wagjo.com";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url.</a:t>
            </a:r>
            <a:r>
              <a:rPr lang="sk-SK" b="1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startsWith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("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https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"); //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true</a:t>
            </a: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url.</a:t>
            </a:r>
            <a:r>
              <a:rPr lang="sk-SK" b="1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indexOf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('w');        // 12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url.</a:t>
            </a:r>
            <a:r>
              <a:rPr lang="sk-SK" b="1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lastIndexOf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(".");    // 17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Úprava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s = "  Ahoj svet  ".</a:t>
            </a:r>
            <a:r>
              <a:rPr lang="sk-SK" b="1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strip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();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r =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s.</a:t>
            </a:r>
            <a:r>
              <a:rPr lang="sk-SK" b="1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replace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("svet", "Java"); // Ahoj Java</a:t>
            </a: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94C9A1F2-4E11-F78D-F1D2-5C85DC0B4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Úprava a vyhľadávanie</a:t>
            </a:r>
          </a:p>
        </p:txBody>
      </p:sp>
    </p:spTree>
    <p:extLst>
      <p:ext uri="{BB962C8B-B14F-4D97-AF65-F5344CB8AC3E}">
        <p14:creationId xmlns:p14="http://schemas.microsoft.com/office/powerpoint/2010/main" val="27976541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FD3D94-03AC-05D1-B331-2E13961B2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3DA2EA56-E269-EB7A-4FBB-4531F6183C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4742" y="1571414"/>
            <a:ext cx="10696738" cy="4729437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s = "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a,b,c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";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sk-SK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sk-SK" b="1" dirty="0">
                <a:highlight>
                  <a:srgbClr val="FFFF00"/>
                </a:highlight>
                <a:latin typeface="Consolas" panose="020B0609020204030204" pitchFamily="49" charset="0"/>
              </a:rPr>
              <a:t>[]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parts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s.</a:t>
            </a:r>
            <a:r>
              <a:rPr lang="sk-SK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split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(",");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for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(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part :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parts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) {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System.out.println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(part);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1200"/>
              </a:spcBef>
              <a:buNone/>
            </a:pP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String joined = </a:t>
            </a:r>
            <a:r>
              <a:rPr lang="en-US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String.</a:t>
            </a:r>
            <a:r>
              <a:rPr lang="en-US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join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("-", "a", "b", "c");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dirty="0" err="1">
                <a:highlight>
                  <a:srgbClr val="FFFF00"/>
                </a:highlight>
                <a:latin typeface="Consolas" panose="020B0609020204030204" pitchFamily="49" charset="0"/>
              </a:rPr>
              <a:t>System.out.println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(joined); // "a-b-c"</a:t>
            </a: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D0F614CF-4AA3-4A48-9C53-7AABB9DB5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003280" cy="1325563"/>
          </a:xfrm>
        </p:spPr>
        <p:txBody>
          <a:bodyPr>
            <a:normAutofit/>
          </a:bodyPr>
          <a:lstStyle/>
          <a:p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Rozdeľovanie a spájanie – </a:t>
            </a:r>
            <a:r>
              <a:rPr lang="sk-SK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+mn-ea"/>
                <a:cs typeface="+mn-cs"/>
              </a:rPr>
              <a:t>split</a:t>
            </a:r>
            <a:r>
              <a:rPr lang="sk-SK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+mn-ea"/>
                <a:cs typeface="+mn-cs"/>
              </a:rPr>
              <a:t>()</a:t>
            </a: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 a </a:t>
            </a:r>
            <a:r>
              <a:rPr lang="sk-SK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+mn-ea"/>
                <a:cs typeface="+mn-cs"/>
              </a:rPr>
              <a:t>join</a:t>
            </a:r>
            <a:r>
              <a:rPr lang="sk-SK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+mn-ea"/>
                <a:cs typeface="+mn-cs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233548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C40C25-DF00-B7E0-2E64-5866A20E5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6D5BBC49-6499-406D-0D6E-B6128AC3F9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4742" y="1571414"/>
            <a:ext cx="10696738" cy="4729437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sk-SK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append</a:t>
            </a:r>
            <a:r>
              <a:rPr lang="sk-SK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  <a:r>
              <a:rPr lang="sk-SK" dirty="0">
                <a:solidFill>
                  <a:srgbClr val="FF0000"/>
                </a:solidFill>
              </a:rPr>
              <a:t>, </a:t>
            </a:r>
            <a:r>
              <a:rPr lang="sk-SK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insert</a:t>
            </a:r>
            <a:r>
              <a:rPr lang="sk-SK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  <a:r>
              <a:rPr lang="sk-SK" dirty="0">
                <a:solidFill>
                  <a:srgbClr val="FF0000"/>
                </a:solidFill>
              </a:rPr>
              <a:t>, </a:t>
            </a:r>
            <a:r>
              <a:rPr lang="sk-SK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delete</a:t>
            </a:r>
            <a:r>
              <a:rPr lang="sk-SK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  <a:r>
              <a:rPr lang="sk-SK" dirty="0">
                <a:solidFill>
                  <a:srgbClr val="FF0000"/>
                </a:solidFill>
              </a:rPr>
              <a:t>, </a:t>
            </a:r>
            <a:r>
              <a:rPr lang="sk-SK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reverse</a:t>
            </a:r>
            <a:r>
              <a:rPr lang="sk-SK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  <a:r>
              <a:rPr lang="sk-SK" dirty="0">
                <a:solidFill>
                  <a:srgbClr val="FF0000"/>
                </a:solidFill>
              </a:rPr>
              <a:t>, </a:t>
            </a:r>
            <a:r>
              <a:rPr lang="sk-SK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toString</a:t>
            </a:r>
            <a:r>
              <a:rPr lang="sk-SK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</a:p>
          <a:p>
            <a:pPr marL="0" indent="0">
              <a:spcBef>
                <a:spcPts val="120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[]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items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= {"Jablko", "Hruška", "Banán"};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StringBuilder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html = 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new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StringBuilder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("&lt;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ul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&gt;")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for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item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: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items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) {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html.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append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("&lt;li&gt;").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append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item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).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append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("&lt;/li&gt;");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html.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append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("&lt;/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ul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&gt;");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htmlText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html.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toString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();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// "&lt;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ul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&gt;&lt;li&gt;Jablko&lt;/li&gt;&lt;li&gt;Hruška&lt;/li&gt;&lt;li&gt;Banán&lt;/li&gt;&lt;/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ul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&gt;"</a:t>
            </a: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37F37A1A-7CA1-BDAB-6495-16E486DFA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Efektívna tvorba reťazcov - </a:t>
            </a:r>
            <a:r>
              <a:rPr lang="sk-SK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+mn-ea"/>
                <a:cs typeface="+mn-cs"/>
              </a:rPr>
              <a:t>StringBuilder</a:t>
            </a:r>
            <a:endParaRPr lang="sk-SK" dirty="0">
              <a:solidFill>
                <a:srgbClr val="FF0000"/>
              </a:solidFill>
              <a:highlight>
                <a:srgbClr val="FFFF00"/>
              </a:highlight>
              <a:latin typeface="Consolas" panose="020B06090202040302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9318433"/>
      </p:ext>
    </p:extLst>
  </p:cSld>
  <p:clrMapOvr>
    <a:masterClrMapping/>
  </p:clrMapOvr>
</p:sld>
</file>

<file path=ppt/theme/theme1.xml><?xml version="1.0" encoding="utf-8"?>
<a:theme xmlns:a="http://schemas.openxmlformats.org/drawingml/2006/main" name="Motív Office">
  <a:themeElements>
    <a:clrScheme name="Motív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Motív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Motív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721</TotalTime>
  <Words>445</Words>
  <Application>Microsoft Office PowerPoint</Application>
  <PresentationFormat>Širokouhlá</PresentationFormat>
  <Paragraphs>58</Paragraphs>
  <Slides>7</Slides>
  <Notes>0</Notes>
  <HiddenSlides>0</HiddenSlides>
  <MMClips>0</MMClips>
  <ScaleCrop>false</ScaleCrop>
  <HeadingPairs>
    <vt:vector size="6" baseType="variant">
      <vt:variant>
        <vt:lpstr>Použité písma</vt:lpstr>
      </vt:variant>
      <vt:variant>
        <vt:i4>4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Consolas</vt:lpstr>
      <vt:lpstr>Motív Office</vt:lpstr>
      <vt:lpstr>Objektovo orientované programovanie</vt:lpstr>
      <vt:lpstr>OPG Cvičenie 6</vt:lpstr>
      <vt:lpstr>Reťazec</vt:lpstr>
      <vt:lpstr>Porovnanie a podreťazec</vt:lpstr>
      <vt:lpstr>Úprava a vyhľadávanie</vt:lpstr>
      <vt:lpstr>Rozdeľovanie a spájanie – split() a join()</vt:lpstr>
      <vt:lpstr>Efektívna tvorba reťazcov - StringBuilder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Lenka Wagnerová</dc:creator>
  <cp:lastModifiedBy>Wagner Jozef Ing., PhD.</cp:lastModifiedBy>
  <cp:revision>28</cp:revision>
  <dcterms:created xsi:type="dcterms:W3CDTF">2025-09-05T09:09:34Z</dcterms:created>
  <dcterms:modified xsi:type="dcterms:W3CDTF">2026-10-25T07:18:57Z</dcterms:modified>
</cp:coreProperties>
</file>