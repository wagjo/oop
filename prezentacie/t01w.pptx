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66" r:id="rId2"/>
    <p:sldId id="274" r:id="rId3"/>
    <p:sldId id="257" r:id="rId4"/>
    <p:sldId id="258" r:id="rId5"/>
    <p:sldId id="259" r:id="rId6"/>
    <p:sldId id="260" r:id="rId7"/>
    <p:sldId id="268" r:id="rId8"/>
    <p:sldId id="275" r:id="rId9"/>
    <p:sldId id="270" r:id="rId10"/>
    <p:sldId id="271" r:id="rId11"/>
    <p:sldId id="272" r:id="rId12"/>
    <p:sldId id="273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47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3. 9. 2026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391365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3. 9. 2026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74269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3. 9. 2026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107281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3. 9. 2026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65352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3. 9. 2026</a:t>
            </a:fld>
            <a:endParaRPr lang="sk-S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74369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3. 9. 2026</a:t>
            </a:fld>
            <a:endParaRPr lang="sk-S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907842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3. 9. 2026</a:t>
            </a:fld>
            <a:endParaRPr lang="sk-S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517515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3. 9. 2026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308196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3. 9. 2026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09070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3. 9. 2026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888063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3. 9. 2026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52091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2495-8BC8-4CFB-94B1-B0429F101A0D}" type="datetimeFigureOut">
              <a:rPr lang="sk-SK" smtClean="0"/>
              <a:t>3. 9. 2026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682812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oop.wagjo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E144086-9642-901A-F3D2-FA2652CA9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899" y="1188637"/>
            <a:ext cx="3323955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Objektovo orientované programovanie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685716B-C55C-CDF8-4632-389CB907C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dirty="0"/>
              <a:t>Učiteľ: </a:t>
            </a:r>
            <a:br>
              <a:rPr lang="sk-SK" dirty="0"/>
            </a:br>
            <a:r>
              <a:rPr lang="sk-SK" b="1" dirty="0"/>
              <a:t>Ing. Jozef Wagner, PhD.</a:t>
            </a:r>
          </a:p>
          <a:p>
            <a:pPr marL="0" indent="0">
              <a:buNone/>
            </a:pPr>
            <a:endParaRPr lang="sk-SK" b="1" dirty="0"/>
          </a:p>
          <a:p>
            <a:pPr marL="0" indent="0">
              <a:buNone/>
            </a:pPr>
            <a:r>
              <a:rPr lang="sk-SK" dirty="0"/>
              <a:t>Učebnica: </a:t>
            </a:r>
            <a:br>
              <a:rPr lang="sk-SK" dirty="0"/>
            </a:br>
            <a:r>
              <a:rPr lang="sk-SK" dirty="0">
                <a:hlinkClick r:id="rId2"/>
              </a:rPr>
              <a:t>https://oop.wagjo.com/</a:t>
            </a:r>
            <a:r>
              <a:rPr lang="sk-SK" dirty="0"/>
              <a:t> </a:t>
            </a:r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517443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588ED00-8EB1-B24E-FB3F-A5FB48C423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2116"/>
            <a:ext cx="10515600" cy="57148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k-SK" sz="4000" dirty="0">
                <a:latin typeface="+mj-lt"/>
              </a:rPr>
              <a:t>Základné pokyny:</a:t>
            </a:r>
          </a:p>
          <a:p>
            <a:pPr lvl="1"/>
            <a:r>
              <a:rPr lang="sk-SK" sz="2800" dirty="0">
                <a:latin typeface="+mj-lt"/>
              </a:rPr>
              <a:t>Dodržiavať školský poriadok</a:t>
            </a:r>
          </a:p>
          <a:p>
            <a:pPr lvl="1"/>
            <a:r>
              <a:rPr lang="sk-SK" sz="2800" dirty="0">
                <a:latin typeface="+mj-lt"/>
              </a:rPr>
              <a:t>Pripravený na hodinu, zošit</a:t>
            </a:r>
          </a:p>
          <a:p>
            <a:pPr lvl="1"/>
            <a:r>
              <a:rPr lang="sk-SK" sz="2800" dirty="0">
                <a:latin typeface="+mj-lt"/>
              </a:rPr>
              <a:t>Ústne a písomné skúšania</a:t>
            </a:r>
          </a:p>
          <a:p>
            <a:pPr lvl="1"/>
            <a:r>
              <a:rPr lang="sk-SK" sz="2800" dirty="0">
                <a:latin typeface="+mj-lt"/>
              </a:rPr>
              <a:t>Ospravedlnenia pred začiatkom hodiny</a:t>
            </a:r>
          </a:p>
          <a:p>
            <a:endParaRPr lang="sk-SK" dirty="0">
              <a:latin typeface="+mj-lt"/>
            </a:endParaRPr>
          </a:p>
          <a:p>
            <a:pPr marL="0" indent="0">
              <a:buNone/>
            </a:pPr>
            <a:r>
              <a:rPr lang="sk-SK" sz="4000" dirty="0">
                <a:latin typeface="+mj-lt"/>
              </a:rPr>
              <a:t>Legenda:</a:t>
            </a:r>
          </a:p>
          <a:p>
            <a:pPr lvl="1"/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Žltý text – kód</a:t>
            </a:r>
          </a:p>
          <a:p>
            <a:pPr lvl="1"/>
            <a:r>
              <a:rPr lang="sk-SK" sz="2800" dirty="0">
                <a:solidFill>
                  <a:srgbClr val="FF0000"/>
                </a:solidFill>
              </a:rPr>
              <a:t>Červený text – poznámka do zošita</a:t>
            </a:r>
          </a:p>
          <a:p>
            <a:pPr lvl="1"/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Modré pozadie – poznámka do zošita</a:t>
            </a:r>
          </a:p>
        </p:txBody>
      </p:sp>
    </p:spTree>
    <p:extLst>
      <p:ext uri="{BB962C8B-B14F-4D97-AF65-F5344CB8AC3E}">
        <p14:creationId xmlns:p14="http://schemas.microsoft.com/office/powerpoint/2010/main" val="1374612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3680000-8E97-7BCD-0373-6D09E7201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900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OPG</a:t>
            </a:r>
            <a:br>
              <a:rPr lang="sk-SK" sz="4000" dirty="0"/>
            </a:br>
            <a:r>
              <a:rPr lang="sk-SK" sz="4000" dirty="0"/>
              <a:t>Teória 1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9A88E58-5472-E350-E606-D7A492AB5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sk-SK" dirty="0"/>
              <a:t>AI v programovaní</a:t>
            </a:r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Objektovo orientované programovanie</a:t>
            </a:r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Jazyk Java</a:t>
            </a:r>
          </a:p>
        </p:txBody>
      </p:sp>
    </p:spTree>
    <p:extLst>
      <p:ext uri="{BB962C8B-B14F-4D97-AF65-F5344CB8AC3E}">
        <p14:creationId xmlns:p14="http://schemas.microsoft.com/office/powerpoint/2010/main" val="2991288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6D5FFFD-949C-5777-368D-7616CC67C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sz="4000" dirty="0">
                <a:solidFill>
                  <a:srgbClr val="FF0000"/>
                </a:solidFill>
                <a:highlight>
                  <a:srgbClr val="00FFFF"/>
                </a:highlight>
              </a:rPr>
              <a:t>AI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834EA18-2911-E0AA-A6B4-7AC44110B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074" y="1690688"/>
            <a:ext cx="9323932" cy="4217609"/>
          </a:xfrm>
        </p:spPr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fr-FR" sz="2800" i="1" dirty="0">
                <a:solidFill>
                  <a:srgbClr val="FF0000"/>
                </a:solidFill>
                <a:highlight>
                  <a:srgbClr val="00FFFF"/>
                </a:highlight>
              </a:rPr>
              <a:t>AI Asistent - odpovedá na otázky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fr-FR" sz="2800" i="1" dirty="0">
                <a:solidFill>
                  <a:srgbClr val="FF0000"/>
                </a:solidFill>
                <a:highlight>
                  <a:srgbClr val="00FFFF"/>
                </a:highlight>
              </a:rPr>
              <a:t>AI Agent - samostatne vykonáva úlohy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fr-FR" sz="2800" i="1" dirty="0">
                <a:solidFill>
                  <a:srgbClr val="FF0000"/>
                </a:solidFill>
                <a:highlight>
                  <a:srgbClr val="00FFFF"/>
                </a:highlight>
              </a:rPr>
              <a:t>AI Slop - odpad, vznikne ak AI slepo dôverujem</a:t>
            </a:r>
            <a:endParaRPr lang="sk-SK" sz="2800" i="1" dirty="0">
              <a:solidFill>
                <a:srgbClr val="FF0000"/>
              </a:solidFill>
              <a:highlight>
                <a:srgbClr val="00FFFF"/>
              </a:highlight>
            </a:endParaRPr>
          </a:p>
          <a:p>
            <a:pPr marL="0" indent="0">
              <a:spcBef>
                <a:spcPts val="1200"/>
              </a:spcBef>
              <a:buNone/>
            </a:pPr>
            <a:endParaRPr lang="sk-SK" i="1" dirty="0"/>
          </a:p>
          <a:p>
            <a:pPr marL="0" indent="0">
              <a:spcBef>
                <a:spcPts val="1200"/>
              </a:spcBef>
              <a:buNone/>
            </a:pPr>
            <a:r>
              <a:rPr lang="sk-SK" dirty="0"/>
              <a:t>AI transformovala programovanie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/>
              <a:t>Vývojári trávia menej času písaním a viac recenziou a overovaním AI výstupu</a:t>
            </a:r>
          </a:p>
          <a:p>
            <a:pPr marL="0" indent="0">
              <a:spcBef>
                <a:spcPts val="1200"/>
              </a:spcBef>
              <a:buNone/>
            </a:pPr>
            <a:endParaRPr lang="sk-SK" sz="2800" dirty="0"/>
          </a:p>
        </p:txBody>
      </p:sp>
    </p:spTree>
    <p:extLst>
      <p:ext uri="{BB962C8B-B14F-4D97-AF65-F5344CB8AC3E}">
        <p14:creationId xmlns:p14="http://schemas.microsoft.com/office/powerpoint/2010/main" val="4278490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Zástupný objekt pre obsah 8" descr="Obrázok, na ktorom je text, animák, kreslený obrázok, ilustrácia">
            <a:extLst>
              <a:ext uri="{FF2B5EF4-FFF2-40B4-BE49-F238E27FC236}">
                <a16:creationId xmlns:a16="http://schemas.microsoft.com/office/drawing/2014/main" id="{45C3A268-91AD-B18F-8F8A-14BBF1A6E5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8149" y="217713"/>
            <a:ext cx="5584372" cy="5584372"/>
          </a:xfrm>
        </p:spPr>
      </p:pic>
      <p:sp>
        <p:nvSpPr>
          <p:cNvPr id="11" name="BlokTextu 10">
            <a:extLst>
              <a:ext uri="{FF2B5EF4-FFF2-40B4-BE49-F238E27FC236}">
                <a16:creationId xmlns:a16="http://schemas.microsoft.com/office/drawing/2014/main" id="{4D4E57EA-2C14-4C34-4C81-9F8D809E42DD}"/>
              </a:ext>
            </a:extLst>
          </p:cNvPr>
          <p:cNvSpPr txBox="1"/>
          <p:nvPr/>
        </p:nvSpPr>
        <p:spPr>
          <a:xfrm>
            <a:off x="2431151" y="5747657"/>
            <a:ext cx="73296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sz="2800" dirty="0"/>
              <a:t>AI Slop - odpad, vznikne ak AI slepo dôverujem</a:t>
            </a:r>
          </a:p>
        </p:txBody>
      </p:sp>
    </p:spTree>
    <p:extLst>
      <p:ext uri="{BB962C8B-B14F-4D97-AF65-F5344CB8AC3E}">
        <p14:creationId xmlns:p14="http://schemas.microsoft.com/office/powerpoint/2010/main" val="3869664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Zástupný objekt pre obsah 9" descr="Obrázok, na ktorom je text, snímka obrazovky, softvér, multimediálny softvér">
            <a:extLst>
              <a:ext uri="{FF2B5EF4-FFF2-40B4-BE49-F238E27FC236}">
                <a16:creationId xmlns:a16="http://schemas.microsoft.com/office/drawing/2014/main" id="{3584D68D-579A-D822-72E5-B124E6B999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982" b="-1"/>
          <a:stretch>
            <a:fillRect/>
          </a:stretch>
        </p:blipFill>
        <p:spPr>
          <a:xfrm>
            <a:off x="1524020" y="1282"/>
            <a:ext cx="9143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3115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FB4415D-4979-41D8-0469-722F570AA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Nahradia nás AI agenti?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701C9DF-1CBE-119B-5721-6E91E94643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233" y="1825625"/>
            <a:ext cx="10707328" cy="4667250"/>
          </a:xfrm>
        </p:spPr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dirty="0"/>
              <a:t>Programátorské miesta sa posunuli od písania kódu k </a:t>
            </a:r>
            <a:r>
              <a:rPr lang="sk-SK" b="1" dirty="0"/>
              <a:t>zadávaniu požiadaviek</a:t>
            </a:r>
            <a:r>
              <a:rPr lang="sk-SK" dirty="0"/>
              <a:t>, </a:t>
            </a:r>
            <a:r>
              <a:rPr lang="sk-SK" b="1" dirty="0"/>
              <a:t>návrhu systému</a:t>
            </a:r>
            <a:r>
              <a:rPr lang="sk-SK" dirty="0"/>
              <a:t> a </a:t>
            </a:r>
            <a:r>
              <a:rPr lang="sk-SK" b="1" dirty="0"/>
              <a:t>overovaniu</a:t>
            </a:r>
            <a:r>
              <a:rPr lang="sk-SK" dirty="0"/>
              <a:t> toho, čo vygeneruje AI. 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/>
              <a:t>Tradičné juniorské pozície sú ohrozené a dopyt sa sústreďuje na seniorov. Znamená to, že </a:t>
            </a:r>
            <a:r>
              <a:rPr lang="sk-SK" b="1" dirty="0"/>
              <a:t>seniorské zručnosti si musí budovať skôr a väčšinou sám</a:t>
            </a:r>
            <a:r>
              <a:rPr lang="sk-SK" dirty="0"/>
              <a:t>.</a:t>
            </a:r>
          </a:p>
          <a:p>
            <a:pPr marL="0" lvl="0" indent="0">
              <a:buNone/>
            </a:pPr>
            <a:r>
              <a:rPr lang="sk-SK" dirty="0"/>
              <a:t>Bez znalosti základov sa robia 3 </a:t>
            </a:r>
            <a:r>
              <a:rPr lang="sk-SK"/>
              <a:t>typické chyby:</a:t>
            </a:r>
            <a:endParaRPr lang="sk-SK" dirty="0"/>
          </a:p>
          <a:p>
            <a:pPr lvl="1"/>
            <a:r>
              <a:rPr lang="sk-SK" sz="2800" dirty="0"/>
              <a:t>prijme sa kód, ktorý „vyzerá dobre“, ale je logicky chybný</a:t>
            </a:r>
          </a:p>
          <a:p>
            <a:pPr lvl="1"/>
            <a:r>
              <a:rPr lang="sk-SK" sz="2800" dirty="0"/>
              <a:t>nevie sa správne zadať úloha. AI vyprodukuje náhodný prototyp, nezapadajúci do celkovej architektúry.</a:t>
            </a:r>
          </a:p>
          <a:p>
            <a:pPr lvl="1"/>
            <a:r>
              <a:rPr lang="sk-SK" sz="2800" dirty="0"/>
              <a:t>neschopnosť opraviť zlyhanie u vecí, ktoré AI „skoro trafí“</a:t>
            </a:r>
          </a:p>
          <a:p>
            <a:pPr marL="0" indent="0">
              <a:spcBef>
                <a:spcPts val="1200"/>
              </a:spcBef>
              <a:buNone/>
            </a:pPr>
            <a:endParaRPr lang="sk-SK" sz="2800" dirty="0"/>
          </a:p>
        </p:txBody>
      </p:sp>
    </p:spTree>
    <p:extLst>
      <p:ext uri="{BB962C8B-B14F-4D97-AF65-F5344CB8AC3E}">
        <p14:creationId xmlns:p14="http://schemas.microsoft.com/office/powerpoint/2010/main" val="3519524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9173E-D670-2028-DD0C-014E6EACC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7E44211-8F34-7A27-AAE9-0C78780E1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Objektovo orientované programovanie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A496A00-DF86-7B3A-B1EF-15B0E9DA2C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9536" y="1855121"/>
            <a:ext cx="10245212" cy="4351338"/>
          </a:xfrm>
        </p:spPr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Paradigmy v programovaní</a:t>
            </a:r>
            <a:r>
              <a:rPr lang="sk-SK" sz="2800" dirty="0"/>
              <a:t>:</a:t>
            </a:r>
          </a:p>
          <a:p>
            <a:pPr lvl="1">
              <a:spcBef>
                <a:spcPts val="1200"/>
              </a:spcBef>
            </a:pPr>
            <a:r>
              <a:rPr lang="sk-SK" sz="2800" i="1" dirty="0">
                <a:solidFill>
                  <a:srgbClr val="FF0000"/>
                </a:solidFill>
                <a:highlight>
                  <a:srgbClr val="00FFFF"/>
                </a:highlight>
              </a:rPr>
              <a:t>Štruktúrované</a:t>
            </a:r>
            <a:r>
              <a:rPr lang="sk-SK" sz="2800" i="1" dirty="0"/>
              <a:t>:</a:t>
            </a:r>
            <a:r>
              <a:rPr lang="sk-SK" sz="2800" dirty="0"/>
              <a:t> sekvencie príkazov, podmienky, cykly</a:t>
            </a:r>
          </a:p>
          <a:p>
            <a:pPr lvl="1">
              <a:spcBef>
                <a:spcPts val="1200"/>
              </a:spcBef>
            </a:pPr>
            <a:r>
              <a:rPr lang="sk-SK" sz="2800" i="1" dirty="0">
                <a:solidFill>
                  <a:srgbClr val="FF0000"/>
                </a:solidFill>
                <a:highlight>
                  <a:srgbClr val="00FFFF"/>
                </a:highlight>
              </a:rPr>
              <a:t>Procedurálne</a:t>
            </a:r>
            <a:r>
              <a:rPr lang="sk-SK" sz="2800" i="1" dirty="0"/>
              <a:t>:</a:t>
            </a:r>
            <a:r>
              <a:rPr lang="sk-SK" sz="2800" dirty="0"/>
              <a:t> podprogramy, ktoré sa vedia navzájom volať</a:t>
            </a:r>
          </a:p>
          <a:p>
            <a:pPr lvl="1">
              <a:spcBef>
                <a:spcPts val="1200"/>
              </a:spcBef>
            </a:pPr>
            <a:r>
              <a:rPr lang="sk-SK" sz="2800" i="1" dirty="0">
                <a:solidFill>
                  <a:srgbClr val="FF0000"/>
                </a:solidFill>
                <a:highlight>
                  <a:srgbClr val="00FFFF"/>
                </a:highlight>
              </a:rPr>
              <a:t>Objektovo orientované</a:t>
            </a:r>
            <a:r>
              <a:rPr lang="sk-SK" sz="2800" i="1" dirty="0"/>
              <a:t>:</a:t>
            </a:r>
            <a:r>
              <a:rPr lang="sk-SK" sz="2800" dirty="0"/>
              <a:t> objekty, zapuzdrenie, polymorfizmus</a:t>
            </a:r>
          </a:p>
          <a:p>
            <a:pPr lvl="1">
              <a:spcBef>
                <a:spcPts val="1200"/>
              </a:spcBef>
            </a:pPr>
            <a:r>
              <a:rPr lang="sk-SK" sz="2800" i="1" dirty="0">
                <a:solidFill>
                  <a:srgbClr val="FF0000"/>
                </a:solidFill>
                <a:highlight>
                  <a:srgbClr val="00FFFF"/>
                </a:highlight>
              </a:rPr>
              <a:t>Funkcionálne</a:t>
            </a:r>
            <a:r>
              <a:rPr lang="sk-SK" sz="2800" i="1" dirty="0"/>
              <a:t>:</a:t>
            </a:r>
            <a:r>
              <a:rPr lang="sk-SK" sz="2800" dirty="0"/>
              <a:t> anonymné funkcie, </a:t>
            </a:r>
            <a:r>
              <a:rPr lang="sk-SK" sz="2800" dirty="0" err="1"/>
              <a:t>high-order</a:t>
            </a:r>
            <a:r>
              <a:rPr lang="sk-SK" sz="2800" dirty="0"/>
              <a:t> funkcie</a:t>
            </a:r>
          </a:p>
        </p:txBody>
      </p:sp>
    </p:spTree>
    <p:extLst>
      <p:ext uri="{BB962C8B-B14F-4D97-AF65-F5344CB8AC3E}">
        <p14:creationId xmlns:p14="http://schemas.microsoft.com/office/powerpoint/2010/main" val="35372812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D131E-A261-E373-2B16-17BB85C66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2EBD3A8-D9A5-F7F4-2190-4176A2D7F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Objektovo orientované programovanie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9122AE6-F833-1A90-F1F7-69CC5E349C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7748" y="1805960"/>
            <a:ext cx="9547736" cy="4351338"/>
          </a:xfrm>
        </p:spPr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Vlastnosti:</a:t>
            </a:r>
          </a:p>
          <a:p>
            <a:pPr lvl="1">
              <a:spcBef>
                <a:spcPts val="1200"/>
              </a:spcBef>
            </a:pPr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intuitívne modely podľa nášho sveta</a:t>
            </a:r>
          </a:p>
          <a:p>
            <a:pPr lvl="1">
              <a:spcBef>
                <a:spcPts val="1200"/>
              </a:spcBef>
            </a:pPr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zvláda väčšiu komplexnosť</a:t>
            </a:r>
          </a:p>
          <a:p>
            <a:pPr lvl="1">
              <a:spcBef>
                <a:spcPts val="1200"/>
              </a:spcBef>
            </a:pPr>
            <a:r>
              <a:rPr lang="sk-SK" sz="2800" dirty="0" err="1">
                <a:solidFill>
                  <a:srgbClr val="FF0000"/>
                </a:solidFill>
                <a:highlight>
                  <a:srgbClr val="00FFFF"/>
                </a:highlight>
              </a:rPr>
              <a:t>znovupoužitie</a:t>
            </a:r>
            <a:endParaRPr lang="sk-SK" sz="2500" dirty="0">
              <a:solidFill>
                <a:srgbClr val="FF0000"/>
              </a:solidFill>
              <a:highlight>
                <a:srgbClr val="00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59848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614D3A7-D39F-DFA8-1324-8EE3D634F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Jazyk Java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B6002A4-F245-D51B-5778-6E5E9ACC65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Vlastnosti:</a:t>
            </a:r>
          </a:p>
          <a:p>
            <a:pPr lvl="1">
              <a:spcBef>
                <a:spcPts val="1200"/>
              </a:spcBef>
            </a:pPr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objektovo orientovaný</a:t>
            </a:r>
          </a:p>
          <a:p>
            <a:pPr lvl="1">
              <a:spcBef>
                <a:spcPts val="1200"/>
              </a:spcBef>
            </a:pPr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platformovo nezávislý </a:t>
            </a:r>
          </a:p>
          <a:p>
            <a:pPr lvl="1">
              <a:spcBef>
                <a:spcPts val="1200"/>
              </a:spcBef>
            </a:pPr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staticky typovaný</a:t>
            </a:r>
            <a:r>
              <a:rPr lang="sk-SK" sz="2800" dirty="0"/>
              <a:t>: typy premenných sú kontrolované pri kompilácii </a:t>
            </a:r>
          </a:p>
        </p:txBody>
      </p:sp>
    </p:spTree>
    <p:extLst>
      <p:ext uri="{BB962C8B-B14F-4D97-AF65-F5344CB8AC3E}">
        <p14:creationId xmlns:p14="http://schemas.microsoft.com/office/powerpoint/2010/main" val="14989397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93EFC-746C-98C9-3659-DF2430645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9DF7CD8-BD90-B9A9-1BD7-5D3BD9ECC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Jazyk Java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994ACF6C-ED2C-AD2A-100D-0BFD2F7EE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Použitie</a:t>
            </a:r>
            <a:r>
              <a:rPr lang="sk-SK" sz="2800" dirty="0"/>
              <a:t>:</a:t>
            </a:r>
          </a:p>
          <a:p>
            <a:pPr lvl="1">
              <a:spcBef>
                <a:spcPts val="1200"/>
              </a:spcBef>
            </a:pPr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webový </a:t>
            </a:r>
            <a:r>
              <a:rPr lang="sk-SK" sz="2800" dirty="0" err="1">
                <a:solidFill>
                  <a:srgbClr val="FF0000"/>
                </a:solidFill>
                <a:highlight>
                  <a:srgbClr val="00FFFF"/>
                </a:highlight>
              </a:rPr>
              <a:t>back</a:t>
            </a:r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-end</a:t>
            </a:r>
          </a:p>
          <a:p>
            <a:pPr lvl="1">
              <a:spcBef>
                <a:spcPts val="1200"/>
              </a:spcBef>
            </a:pPr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Android aplikácie </a:t>
            </a:r>
            <a:r>
              <a:rPr lang="sk-SK" sz="2800" i="1" dirty="0"/>
              <a:t>(jazyk </a:t>
            </a:r>
            <a:r>
              <a:rPr lang="sk-SK" sz="2800" i="1" dirty="0" err="1"/>
              <a:t>Kotlin</a:t>
            </a:r>
            <a:r>
              <a:rPr lang="sk-SK" sz="2800" i="1" dirty="0"/>
              <a:t>)</a:t>
            </a:r>
          </a:p>
          <a:p>
            <a:pPr lvl="1">
              <a:spcBef>
                <a:spcPts val="1200"/>
              </a:spcBef>
            </a:pPr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distribuované systémy (</a:t>
            </a:r>
            <a:r>
              <a:rPr lang="sk-SK" sz="2800" dirty="0" err="1">
                <a:solidFill>
                  <a:srgbClr val="FF0000"/>
                </a:solidFill>
                <a:highlight>
                  <a:srgbClr val="00FFFF"/>
                </a:highlight>
              </a:rPr>
              <a:t>cloud</a:t>
            </a:r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)</a:t>
            </a:r>
          </a:p>
          <a:p>
            <a:pPr lvl="1">
              <a:spcBef>
                <a:spcPts val="1200"/>
              </a:spcBef>
            </a:pPr>
            <a:r>
              <a:rPr lang="sk-SK" sz="2800" dirty="0"/>
              <a:t>veľké podnikové systémy</a:t>
            </a:r>
          </a:p>
          <a:p>
            <a:pPr lvl="1">
              <a:spcBef>
                <a:spcPts val="1200"/>
              </a:spcBef>
            </a:pPr>
            <a:endParaRPr lang="sk-SK" sz="2800" dirty="0">
              <a:solidFill>
                <a:srgbClr val="FF0000"/>
              </a:solidFill>
              <a:highlight>
                <a:srgbClr val="00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0974735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8BD74-E1DA-57D2-C049-48BE7DDD4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7107F3A-D47B-CE43-E0D2-7CC7B3B0D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Jazyk Java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C1B619B-F354-00FF-88DF-4A7DA58A13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Platformová nezávislosť:</a:t>
            </a:r>
          </a:p>
          <a:p>
            <a:pPr lvl="1">
              <a:spcBef>
                <a:spcPts val="1200"/>
              </a:spcBef>
            </a:pPr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kód sa kompiluje do </a:t>
            </a:r>
            <a:r>
              <a:rPr lang="sk-SK" sz="2800" dirty="0" err="1">
                <a:solidFill>
                  <a:srgbClr val="FF0000"/>
                </a:solidFill>
                <a:highlight>
                  <a:srgbClr val="00FFFF"/>
                </a:highlight>
              </a:rPr>
              <a:t>bytecode</a:t>
            </a:r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 a beží nad JVM</a:t>
            </a:r>
          </a:p>
          <a:p>
            <a:pPr lvl="1">
              <a:spcBef>
                <a:spcPts val="1200"/>
              </a:spcBef>
            </a:pPr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motto Javy: </a:t>
            </a:r>
            <a:r>
              <a:rPr lang="sk-SK" sz="2800" dirty="0" err="1">
                <a:solidFill>
                  <a:srgbClr val="FF0000"/>
                </a:solidFill>
                <a:highlight>
                  <a:srgbClr val="00FFFF"/>
                </a:highlight>
              </a:rPr>
              <a:t>Write</a:t>
            </a:r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 </a:t>
            </a:r>
            <a:r>
              <a:rPr lang="sk-SK" sz="2800" dirty="0" err="1">
                <a:solidFill>
                  <a:srgbClr val="FF0000"/>
                </a:solidFill>
                <a:highlight>
                  <a:srgbClr val="00FFFF"/>
                </a:highlight>
              </a:rPr>
              <a:t>Once</a:t>
            </a:r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, Run </a:t>
            </a:r>
            <a:r>
              <a:rPr lang="sk-SK" sz="2800" dirty="0" err="1">
                <a:solidFill>
                  <a:srgbClr val="FF0000"/>
                </a:solidFill>
                <a:highlight>
                  <a:srgbClr val="00FFFF"/>
                </a:highlight>
              </a:rPr>
              <a:t>Anywhere</a:t>
            </a:r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 </a:t>
            </a:r>
            <a:r>
              <a:rPr lang="sk-SK" sz="2800" i="1" dirty="0">
                <a:solidFill>
                  <a:srgbClr val="FF0000"/>
                </a:solidFill>
                <a:highlight>
                  <a:srgbClr val="00FFFF"/>
                </a:highlight>
              </a:rPr>
              <a:t>(WORA)</a:t>
            </a:r>
          </a:p>
          <a:p>
            <a:pPr lvl="1">
              <a:spcBef>
                <a:spcPts val="1200"/>
              </a:spcBef>
            </a:pPr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virtuálny stroj </a:t>
            </a:r>
            <a:r>
              <a:rPr lang="sk-SK" sz="2800" b="1" dirty="0">
                <a:solidFill>
                  <a:srgbClr val="FF0000"/>
                </a:solidFill>
                <a:highlight>
                  <a:srgbClr val="00FFFF"/>
                </a:highlight>
              </a:rPr>
              <a:t>JVM</a:t>
            </a:r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 </a:t>
            </a:r>
            <a:r>
              <a:rPr lang="sk-SK" sz="2800" i="1" dirty="0">
                <a:solidFill>
                  <a:srgbClr val="FF0000"/>
                </a:solidFill>
                <a:highlight>
                  <a:srgbClr val="00FFFF"/>
                </a:highlight>
              </a:rPr>
              <a:t>(</a:t>
            </a:r>
            <a:r>
              <a:rPr lang="sk-SK" sz="2800" b="1" i="1" dirty="0">
                <a:solidFill>
                  <a:srgbClr val="FF0000"/>
                </a:solidFill>
                <a:highlight>
                  <a:srgbClr val="00FFFF"/>
                </a:highlight>
              </a:rPr>
              <a:t>Java </a:t>
            </a:r>
            <a:r>
              <a:rPr lang="sk-SK" sz="2800" b="1" i="1" dirty="0" err="1">
                <a:solidFill>
                  <a:srgbClr val="FF0000"/>
                </a:solidFill>
                <a:highlight>
                  <a:srgbClr val="00FFFF"/>
                </a:highlight>
              </a:rPr>
              <a:t>Virtual</a:t>
            </a:r>
            <a:r>
              <a:rPr lang="sk-SK" sz="2800" b="1" i="1" dirty="0">
                <a:solidFill>
                  <a:srgbClr val="FF0000"/>
                </a:solidFill>
                <a:highlight>
                  <a:srgbClr val="00FFFF"/>
                </a:highlight>
              </a:rPr>
              <a:t> </a:t>
            </a:r>
            <a:r>
              <a:rPr lang="sk-SK" sz="2800" b="1" i="1" dirty="0" err="1">
                <a:solidFill>
                  <a:srgbClr val="FF0000"/>
                </a:solidFill>
                <a:highlight>
                  <a:srgbClr val="00FFFF"/>
                </a:highlight>
              </a:rPr>
              <a:t>Machine</a:t>
            </a:r>
            <a:r>
              <a:rPr lang="sk-SK" sz="2800" i="1" dirty="0">
                <a:solidFill>
                  <a:srgbClr val="FF0000"/>
                </a:solidFill>
                <a:highlight>
                  <a:srgbClr val="00FFFF"/>
                </a:highlight>
              </a:rPr>
              <a:t>)</a:t>
            </a:r>
            <a:endParaRPr lang="sk-SK" sz="2800" dirty="0">
              <a:solidFill>
                <a:srgbClr val="FF0000"/>
              </a:solidFill>
              <a:highlight>
                <a:srgbClr val="00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284420168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Motív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Motív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Motí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256</TotalTime>
  <Words>346</Words>
  <Application>Microsoft Office PowerPoint</Application>
  <PresentationFormat>Širokouhlá</PresentationFormat>
  <Paragraphs>61</Paragraphs>
  <Slides>12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4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Consolas</vt:lpstr>
      <vt:lpstr>Motív Office</vt:lpstr>
      <vt:lpstr>Objektovo orientované programovanie</vt:lpstr>
      <vt:lpstr>Prezentácia programu PowerPoint</vt:lpstr>
      <vt:lpstr>OPG Teória 1</vt:lpstr>
      <vt:lpstr>AI</vt:lpstr>
      <vt:lpstr>Prezentácia programu PowerPoint</vt:lpstr>
      <vt:lpstr>Prezentácia programu PowerPoint</vt:lpstr>
      <vt:lpstr>Nahradia nás AI agenti?</vt:lpstr>
      <vt:lpstr>Objektovo orientované programovanie</vt:lpstr>
      <vt:lpstr>Objektovo orientované programovanie</vt:lpstr>
      <vt:lpstr>Jazyk Java</vt:lpstr>
      <vt:lpstr>Jazyk Java</vt:lpstr>
      <vt:lpstr>Jazyk Java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Lenka Wagnerová</dc:creator>
  <cp:lastModifiedBy>Wagner Jozef Ing., PhD.</cp:lastModifiedBy>
  <cp:revision>15</cp:revision>
  <dcterms:created xsi:type="dcterms:W3CDTF">2025-09-05T09:09:34Z</dcterms:created>
  <dcterms:modified xsi:type="dcterms:W3CDTF">2026-09-03T15:30:09Z</dcterms:modified>
</cp:coreProperties>
</file>