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96" r:id="rId1"/>
  </p:sldMasterIdLst>
  <p:sldIdLst>
    <p:sldId id="266" r:id="rId2"/>
    <p:sldId id="257" r:id="rId3"/>
    <p:sldId id="283" r:id="rId4"/>
    <p:sldId id="296" r:id="rId5"/>
    <p:sldId id="307" r:id="rId6"/>
    <p:sldId id="308" r:id="rId7"/>
    <p:sldId id="297" r:id="rId8"/>
    <p:sldId id="309" r:id="rId9"/>
    <p:sldId id="305" r:id="rId10"/>
    <p:sldId id="31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10. 3. 2026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1149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10. 3. 2026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97966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10. 3. 2026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57420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10. 3. 2026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9817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10. 3. 2026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86370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10. 3. 2026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54684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10. 3. 2026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97743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10. 3. 2026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43039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10. 3. 2026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19663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10. 3. 2026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93636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10. 3. 2026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05875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2495-8BC8-4CFB-94B1-B0429F101A0D}" type="datetimeFigureOut">
              <a:rPr lang="sk-SK" smtClean="0"/>
              <a:t>10. 3. 2026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7252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op.wagjo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144086-9642-901A-F3D2-FA2652CA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291839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Objektovo orientované programovanie</a:t>
            </a:r>
            <a:br>
              <a:rPr lang="en-US" sz="4000" dirty="0"/>
            </a:br>
            <a:r>
              <a:rPr lang="en-US" sz="4000" dirty="0"/>
              <a:t>- </a:t>
            </a:r>
            <a:r>
              <a:rPr lang="en-US" sz="4000" i="1" dirty="0" err="1"/>
              <a:t>pokro</a:t>
            </a:r>
            <a:r>
              <a:rPr lang="sk-SK" sz="4000" i="1" dirty="0" err="1"/>
              <a:t>čilí</a:t>
            </a:r>
            <a:endParaRPr lang="sk-SK" sz="4000" i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85716B-C55C-CDF8-4632-389CB907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Učiteľ: </a:t>
            </a:r>
            <a:br>
              <a:rPr lang="sk-SK" dirty="0"/>
            </a:br>
            <a:r>
              <a:rPr lang="sk-SK" b="1" dirty="0"/>
              <a:t>Ing. Jozef Wagner</a:t>
            </a:r>
            <a:r>
              <a:rPr lang="en-US" b="1" dirty="0"/>
              <a:t>,</a:t>
            </a:r>
            <a:r>
              <a:rPr lang="sk-SK" b="1" dirty="0"/>
              <a:t> PhD.</a:t>
            </a:r>
          </a:p>
          <a:p>
            <a:pPr marL="0" indent="0">
              <a:buNone/>
            </a:pPr>
            <a:endParaRPr lang="sk-SK" b="1" dirty="0"/>
          </a:p>
          <a:p>
            <a:pPr marL="0" indent="0">
              <a:buNone/>
            </a:pPr>
            <a:r>
              <a:rPr lang="sk-SK" dirty="0"/>
              <a:t>Učebnica: </a:t>
            </a:r>
            <a:br>
              <a:rPr lang="sk-SK" dirty="0"/>
            </a:br>
            <a:r>
              <a:rPr lang="sk-SK" dirty="0">
                <a:hlinkClick r:id="rId2"/>
              </a:rPr>
              <a:t>https://oop.wagjo.com/</a:t>
            </a:r>
            <a:r>
              <a:rPr lang="sk-SK" dirty="0"/>
              <a:t> 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1744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680000-8E97-7BCD-0373-6D09E720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OPGP  Pokročilí</a:t>
            </a:r>
            <a:r>
              <a:rPr lang="en-US" sz="4000" dirty="0"/>
              <a:t> </a:t>
            </a:r>
            <a:r>
              <a:rPr lang="sk-SK" sz="4000" dirty="0"/>
              <a:t>20</a:t>
            </a:r>
            <a:br>
              <a:rPr lang="en-US" sz="4000" dirty="0"/>
            </a:br>
            <a:endParaRPr lang="sk-SK" sz="4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A88E58-5472-E350-E606-D7A492AB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7" y="1338729"/>
            <a:ext cx="5788153" cy="4180542"/>
          </a:xfrm>
        </p:spPr>
        <p:txBody>
          <a:bodyPr anchor="ctr"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sk-SK" dirty="0" err="1"/>
              <a:t>Transmission</a:t>
            </a:r>
            <a:r>
              <a:rPr lang="sk-SK" dirty="0"/>
              <a:t> </a:t>
            </a:r>
            <a:r>
              <a:rPr lang="sk-SK" dirty="0" err="1"/>
              <a:t>Control</a:t>
            </a:r>
            <a:r>
              <a:rPr lang="sk-SK" dirty="0"/>
              <a:t> </a:t>
            </a:r>
            <a:r>
              <a:rPr lang="sk-SK" dirty="0" err="1"/>
              <a:t>Protocol</a:t>
            </a:r>
            <a:endParaRPr lang="sk-SK" dirty="0"/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Fázy spojenia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Nadviazanie spojenia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 err="1"/>
              <a:t>Three-way</a:t>
            </a:r>
            <a:r>
              <a:rPr lang="sk-SK" dirty="0"/>
              <a:t> </a:t>
            </a:r>
            <a:r>
              <a:rPr lang="sk-SK" dirty="0" err="1"/>
              <a:t>handshake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99128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F34094-F190-314F-5CCB-9E270F9DD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3E8B18F-B5AD-1DC8-F63B-8510FD478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944" y="1589702"/>
            <a:ext cx="11034940" cy="469222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l-PL" dirty="0"/>
              <a:t>TCP - protokol na 4. vrstve OSI</a:t>
            </a:r>
          </a:p>
          <a:p>
            <a:pPr marL="0" indent="0">
              <a:lnSpc>
                <a:spcPct val="100000"/>
              </a:lnSpc>
              <a:buNone/>
            </a:pPr>
            <a:endParaRPr lang="pl-PL" i="1" dirty="0"/>
          </a:p>
          <a:p>
            <a:pPr marL="0" indent="0">
              <a:lnSpc>
                <a:spcPct val="100000"/>
              </a:lnSpc>
              <a:buNone/>
            </a:pPr>
            <a:r>
              <a:rPr lang="sk-SK" i="1" dirty="0"/>
              <a:t>Stream-</a:t>
            </a:r>
            <a:r>
              <a:rPr lang="sk-SK" i="1" dirty="0" err="1"/>
              <a:t>oriented</a:t>
            </a:r>
            <a:r>
              <a:rPr lang="sk-SK" i="1" dirty="0"/>
              <a:t> -</a:t>
            </a:r>
            <a:r>
              <a:rPr lang="sk-SK" dirty="0"/>
              <a:t> používa súvislý prúd bajtov - </a:t>
            </a:r>
            <a:r>
              <a:rPr lang="sk-SK" b="1" dirty="0"/>
              <a:t>stream</a:t>
            </a:r>
            <a:r>
              <a:rPr lang="sk-SK" dirty="0"/>
              <a:t>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i="1" dirty="0" err="1"/>
              <a:t>Connection</a:t>
            </a:r>
            <a:r>
              <a:rPr lang="sk-SK" i="1" dirty="0"/>
              <a:t> </a:t>
            </a:r>
            <a:r>
              <a:rPr lang="sk-SK" i="1" dirty="0" err="1"/>
              <a:t>oriented</a:t>
            </a:r>
            <a:r>
              <a:rPr lang="sk-SK" i="1" dirty="0"/>
              <a:t> </a:t>
            </a:r>
            <a:r>
              <a:rPr lang="sk-SK" dirty="0"/>
              <a:t>- </a:t>
            </a:r>
            <a:r>
              <a:rPr lang="sk-SK" dirty="0" err="1"/>
              <a:t>client</a:t>
            </a:r>
            <a:r>
              <a:rPr lang="sk-SK" dirty="0"/>
              <a:t> a server musia najprv nadviazať spojenie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Používame štandardný </a:t>
            </a:r>
            <a:r>
              <a:rPr lang="sk-SK" dirty="0" err="1"/>
              <a:t>Python</a:t>
            </a:r>
            <a:r>
              <a:rPr lang="sk-SK" dirty="0"/>
              <a:t> modul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socket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A9C42A5D-33AB-425B-E11E-FCC779504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Transmission</a:t>
            </a:r>
            <a:r>
              <a:rPr lang="sk-SK" dirty="0"/>
              <a:t> </a:t>
            </a:r>
            <a:r>
              <a:rPr lang="sk-SK" dirty="0" err="1"/>
              <a:t>Control</a:t>
            </a:r>
            <a:r>
              <a:rPr lang="sk-SK" dirty="0"/>
              <a:t> </a:t>
            </a:r>
            <a:r>
              <a:rPr lang="sk-SK" dirty="0" err="1"/>
              <a:t>Protocol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886049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F51F63-8CCB-E8C1-6526-D3F32E812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B85768B-ED69-E919-E7F2-6C0E2E48E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1" y="1819656"/>
            <a:ext cx="10284684" cy="446227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Vlastnosti TCP</a:t>
            </a:r>
          </a:p>
          <a:p>
            <a:pPr lvl="1">
              <a:lnSpc>
                <a:spcPct val="100000"/>
              </a:lnSpc>
            </a:pPr>
            <a:r>
              <a:rPr lang="sk-SK" sz="2800" i="1" dirty="0"/>
              <a:t>Spoľahlivosť</a:t>
            </a:r>
            <a:r>
              <a:rPr lang="sk-SK" sz="2800" dirty="0"/>
              <a:t> - stratené segmenty sa automaticky znovu pošlú</a:t>
            </a:r>
          </a:p>
          <a:p>
            <a:pPr lvl="1">
              <a:lnSpc>
                <a:spcPct val="100000"/>
              </a:lnSpc>
            </a:pPr>
            <a:r>
              <a:rPr lang="sk-SK" sz="2800" i="1" dirty="0"/>
              <a:t>Poradie</a:t>
            </a:r>
            <a:r>
              <a:rPr lang="sk-SK" sz="2800" dirty="0"/>
              <a:t> - dáta prídu presne v tom poradí, v akom boli poslané</a:t>
            </a:r>
          </a:p>
          <a:p>
            <a:pPr lvl="1">
              <a:lnSpc>
                <a:spcPct val="100000"/>
              </a:lnSpc>
            </a:pPr>
            <a:r>
              <a:rPr lang="sk-SK" sz="2800" i="1" dirty="0"/>
              <a:t>Obojsmerný stream </a:t>
            </a:r>
            <a:r>
              <a:rPr lang="sk-SK" sz="2800" dirty="0"/>
              <a:t>- obe strany môžu posielať a prijímať súčasne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A52A2411-347E-FA36-88EC-1B7A1749B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Transmission</a:t>
            </a:r>
            <a:r>
              <a:rPr lang="sk-SK" dirty="0"/>
              <a:t> </a:t>
            </a:r>
            <a:r>
              <a:rPr lang="sk-SK" dirty="0" err="1"/>
              <a:t>Control</a:t>
            </a:r>
            <a:r>
              <a:rPr lang="sk-SK" dirty="0"/>
              <a:t> </a:t>
            </a:r>
            <a:r>
              <a:rPr lang="sk-SK" dirty="0" err="1"/>
              <a:t>Protocol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544996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3134CA-78EE-180B-DE43-EE6A3C95F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C6CDF79-74E6-8282-F6B6-C5439FC95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1" y="1819656"/>
            <a:ext cx="10284684" cy="446227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Nevýhody TCP oproti UDP</a:t>
            </a:r>
          </a:p>
          <a:p>
            <a:pPr lvl="1">
              <a:lnSpc>
                <a:spcPct val="100000"/>
              </a:lnSpc>
            </a:pPr>
            <a:r>
              <a:rPr lang="sk-SK" sz="2800" dirty="0"/>
              <a:t>vyššie oneskorenie a </a:t>
            </a:r>
            <a:r>
              <a:rPr lang="sk-SK" sz="2800" dirty="0" err="1"/>
              <a:t>overhead</a:t>
            </a:r>
            <a:endParaRPr lang="sk-SK" sz="2800" dirty="0"/>
          </a:p>
          <a:p>
            <a:pPr lvl="1">
              <a:lnSpc>
                <a:spcPct val="100000"/>
              </a:lnSpc>
            </a:pPr>
            <a:r>
              <a:rPr lang="sk-SK" sz="2800" dirty="0"/>
              <a:t>nevhodné pre </a:t>
            </a:r>
            <a:r>
              <a:rPr lang="sk-SK" sz="2800" dirty="0" err="1"/>
              <a:t>realtime</a:t>
            </a:r>
            <a:r>
              <a:rPr lang="sk-SK" sz="2800" dirty="0"/>
              <a:t> komunikáciu a online hry</a:t>
            </a:r>
          </a:p>
          <a:p>
            <a:pPr lvl="1">
              <a:lnSpc>
                <a:spcPct val="100000"/>
              </a:lnSpc>
            </a:pPr>
            <a:r>
              <a:rPr lang="sk-SK" sz="2800" dirty="0"/>
              <a:t>vyššie nároky na server, pomalší štart</a:t>
            </a:r>
          </a:p>
          <a:p>
            <a:pPr lvl="1">
              <a:lnSpc>
                <a:spcPct val="100000"/>
              </a:lnSpc>
            </a:pPr>
            <a:r>
              <a:rPr lang="sk-SK" sz="2800" dirty="0"/>
              <a:t>nepodporuje </a:t>
            </a:r>
            <a:r>
              <a:rPr lang="sk-SK" sz="2800" dirty="0" err="1"/>
              <a:t>broadcast</a:t>
            </a:r>
            <a:r>
              <a:rPr lang="sk-SK" sz="2800" dirty="0"/>
              <a:t>/</a:t>
            </a:r>
            <a:r>
              <a:rPr lang="sk-SK" sz="2800" dirty="0" err="1"/>
              <a:t>multicast</a:t>
            </a:r>
            <a:endParaRPr lang="sk-SK" sz="2800" dirty="0"/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827F4D00-13B0-2090-A0C2-F2504F1F2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Transmission</a:t>
            </a:r>
            <a:r>
              <a:rPr lang="sk-SK" dirty="0"/>
              <a:t> </a:t>
            </a:r>
            <a:r>
              <a:rPr lang="sk-SK" dirty="0" err="1"/>
              <a:t>Control</a:t>
            </a:r>
            <a:r>
              <a:rPr lang="sk-SK" dirty="0"/>
              <a:t> </a:t>
            </a:r>
            <a:r>
              <a:rPr lang="sk-SK" dirty="0" err="1"/>
              <a:t>Protocol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245865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681A8F-2EC8-11E9-091B-7A56911E8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E3C3C79-5C53-7152-12E6-F3B0AEE06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1" y="1819656"/>
            <a:ext cx="10284684" cy="446227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Fázy spojenia </a:t>
            </a:r>
          </a:p>
          <a:p>
            <a:pPr marL="514350" indent="-514350">
              <a:lnSpc>
                <a:spcPct val="100000"/>
              </a:lnSpc>
              <a:buAutoNum type="arabicPeriod"/>
            </a:pPr>
            <a:r>
              <a:rPr lang="sk-SK" b="1" dirty="0"/>
              <a:t>Nadviazanie spojenia </a:t>
            </a:r>
            <a:r>
              <a:rPr lang="sk-SK" dirty="0"/>
              <a:t>- používame funkcie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listen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()</a:t>
            </a:r>
            <a:r>
              <a:rPr lang="sk-SK" dirty="0"/>
              <a:t>,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connect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()</a:t>
            </a:r>
            <a:r>
              <a:rPr lang="sk-SK" dirty="0"/>
              <a:t> a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accept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()</a:t>
            </a:r>
            <a:r>
              <a:rPr lang="sk-SK" dirty="0"/>
              <a:t> </a:t>
            </a:r>
          </a:p>
          <a:p>
            <a:pPr marL="514350" indent="-514350">
              <a:lnSpc>
                <a:spcPct val="100000"/>
              </a:lnSpc>
              <a:buAutoNum type="arabicPeriod"/>
            </a:pPr>
            <a:r>
              <a:rPr lang="sk-SK" b="1" dirty="0"/>
              <a:t>Prenos dát </a:t>
            </a:r>
            <a:r>
              <a:rPr lang="sk-SK" dirty="0"/>
              <a:t>- používame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sendall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()</a:t>
            </a:r>
            <a:r>
              <a:rPr lang="sk-SK" dirty="0"/>
              <a:t> a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recv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()</a:t>
            </a:r>
            <a:r>
              <a:rPr lang="sk-SK" dirty="0"/>
              <a:t> </a:t>
            </a:r>
          </a:p>
          <a:p>
            <a:pPr marL="514350" indent="-514350">
              <a:lnSpc>
                <a:spcPct val="100000"/>
              </a:lnSpc>
              <a:buAutoNum type="arabicPeriod"/>
            </a:pPr>
            <a:r>
              <a:rPr lang="sk-SK" b="1" dirty="0"/>
              <a:t>Ukončenie spojenia </a:t>
            </a:r>
            <a:r>
              <a:rPr lang="sk-SK" dirty="0"/>
              <a:t>- používame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shutdown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()</a:t>
            </a:r>
            <a:r>
              <a:rPr lang="sk-SK" dirty="0"/>
              <a:t> a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close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()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B6CA6AEE-430A-9E91-F1CA-1E75B7E42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TCP – fázy spojenia</a:t>
            </a:r>
          </a:p>
        </p:txBody>
      </p:sp>
    </p:spTree>
    <p:extLst>
      <p:ext uri="{BB962C8B-B14F-4D97-AF65-F5344CB8AC3E}">
        <p14:creationId xmlns:p14="http://schemas.microsoft.com/office/powerpoint/2010/main" val="3988448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2E2C99-F396-BC3C-6BB3-8480010AB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7C8BA27-6DB1-D0B4-544F-6416859E8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1" y="1819656"/>
            <a:ext cx="11448288" cy="446227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Server počúva (</a:t>
            </a:r>
            <a:r>
              <a:rPr lang="sk-SK" dirty="0" err="1"/>
              <a:t>listen</a:t>
            </a:r>
            <a:r>
              <a:rPr lang="sk-SK" dirty="0"/>
              <a:t>) na svojom porte a zachytí (</a:t>
            </a:r>
            <a:r>
              <a:rPr lang="sk-SK" dirty="0" err="1"/>
              <a:t>accept</a:t>
            </a:r>
            <a:r>
              <a:rPr lang="sk-SK" dirty="0"/>
              <a:t>) žiadosti o spojenie.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 err="1"/>
              <a:t>Client</a:t>
            </a:r>
            <a:r>
              <a:rPr lang="sk-SK" dirty="0"/>
              <a:t> žiada server o nadviazanie spojenia (</a:t>
            </a:r>
            <a:r>
              <a:rPr lang="sk-SK" dirty="0" err="1"/>
              <a:t>connect</a:t>
            </a:r>
            <a:r>
              <a:rPr lang="sk-SK" dirty="0"/>
              <a:t>).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Mechanizmus nadviazania spojenia sa volá </a:t>
            </a:r>
            <a:r>
              <a:rPr lang="sk-SK" b="1" dirty="0" err="1"/>
              <a:t>Three-way</a:t>
            </a:r>
            <a:r>
              <a:rPr lang="sk-SK" b="1" dirty="0"/>
              <a:t> </a:t>
            </a:r>
            <a:r>
              <a:rPr lang="sk-SK" b="1" dirty="0" err="1"/>
              <a:t>handshake</a:t>
            </a:r>
            <a:endParaRPr lang="sk-SK" b="1" dirty="0">
              <a:highlight>
                <a:srgbClr val="FFFF00"/>
              </a:highlight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05D79E26-6734-785B-B437-0972B76C4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Nadviazanie spojenia</a:t>
            </a:r>
          </a:p>
        </p:txBody>
      </p:sp>
    </p:spTree>
    <p:extLst>
      <p:ext uri="{BB962C8B-B14F-4D97-AF65-F5344CB8AC3E}">
        <p14:creationId xmlns:p14="http://schemas.microsoft.com/office/powerpoint/2010/main" val="1101311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94514C-CE07-6A0E-B90E-C71848190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472A630-551D-E540-D456-B10238760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1" y="1819656"/>
            <a:ext cx="4983479" cy="446227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 err="1"/>
              <a:t>Three-way</a:t>
            </a:r>
            <a:r>
              <a:rPr lang="sk-SK" dirty="0"/>
              <a:t> </a:t>
            </a:r>
            <a:r>
              <a:rPr lang="sk-SK" dirty="0" err="1"/>
              <a:t>handshake</a:t>
            </a:r>
            <a:r>
              <a:rPr lang="sk-SK" dirty="0"/>
              <a:t>: </a:t>
            </a:r>
          </a:p>
          <a:p>
            <a:pPr marL="514350" indent="-514350">
              <a:lnSpc>
                <a:spcPct val="100000"/>
              </a:lnSpc>
              <a:buAutoNum type="arabicPeriod"/>
            </a:pPr>
            <a:r>
              <a:rPr lang="sk-SK" dirty="0"/>
              <a:t>Klient pošle </a:t>
            </a:r>
            <a:r>
              <a:rPr lang="sk-SK" b="1" dirty="0"/>
              <a:t>SYN</a:t>
            </a:r>
            <a:r>
              <a:rPr lang="sk-SK" dirty="0"/>
              <a:t> segment </a:t>
            </a:r>
          </a:p>
          <a:p>
            <a:pPr marL="514350" indent="-514350">
              <a:lnSpc>
                <a:spcPct val="100000"/>
              </a:lnSpc>
              <a:buAutoNum type="arabicPeriod"/>
            </a:pPr>
            <a:r>
              <a:rPr lang="sk-SK" dirty="0"/>
              <a:t>Server odpovie segmentom </a:t>
            </a:r>
            <a:r>
              <a:rPr lang="sk-SK" b="1" dirty="0"/>
              <a:t>SYN+ACK </a:t>
            </a:r>
          </a:p>
          <a:p>
            <a:pPr marL="514350" indent="-514350">
              <a:lnSpc>
                <a:spcPct val="100000"/>
              </a:lnSpc>
              <a:buAutoNum type="arabicPeriod"/>
            </a:pPr>
            <a:r>
              <a:rPr lang="sk-SK" dirty="0"/>
              <a:t>Klient nakoniec odošle </a:t>
            </a:r>
            <a:r>
              <a:rPr lang="sk-SK" b="1" dirty="0"/>
              <a:t>ACK</a:t>
            </a:r>
            <a:r>
              <a:rPr lang="sk-SK" dirty="0"/>
              <a:t> segment</a:t>
            </a:r>
          </a:p>
          <a:p>
            <a:pPr marL="514350" indent="-514350">
              <a:lnSpc>
                <a:spcPct val="100000"/>
              </a:lnSpc>
              <a:buAutoNum type="arabicPeriod"/>
            </a:pPr>
            <a:endParaRPr lang="sk-SK" b="1" dirty="0">
              <a:highlight>
                <a:srgbClr val="FFFF00"/>
              </a:highlight>
              <a:latin typeface="Consolas" panose="020B0609020204030204" pitchFamily="49" charset="0"/>
              <a:ea typeface="+mj-ea"/>
              <a:cs typeface="+mj-cs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l-PL" dirty="0"/>
              <a:t>SYN segmenty obsahujú aj rôzne nastavenia spojenia</a:t>
            </a:r>
            <a:endParaRPr lang="sk-SK" b="1" dirty="0">
              <a:highlight>
                <a:srgbClr val="FFFF00"/>
              </a:highlight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127631BB-356D-EA0B-5313-240A78734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Nadviazanie spojenia</a:t>
            </a:r>
          </a:p>
        </p:txBody>
      </p:sp>
      <p:pic>
        <p:nvPicPr>
          <p:cNvPr id="4" name="Obrázok 3">
            <a:extLst>
              <a:ext uri="{FF2B5EF4-FFF2-40B4-BE49-F238E27FC236}">
                <a16:creationId xmlns:a16="http://schemas.microsoft.com/office/drawing/2014/main" id="{0ADF3677-CCDD-5AEE-D022-B98DC7CD8F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1187" y="1307691"/>
            <a:ext cx="6790813" cy="5093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466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731E0F-2BA4-9178-FC74-469ADAB1C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3913788-5D52-70F3-8EC9-BC86AAC1E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91" y="1458410"/>
            <a:ext cx="11690431" cy="5127585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=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socket.socket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socket.AF_INET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,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socket.SOCK_STREAM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  <a:ea typeface="+mj-ea"/>
              <a:cs typeface="+mj-cs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# 1. Nadviazanie spojenia - CONNECT (THREE-WAY HANDSHAKE)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sock.connect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(('127.0.0.1', 65432))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# 2. Pošleme správu serveru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message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= "Ahoj server! Toto je test spojenia."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sock.sendall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message.encode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('utf-8')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# 3. Prijmeme odpoveď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response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=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sock.recv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(1024)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if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response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print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f"Odpoveď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od servera: {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response.decode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('utf-8')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}")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# 4.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Shutdown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- oznámime serveru, že už nebudeme posielať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sock.shutdown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socket.SHUT_WR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# 6. Zatvorenie spojenia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sock.close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()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99B91A02-D19B-5D1D-297F-94333FD1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TCP </a:t>
            </a:r>
            <a:r>
              <a:rPr lang="sk-SK" dirty="0" err="1"/>
              <a:t>Client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748758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2A0B28-5A95-B201-BF0B-6CAAC8D8C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F1A08A7-228D-133B-0B0C-925FF4594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91" y="1458410"/>
            <a:ext cx="11690431" cy="5127585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=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socket.socket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socket.AF_INET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,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socket.SOCK_STREAM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# 1. Viažeme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socket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na IP + port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sock.bind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((HOST, PORT))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# 2. Začneme počúvať (5 je max čakajúcich 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klientov 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na pripojenie)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sock.listen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(5)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# 3. Prijatie spojenia (THREE WAY HANDSHAKE)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conn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,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addr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=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sock.accept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# Máme aktívne spojenie - 4. Server čaká na správu od klienta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data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=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conn.recv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(1024)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if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data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print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f"Prijaté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od klienta: {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data.decode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('utf-8')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}")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  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conn.sendall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data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) 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# 5. Poslanie správy naspať klientovi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  <a:ea typeface="+mj-ea"/>
              <a:cs typeface="+mj-cs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# 6. Zatvorenie serveru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conn.close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sock.close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()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0AA4540C-616E-C3C3-D7FF-93659968D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TCP Server</a:t>
            </a:r>
          </a:p>
        </p:txBody>
      </p:sp>
    </p:spTree>
    <p:extLst>
      <p:ext uri="{BB962C8B-B14F-4D97-AF65-F5344CB8AC3E}">
        <p14:creationId xmlns:p14="http://schemas.microsoft.com/office/powerpoint/2010/main" val="2252779190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í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13992</TotalTime>
  <Words>510</Words>
  <Application>Microsoft Office PowerPoint</Application>
  <PresentationFormat>Širokouhlá</PresentationFormat>
  <Paragraphs>75</Paragraphs>
  <Slides>10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Consolas</vt:lpstr>
      <vt:lpstr>Motív Office</vt:lpstr>
      <vt:lpstr>Objektovo orientované programovanie - pokročilí</vt:lpstr>
      <vt:lpstr>OPGP  Pokročilí 20 </vt:lpstr>
      <vt:lpstr>Transmission Control Protocol</vt:lpstr>
      <vt:lpstr>Transmission Control Protocol</vt:lpstr>
      <vt:lpstr>Transmission Control Protocol</vt:lpstr>
      <vt:lpstr>TCP – fázy spojenia</vt:lpstr>
      <vt:lpstr>Nadviazanie spojenia</vt:lpstr>
      <vt:lpstr>Nadviazanie spojenia</vt:lpstr>
      <vt:lpstr>TCP Client</vt:lpstr>
      <vt:lpstr>TCP Server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Lenka Wagnerová</dc:creator>
  <cp:lastModifiedBy>Wagner Jozef Ing., PhD.</cp:lastModifiedBy>
  <cp:revision>63</cp:revision>
  <dcterms:created xsi:type="dcterms:W3CDTF">2025-09-05T09:09:34Z</dcterms:created>
  <dcterms:modified xsi:type="dcterms:W3CDTF">2026-03-10T18:52:19Z</dcterms:modified>
</cp:coreProperties>
</file>