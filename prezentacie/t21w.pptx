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287" r:id="rId5"/>
    <p:sldId id="288" r:id="rId6"/>
    <p:sldId id="289" r:id="rId7"/>
    <p:sldId id="291" r:id="rId8"/>
    <p:sldId id="290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300" r:id="rId17"/>
    <p:sldId id="29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24. 2. 2026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  <a:r>
              <a:rPr lang="en-US" sz="4000" dirty="0"/>
              <a:t>1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Ovl</a:t>
            </a:r>
            <a:r>
              <a:rPr lang="sk-SK" dirty="0" err="1"/>
              <a:t>ádacie</a:t>
            </a:r>
            <a:r>
              <a:rPr lang="sk-SK" dirty="0"/>
              <a:t> prvky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Komponenty pre rozmiestňovanie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Graph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Z-</a:t>
            </a:r>
            <a:r>
              <a:rPr lang="sk-SK" dirty="0" err="1"/>
              <a:t>Order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Ovládacie prvky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Ovládacie prvky – </a:t>
            </a:r>
            <a:r>
              <a:rPr lang="sk-SK" b="1" dirty="0" err="1"/>
              <a:t>controls</a:t>
            </a:r>
            <a:r>
              <a:rPr lang="sk-SK" dirty="0"/>
              <a:t> – slúžia pre interakciu s používateľom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800" dirty="0"/>
              <a:t> - Textový popis bez interakcie.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800" dirty="0"/>
              <a:t> - </a:t>
            </a:r>
            <a:r>
              <a:rPr lang="sk-SK" sz="2800" dirty="0" err="1"/>
              <a:t>Klikateľné</a:t>
            </a:r>
            <a:r>
              <a:rPr lang="sk-SK" sz="2800" dirty="0"/>
              <a:t> tlačidlo.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CheckBox</a:t>
            </a:r>
            <a:r>
              <a:rPr lang="sk-SK" sz="2800" dirty="0"/>
              <a:t> - Prepínač (</a:t>
            </a:r>
            <a:r>
              <a:rPr lang="sk-SK" sz="2800" dirty="0" err="1"/>
              <a:t>true</a:t>
            </a:r>
            <a:r>
              <a:rPr lang="sk-SK" sz="2800" dirty="0"/>
              <a:t> / </a:t>
            </a:r>
            <a:r>
              <a:rPr lang="sk-SK" sz="2800" dirty="0" err="1"/>
              <a:t>false</a:t>
            </a:r>
            <a:r>
              <a:rPr lang="sk-SK" sz="2800" dirty="0"/>
              <a:t>).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RadioButton</a:t>
            </a:r>
            <a:r>
              <a:rPr lang="sk-SK" sz="2800" dirty="0"/>
              <a:t> - Prepínač v skupine (len jedna možnosť).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Slider</a:t>
            </a:r>
            <a:r>
              <a:rPr lang="sk-SK" sz="2800" dirty="0"/>
              <a:t> - </a:t>
            </a:r>
            <a:r>
              <a:rPr lang="sk-SK" sz="2800" dirty="0" err="1"/>
              <a:t>Posuvník</a:t>
            </a:r>
            <a:r>
              <a:rPr lang="sk-SK" sz="2800" dirty="0"/>
              <a:t> s hodnotou (horizontálny alebo vertikálny).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Separator</a:t>
            </a:r>
            <a:r>
              <a:rPr lang="sk-SK" sz="2800" dirty="0"/>
              <a:t> - Oddeľovač (horizontálny alebo vertikálny).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sz="2800" dirty="0"/>
              <a:t> - Jednoriadkové textové pole. (</a:t>
            </a:r>
            <a:r>
              <a:rPr lang="sk-SK" sz="2800" dirty="0" err="1"/>
              <a:t>TextArea</a:t>
            </a:r>
            <a:r>
              <a:rPr lang="sk-SK" sz="2800" dirty="0"/>
              <a:t> - Viacriadkové textové pole)</a:t>
            </a:r>
          </a:p>
          <a:p>
            <a:pPr lvl="1">
              <a:lnSpc>
                <a:spcPct val="10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PasswordField</a:t>
            </a:r>
            <a:r>
              <a:rPr lang="sk-SK" sz="2800" dirty="0"/>
              <a:t> - Textové pole so skrytým obsahom.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0B1ABB-36D3-F231-CF8C-9CDFE972F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365125"/>
            <a:ext cx="6967728" cy="5774418"/>
          </a:xfrm>
        </p:spPr>
        <p:txBody>
          <a:bodyPr anchor="t">
            <a:normAutofit/>
          </a:bodyPr>
          <a:lstStyle/>
          <a:p>
            <a:r>
              <a:rPr lang="sv-SE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Button button = </a:t>
            </a:r>
            <a:r>
              <a:rPr lang="sv-SE" sz="2000" b="1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new Button</a:t>
            </a:r>
            <a:r>
              <a:rPr lang="sv-SE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("Klikni ma");</a:t>
            </a:r>
            <a:b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</a:br>
            <a:b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sv-SE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button.</a:t>
            </a:r>
            <a:r>
              <a:rPr lang="sv-SE" sz="2000" b="1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setOnAction</a:t>
            </a:r>
            <a:r>
              <a:rPr lang="sv-SE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(event -&gt; {</a:t>
            </a:r>
            <a:b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sv-SE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 System.out.println("Button bol kliknutý");</a:t>
            </a:r>
            <a:br>
              <a:rPr lang="sk-SK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sv-SE" sz="2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});</a:t>
            </a:r>
            <a:endParaRPr lang="sk-SK" sz="20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1026" name="Picture 2" descr="Controls">
            <a:extLst>
              <a:ext uri="{FF2B5EF4-FFF2-40B4-BE49-F238E27FC236}">
                <a16:creationId xmlns:a16="http://schemas.microsoft.com/office/drawing/2014/main" id="{6E6BAF54-3829-978E-3E26-F0177F9B43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7" y="118062"/>
            <a:ext cx="4577048" cy="662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37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7D191-6A36-F520-C569-AD77AFC8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42D48-07B0-037C-D784-5B672C4C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Komponenty pre rozmiestňovanie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E47B2C-25F0-836B-D304-2ACCFC456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sz="2400" dirty="0"/>
              <a:t>Tieto tzv. </a:t>
            </a:r>
            <a:r>
              <a:rPr lang="sk-SK" sz="2400" b="1" dirty="0" err="1"/>
              <a:t>layout</a:t>
            </a:r>
            <a:r>
              <a:rPr lang="sk-SK" sz="2400" b="1" dirty="0"/>
              <a:t> komponenty</a:t>
            </a:r>
            <a:r>
              <a:rPr lang="sk-SK" sz="2400" dirty="0"/>
              <a:t>, alebo kontajnery – </a:t>
            </a:r>
            <a:r>
              <a:rPr lang="sk-SK" sz="2400" b="1" dirty="0" err="1"/>
              <a:t>containers</a:t>
            </a:r>
            <a:r>
              <a:rPr lang="sk-SK" sz="2400" dirty="0"/>
              <a:t> – nám definujú, ako budú jednotlivé prvky v okne rozložené.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dirty="0"/>
              <a:t> - rozmiestni prvky horizontálne v jednom riadku.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dirty="0"/>
              <a:t> - rozmiestni prvky </a:t>
            </a:r>
            <a:r>
              <a:rPr lang="en-US" dirty="0" err="1"/>
              <a:t>vertik</a:t>
            </a:r>
            <a:r>
              <a:rPr lang="sk-SK" dirty="0" err="1"/>
              <a:t>álne</a:t>
            </a:r>
            <a:r>
              <a:rPr lang="sk-SK" dirty="0"/>
              <a:t> v jednom stĺpci pod sebou.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BorderPane</a:t>
            </a:r>
            <a:r>
              <a:rPr lang="sk-SK" dirty="0"/>
              <a:t> - vytvára hlavičku a pätu okna a taktiež okraje.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GridPane</a:t>
            </a:r>
            <a:r>
              <a:rPr lang="sk-SK" dirty="0"/>
              <a:t> - Tabuľkové rozloženie (riadky a stĺpce).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StackPane</a:t>
            </a:r>
            <a:r>
              <a:rPr lang="sk-SK" dirty="0"/>
              <a:t> - Prvky sú nad sebou (vrstvy).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FlowPane</a:t>
            </a:r>
            <a:r>
              <a:rPr lang="sk-SK" dirty="0"/>
              <a:t> - Tokové rozloženie – zalamuje prvky podľa šírky.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AnchorPane</a:t>
            </a:r>
            <a:r>
              <a:rPr lang="sk-SK" dirty="0"/>
              <a:t> - Ukotvenie prvkov k okrajom kontajnera.</a:t>
            </a:r>
          </a:p>
          <a:p>
            <a:pPr lvl="1">
              <a:lnSpc>
                <a:spcPct val="100000"/>
              </a:lnSpc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TilePane</a:t>
            </a:r>
            <a:r>
              <a:rPr lang="sk-SK" dirty="0"/>
              <a:t> - Prvky majú rovnakú veľkosť v mriežke.</a:t>
            </a:r>
          </a:p>
          <a:p>
            <a:pPr lvl="1">
              <a:lnSpc>
                <a:spcPct val="100000"/>
              </a:lnSpc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Pane</a:t>
            </a:r>
            <a:r>
              <a:rPr lang="sk-SK" dirty="0"/>
              <a:t> - Bez automatického rozloženia, prvky majú presnú polohu a veľkosť</a:t>
            </a:r>
          </a:p>
        </p:txBody>
      </p:sp>
    </p:spTree>
    <p:extLst>
      <p:ext uri="{BB962C8B-B14F-4D97-AF65-F5344CB8AC3E}">
        <p14:creationId xmlns:p14="http://schemas.microsoft.com/office/powerpoint/2010/main" val="254210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3AF53-6847-D101-C5E6-E72F724F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8775D1-261F-F683-9337-E07BB6C7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HBox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A0F77C-37F4-9A4E-CFE7-55373F791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3"/>
            <a:ext cx="10853124" cy="49075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l-PL" dirty="0"/>
              <a:t>Tento kontajner rozmiestni prvky horizontálne v jednom riadku.</a:t>
            </a:r>
          </a:p>
          <a:p>
            <a:pPr marL="0" indent="0">
              <a:lnSpc>
                <a:spcPct val="100000"/>
              </a:lnSpc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(20)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hbox.setAlignment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Pos.CENTER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hbox.getChildren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Lorem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ipsum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Close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"));</a:t>
            </a:r>
          </a:p>
        </p:txBody>
      </p:sp>
      <p:pic>
        <p:nvPicPr>
          <p:cNvPr id="2050" name="Picture 2" descr="HBox">
            <a:extLst>
              <a:ext uri="{FF2B5EF4-FFF2-40B4-BE49-F238E27FC236}">
                <a16:creationId xmlns:a16="http://schemas.microsoft.com/office/drawing/2014/main" id="{7D242FBA-5CE5-5B95-FE7B-DF27AB04B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864" y="2212213"/>
            <a:ext cx="8671727" cy="225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48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DFA16-D8B0-50AE-C1BD-AB490C3E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A03068-96FC-3F5C-890A-E4C573AE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VBox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003C8C-1EE4-E992-329C-1932CDD3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3"/>
            <a:ext cx="5303520" cy="49075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VBox</a:t>
            </a:r>
            <a:r>
              <a:rPr lang="sk-SK" dirty="0"/>
              <a:t> je kontajner, ktorý rozmiestni prvky vertikálne pod sebou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4098" name="Picture 2" descr="VBox">
            <a:extLst>
              <a:ext uri="{FF2B5EF4-FFF2-40B4-BE49-F238E27FC236}">
                <a16:creationId xmlns:a16="http://schemas.microsoft.com/office/drawing/2014/main" id="{9E8A63EC-BF1D-34EB-5878-402F8B241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723" y="1027906"/>
            <a:ext cx="4957790" cy="52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629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2BA8D-B9F7-913E-14CF-7E6B77F62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D9E23A-0A95-E15A-D86D-B9D88F48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HBox</a:t>
            </a:r>
            <a:r>
              <a:rPr lang="sk-SK" dirty="0"/>
              <a:t> a </a:t>
            </a:r>
            <a:r>
              <a:rPr lang="sk-SK" dirty="0" err="1"/>
              <a:t>VBox</a:t>
            </a:r>
            <a:endParaRPr lang="sk-SK" dirty="0"/>
          </a:p>
        </p:txBody>
      </p:sp>
      <p:pic>
        <p:nvPicPr>
          <p:cNvPr id="3074" name="Picture 2" descr="Counter">
            <a:extLst>
              <a:ext uri="{FF2B5EF4-FFF2-40B4-BE49-F238E27FC236}">
                <a16:creationId xmlns:a16="http://schemas.microsoft.com/office/drawing/2014/main" id="{0C8BA7DE-F8F0-E2C4-1344-294BB0CCD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49" y="2248368"/>
            <a:ext cx="381457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VBox example">
            <a:extLst>
              <a:ext uri="{FF2B5EF4-FFF2-40B4-BE49-F238E27FC236}">
                <a16:creationId xmlns:a16="http://schemas.microsoft.com/office/drawing/2014/main" id="{5B08E69C-A027-0E65-268A-F9DCC4721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253" y="1370227"/>
            <a:ext cx="3722831" cy="440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71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9EC18-75E4-D220-D04C-6D2F1A81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4CFB3-4335-B9B0-4482-22803C6D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BorderPane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FCC1866-7802-630A-EAB4-1E9410D0F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3"/>
            <a:ext cx="10725912" cy="49075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Ide o zložitejší kontajner, ktorý vytvára priestor pre hlavičku a pätu okna a taktiež umožňuje vložiť prvky na ľavý a pravý okraj.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5122" name="Picture 2" descr="BorderPane">
            <a:extLst>
              <a:ext uri="{FF2B5EF4-FFF2-40B4-BE49-F238E27FC236}">
                <a16:creationId xmlns:a16="http://schemas.microsoft.com/office/drawing/2014/main" id="{617A83CB-1CB0-857F-5298-AF329920C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915" y="2660903"/>
            <a:ext cx="7390169" cy="370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66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F2513-521F-06CB-4BE8-9DC6F8DA9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17632C-FD0F-D98D-7369-12A6D0BAB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BorderPane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7DA28A7-F897-7115-F2B2-EF87491F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3"/>
            <a:ext cx="10725912" cy="490756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menu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("Súbor"),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("Upraviť"),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("Pomoc")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BorderPane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BorderPane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setTop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(menu); // horná časť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setBottom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("BOTTOM - pätička")); // spodná časť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setLeft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("LEFT")); // ľavá časť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setRight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("RIGHT")); // pravá časť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setCenter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("CENTER - hlavný obsah")); // stred</a:t>
            </a:r>
          </a:p>
        </p:txBody>
      </p:sp>
    </p:spTree>
    <p:extLst>
      <p:ext uri="{BB962C8B-B14F-4D97-AF65-F5344CB8AC3E}">
        <p14:creationId xmlns:p14="http://schemas.microsoft.com/office/powerpoint/2010/main" val="1658026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09990-31D1-D658-0278-E55F7B23A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7E1A74-69EA-6C08-7E00-E4F17CC5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Komponenty pre rozmiestňovanie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FBAA3A98-46BA-B1D0-F4E3-FB19384EC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6146" name="Picture 2" descr="Panes">
            <a:extLst>
              <a:ext uri="{FF2B5EF4-FFF2-40B4-BE49-F238E27FC236}">
                <a16:creationId xmlns:a16="http://schemas.microsoft.com/office/drawing/2014/main" id="{9E1DF317-A560-E250-6091-0A6EBBFED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556" y="1362456"/>
            <a:ext cx="8476888" cy="567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39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2E604-F602-B9D0-9D31-FC17F96C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FC75D0-B1D1-0CEB-FE5A-F197FD5A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Graph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F94C95-645D-FE25-7D7B-08D9837CD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3"/>
            <a:ext cx="9665208" cy="49075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Komponenty sa vkladajú do scény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dirty="0"/>
              <a:t>), ktorá sa pripojí na okno aplikácie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Stage</a:t>
            </a:r>
            <a:r>
              <a:rPr lang="sk-SK" dirty="0"/>
              <a:t>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Z komponentov sa vytvorí stromová štruktúra s jedným koreňovým komponentom.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Táto stromová štruktúra sa volá </a:t>
            </a:r>
            <a:r>
              <a:rPr lang="sk-SK" b="1" dirty="0" err="1"/>
              <a:t>scene</a:t>
            </a:r>
            <a:r>
              <a:rPr lang="sk-SK" b="1" dirty="0"/>
              <a:t> </a:t>
            </a:r>
            <a:r>
              <a:rPr lang="sk-SK" b="1" dirty="0" err="1"/>
              <a:t>graph</a:t>
            </a:r>
            <a:r>
              <a:rPr lang="sk-SK" dirty="0"/>
              <a:t>.</a:t>
            </a:r>
          </a:p>
          <a:p>
            <a:pPr>
              <a:lnSpc>
                <a:spcPct val="100000"/>
              </a:lnSpc>
            </a:pPr>
            <a:r>
              <a:rPr lang="sk-SK" dirty="0"/>
              <a:t>Do scény sa potom </a:t>
            </a:r>
            <a:r>
              <a:rPr lang="sk-SK" i="1" dirty="0"/>
              <a:t>priamo vloží iba koreňový komponent</a:t>
            </a:r>
            <a:r>
              <a:rPr lang="sk-SK" dirty="0"/>
              <a:t>. </a:t>
            </a:r>
          </a:p>
          <a:p>
            <a:pPr>
              <a:lnSpc>
                <a:spcPct val="100000"/>
              </a:lnSpc>
            </a:pPr>
            <a:r>
              <a:rPr lang="sk-SK" dirty="0"/>
              <a:t>Ostatné komponenty sú priamo alebo nepriamo vnorené v tomto koreňovom uzle.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89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7DCF1-04C1-E9D6-E440-ADDF06C4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50F431-E4F4-94F6-1529-B103643B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Graph</a:t>
            </a:r>
            <a:endParaRPr lang="sk-SK" dirty="0"/>
          </a:p>
        </p:txBody>
      </p:sp>
      <p:pic>
        <p:nvPicPr>
          <p:cNvPr id="7" name="Zástupný objekt pre obsah 6" descr="Obrázok, na ktorom je text, diagram, rad, písmo&#10;&#10;Obsah vygenerovaný pomocou AI môže byť nesprávny.">
            <a:extLst>
              <a:ext uri="{FF2B5EF4-FFF2-40B4-BE49-F238E27FC236}">
                <a16:creationId xmlns:a16="http://schemas.microsoft.com/office/drawing/2014/main" id="{6BECA53F-BCAB-AE58-79DE-EDB90328C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213" y="2562329"/>
            <a:ext cx="8418404" cy="3930545"/>
          </a:xfrm>
          <a:prstGeom prst="rect">
            <a:avLst/>
          </a:prstGeom>
        </p:spPr>
      </p:pic>
      <p:pic>
        <p:nvPicPr>
          <p:cNvPr id="7170" name="Picture 2" descr="Counter scene graph">
            <a:extLst>
              <a:ext uri="{FF2B5EF4-FFF2-40B4-BE49-F238E27FC236}">
                <a16:creationId xmlns:a16="http://schemas.microsoft.com/office/drawing/2014/main" id="{E5FCDBBA-4BFB-19FB-DF5E-874680BE5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561" y="468226"/>
            <a:ext cx="4815759" cy="244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701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A1113-FD12-FB49-D882-C47E2280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F9CE496-AD12-BD6B-BED2-B8395AF4B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" y="82296"/>
            <a:ext cx="11548872" cy="670255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Hlavný kontajner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root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(10);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Horný riadok s počítadlom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counterRow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(20);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("Počítadlo:");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counterField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("0");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btnPlus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("Plus 1");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counterRow.getChildren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counterField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btnPlus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Oddelovač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Separator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separator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Separator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Spodný riadok - tlačidlo Zavrieť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bottomRow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btnClose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("Zavrieť program");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bottomRow.getChildren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btnClose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Všetko dáme dokopy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root.getChildren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addAll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counterRow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separator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bottomRow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root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380, 220)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561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838E3-2489-94A0-EAD8-02E81195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71C2D3-C351-BE8F-0368-9AF58148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Z-</a:t>
            </a:r>
            <a:r>
              <a:rPr lang="sk-SK" dirty="0" err="1"/>
              <a:t>Order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BD7EFC4-C31B-34C7-CD27-C16FAF147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585313"/>
            <a:ext cx="11265408" cy="49075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Z-</a:t>
            </a:r>
            <a:r>
              <a:rPr lang="sk-SK" dirty="0" err="1"/>
              <a:t>ordering</a:t>
            </a:r>
            <a:r>
              <a:rPr lang="sk-SK" dirty="0"/>
              <a:t> znamená </a:t>
            </a:r>
            <a:r>
              <a:rPr lang="sk-SK" b="1" dirty="0"/>
              <a:t>poradie vykresľovania grafických prvkov </a:t>
            </a:r>
            <a:r>
              <a:rPr lang="sk-SK" dirty="0"/>
              <a:t>- čo je navrchu a čo naspodku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Štandardne používame 2 osy, X a Y. Pozícia 0,0 je v ľavom hornom rohu.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Prekrytie je </a:t>
            </a:r>
            <a:r>
              <a:rPr lang="sk-SK" dirty="0" err="1"/>
              <a:t>určene</a:t>
            </a:r>
            <a:r>
              <a:rPr lang="sk-SK" dirty="0"/>
              <a:t> treťou osou, Z, ktorá ide kolmo od obrazovky.</a:t>
            </a:r>
          </a:p>
        </p:txBody>
      </p:sp>
    </p:spTree>
    <p:extLst>
      <p:ext uri="{BB962C8B-B14F-4D97-AF65-F5344CB8AC3E}">
        <p14:creationId xmlns:p14="http://schemas.microsoft.com/office/powerpoint/2010/main" val="2216726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66631-AF6A-3418-F573-BFCF601A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A365DC-F266-92F0-E5FA-CFF452E6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Z-</a:t>
            </a:r>
            <a:r>
              <a:rPr lang="sk-SK" dirty="0" err="1"/>
              <a:t>Order</a:t>
            </a:r>
            <a:endParaRPr lang="sk-SK" dirty="0"/>
          </a:p>
        </p:txBody>
      </p:sp>
      <p:pic>
        <p:nvPicPr>
          <p:cNvPr id="7" name="Zástupný objekt pre obsah 6" descr="Obrázok, na ktorom je text, diagram, rad, dizajn&#10;&#10;Obsah vygenerovaný pomocou AI môže byť nesprávny.">
            <a:extLst>
              <a:ext uri="{FF2B5EF4-FFF2-40B4-BE49-F238E27FC236}">
                <a16:creationId xmlns:a16="http://schemas.microsoft.com/office/drawing/2014/main" id="{63406312-A348-8EE8-1F98-88F17036F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857" y="3330133"/>
            <a:ext cx="7992590" cy="3162741"/>
          </a:xfrm>
          <a:prstGeom prst="rect">
            <a:avLst/>
          </a:prstGeom>
        </p:spPr>
      </p:pic>
      <p:pic>
        <p:nvPicPr>
          <p:cNvPr id="8194" name="Picture 2" descr="Z order example">
            <a:extLst>
              <a:ext uri="{FF2B5EF4-FFF2-40B4-BE49-F238E27FC236}">
                <a16:creationId xmlns:a16="http://schemas.microsoft.com/office/drawing/2014/main" id="{92E42321-365C-0B1E-A365-87A138FB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218" y="365125"/>
            <a:ext cx="4657497" cy="422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113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3D6C3-0186-C8BF-E43B-0B97699D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091E15-A52B-598C-1A34-53457FB7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Z-</a:t>
            </a:r>
            <a:r>
              <a:rPr lang="sk-SK" dirty="0" err="1"/>
              <a:t>Order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17C9F1-AA69-913A-3A4F-EE78D5FB9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585313"/>
            <a:ext cx="11265408" cy="490756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/>
              <a:t>JavaFX</a:t>
            </a:r>
            <a:r>
              <a:rPr lang="sk-SK" dirty="0"/>
              <a:t> určuje Z-</a:t>
            </a:r>
            <a:r>
              <a:rPr lang="sk-SK" dirty="0" err="1"/>
              <a:t>order</a:t>
            </a:r>
            <a:r>
              <a:rPr lang="sk-SK" dirty="0"/>
              <a:t> poradie na základe </a:t>
            </a:r>
            <a:r>
              <a:rPr lang="sk-SK" b="1" dirty="0"/>
              <a:t>pozície prvku v strome uzlov </a:t>
            </a:r>
            <a:r>
              <a:rPr lang="sk-SK" dirty="0"/>
              <a:t>-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graphu</a:t>
            </a:r>
            <a:endParaRPr lang="sk-SK" dirty="0"/>
          </a:p>
          <a:p>
            <a:pPr lvl="1">
              <a:lnSpc>
                <a:spcPct val="100000"/>
              </a:lnSpc>
            </a:pPr>
            <a:r>
              <a:rPr lang="sk-SK" sz="2800" dirty="0"/>
              <a:t>Ako prvý sa vykresľuje koreňový uzol a potom sa vykresľujú jeho deti. 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Deti sa vykresľujú v poradí, v akom sú do kontajnera umiestnené.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Teda </a:t>
            </a:r>
            <a:r>
              <a:rPr lang="sk-SK" b="1" dirty="0"/>
              <a:t>posledný komponent bude úplne navrchu</a:t>
            </a:r>
            <a:r>
              <a:rPr lang="sk-SK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Zmenu poradia vieme vykonať premiestnením komponentov v rámci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graphu</a:t>
            </a:r>
            <a:r>
              <a:rPr lang="sk-SK" dirty="0"/>
              <a:t>, či už na iné miesto v strome alebo na inú pozíciu v rámci zoznamu detských komponentov</a:t>
            </a:r>
          </a:p>
        </p:txBody>
      </p:sp>
    </p:spTree>
    <p:extLst>
      <p:ext uri="{BB962C8B-B14F-4D97-AF65-F5344CB8AC3E}">
        <p14:creationId xmlns:p14="http://schemas.microsoft.com/office/powerpoint/2010/main" val="178496956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27770</TotalTime>
  <Words>754</Words>
  <Application>Microsoft Office PowerPoint</Application>
  <PresentationFormat>Širokouhlá</PresentationFormat>
  <Paragraphs>102</Paragraphs>
  <Slides>17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21</vt:lpstr>
      <vt:lpstr>Ovládacie prvky</vt:lpstr>
      <vt:lpstr>Button button = new Button("Klikni ma");  button.setOnAction(event -&gt; {   System.out.println("Button bol kliknutý"); });</vt:lpstr>
      <vt:lpstr>Komponenty pre rozmiestňovanie</vt:lpstr>
      <vt:lpstr>HBox</vt:lpstr>
      <vt:lpstr>VBox</vt:lpstr>
      <vt:lpstr>HBox a VBox</vt:lpstr>
      <vt:lpstr>BorderPane</vt:lpstr>
      <vt:lpstr>BorderPane</vt:lpstr>
      <vt:lpstr>Komponenty pre rozmiestňovanie</vt:lpstr>
      <vt:lpstr>Scene Graph</vt:lpstr>
      <vt:lpstr>Scene Graph</vt:lpstr>
      <vt:lpstr>Prezentácia programu PowerPoint</vt:lpstr>
      <vt:lpstr>Z-Order</vt:lpstr>
      <vt:lpstr>Z-Order</vt:lpstr>
      <vt:lpstr>Z-Order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80</cp:revision>
  <dcterms:created xsi:type="dcterms:W3CDTF">2025-09-05T09:09:34Z</dcterms:created>
  <dcterms:modified xsi:type="dcterms:W3CDTF">2026-03-09T07:58:34Z</dcterms:modified>
</cp:coreProperties>
</file>