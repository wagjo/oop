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6548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9433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0347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0434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6343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8432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65988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0116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2912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510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304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9022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www.jetbrains.com/idea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mermaid.liv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88ED00-8EB1-B24E-FB3F-A5FB48C42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116"/>
            <a:ext cx="10515600" cy="5714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4000" dirty="0">
                <a:latin typeface="+mj-lt"/>
              </a:rPr>
              <a:t>Základné pokyny:</a:t>
            </a:r>
          </a:p>
          <a:p>
            <a:pPr lvl="1"/>
            <a:r>
              <a:rPr lang="sk-SK" sz="2800">
                <a:latin typeface="+mj-lt"/>
              </a:rPr>
              <a:t>Dodržiavať </a:t>
            </a:r>
            <a:r>
              <a:rPr lang="sk-SK" sz="2800" dirty="0">
                <a:latin typeface="+mj-lt"/>
              </a:rPr>
              <a:t>školský poriadok</a:t>
            </a:r>
          </a:p>
          <a:p>
            <a:pPr lvl="1"/>
            <a:r>
              <a:rPr lang="sk-SK" sz="2800" dirty="0">
                <a:latin typeface="+mj-lt"/>
              </a:rPr>
              <a:t>Pripravený na hodinu, zošit a notebook</a:t>
            </a:r>
          </a:p>
          <a:p>
            <a:pPr lvl="1"/>
            <a:r>
              <a:rPr lang="sk-SK" sz="2800" dirty="0">
                <a:latin typeface="+mj-lt"/>
              </a:rPr>
              <a:t>Ústne, praktické a písomné skúšania</a:t>
            </a:r>
          </a:p>
          <a:p>
            <a:pPr lvl="1"/>
            <a:r>
              <a:rPr lang="sk-SK" sz="2800" dirty="0">
                <a:latin typeface="+mj-lt"/>
              </a:rPr>
              <a:t>Ospravedlnenia pred začiatkom hodiny</a:t>
            </a:r>
          </a:p>
          <a:p>
            <a:endParaRPr lang="sk-SK" dirty="0">
              <a:latin typeface="+mj-lt"/>
            </a:endParaRPr>
          </a:p>
          <a:p>
            <a:pPr marL="0" indent="0">
              <a:buNone/>
            </a:pPr>
            <a:r>
              <a:rPr lang="sk-SK" sz="4000" dirty="0">
                <a:latin typeface="+mj-lt"/>
              </a:rPr>
              <a:t>Legenda:</a:t>
            </a:r>
          </a:p>
          <a:p>
            <a:pPr lvl="1"/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Žltý text – kód</a:t>
            </a:r>
          </a:p>
          <a:p>
            <a:pPr lvl="1"/>
            <a:r>
              <a:rPr lang="sk-SK" sz="2800" dirty="0">
                <a:solidFill>
                  <a:srgbClr val="FF0000"/>
                </a:solidFill>
              </a:rPr>
              <a:t>Červený text – poznámka do zošita</a:t>
            </a: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Modré pozadie – poznámka do zošita</a:t>
            </a:r>
          </a:p>
        </p:txBody>
      </p:sp>
    </p:spTree>
    <p:extLst>
      <p:ext uri="{BB962C8B-B14F-4D97-AF65-F5344CB8AC3E}">
        <p14:creationId xmlns:p14="http://schemas.microsoft.com/office/powerpoint/2010/main" val="137461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  </a:t>
            </a:r>
            <a:br>
              <a:rPr lang="sk-SK" sz="4000" dirty="0"/>
            </a:br>
            <a:r>
              <a:rPr lang="sk-SK" sz="4000" dirty="0"/>
              <a:t>Cvičenie 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Inštalácia JDK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Inštalácia IDE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Vývojový diagram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Diagramy ako kód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Pseudokód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highlight>
                  <a:srgbClr val="00FFFF"/>
                </a:highlight>
              </a:rPr>
              <a:t>Java</a:t>
            </a:r>
            <a:endParaRPr lang="sk-SK" sz="4000" b="1" dirty="0"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734"/>
            <a:ext cx="10970342" cy="4217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000" dirty="0">
                <a:solidFill>
                  <a:srgbClr val="FF0000"/>
                </a:solidFill>
                <a:highlight>
                  <a:srgbClr val="00FFFF"/>
                </a:highlight>
              </a:rPr>
              <a:t>JRE - </a:t>
            </a:r>
            <a:r>
              <a:rPr lang="fr-FR" sz="3000" b="1" dirty="0">
                <a:solidFill>
                  <a:srgbClr val="FF0000"/>
                </a:solidFill>
                <a:highlight>
                  <a:srgbClr val="00FFFF"/>
                </a:highlight>
              </a:rPr>
              <a:t>Java Runtime Environment </a:t>
            </a:r>
            <a:r>
              <a:rPr lang="fr-FR" sz="3000" dirty="0">
                <a:solidFill>
                  <a:srgbClr val="FF0000"/>
                </a:solidFill>
                <a:highlight>
                  <a:srgbClr val="00FFFF"/>
                </a:highlight>
              </a:rPr>
              <a:t>- na spúšťanie Java programov</a:t>
            </a:r>
          </a:p>
          <a:p>
            <a:pPr marL="0" indent="0">
              <a:buNone/>
            </a:pPr>
            <a:r>
              <a:rPr lang="fr-FR" sz="3000" dirty="0">
                <a:solidFill>
                  <a:srgbClr val="FF0000"/>
                </a:solidFill>
                <a:highlight>
                  <a:srgbClr val="00FFFF"/>
                </a:highlight>
              </a:rPr>
              <a:t>JDK - </a:t>
            </a:r>
            <a:r>
              <a:rPr lang="fr-FR" sz="3000" b="1" dirty="0">
                <a:solidFill>
                  <a:srgbClr val="FF0000"/>
                </a:solidFill>
                <a:highlight>
                  <a:srgbClr val="00FFFF"/>
                </a:highlight>
              </a:rPr>
              <a:t>Java Development Kit </a:t>
            </a:r>
            <a:r>
              <a:rPr lang="fr-FR" sz="3000" dirty="0">
                <a:solidFill>
                  <a:srgbClr val="FF0000"/>
                </a:solidFill>
                <a:highlight>
                  <a:srgbClr val="00FFFF"/>
                </a:highlight>
              </a:rPr>
              <a:t>- na programovanie</a:t>
            </a:r>
          </a:p>
          <a:p>
            <a:pPr marL="0" indent="0">
              <a:buNone/>
            </a:pPr>
            <a:endParaRPr lang="fr-FR" sz="30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fr-FR" sz="3000" dirty="0">
                <a:solidFill>
                  <a:srgbClr val="FF0000"/>
                </a:solidFill>
                <a:highlight>
                  <a:srgbClr val="00FFFF"/>
                </a:highlight>
              </a:rPr>
              <a:t>nová verzia každých 6m, stabilné sú 17, 21 a 25</a:t>
            </a:r>
          </a:p>
          <a:p>
            <a:pPr marL="0" indent="0">
              <a:buNone/>
            </a:pPr>
            <a:r>
              <a:rPr lang="fr-FR" sz="30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java --version</a:t>
            </a:r>
            <a:endParaRPr lang="sk-SK" sz="26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FBD4D2E2-AB48-3A75-D1E3-1F682472E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3117" y="2919208"/>
            <a:ext cx="1897702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7B636F-49D8-D2C4-4307-6CC245DE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Príprava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314C82-F9FF-4E38-48A5-676AC3CC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3800" y="1845734"/>
            <a:ext cx="6883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2800" dirty="0"/>
              <a:t>IDE </a:t>
            </a:r>
            <a:r>
              <a:rPr lang="sk-SK" sz="2800" i="1" dirty="0"/>
              <a:t>(</a:t>
            </a:r>
            <a:r>
              <a:rPr lang="sk-SK" sz="2800" i="1" dirty="0" err="1"/>
              <a:t>Integrated</a:t>
            </a:r>
            <a:r>
              <a:rPr lang="sk-SK" sz="2800" i="1" dirty="0"/>
              <a:t> </a:t>
            </a:r>
            <a:r>
              <a:rPr lang="sk-SK" sz="2800" i="1" dirty="0" err="1"/>
              <a:t>Development</a:t>
            </a:r>
            <a:r>
              <a:rPr lang="sk-SK" sz="2800" i="1" dirty="0"/>
              <a:t> </a:t>
            </a:r>
            <a:r>
              <a:rPr lang="sk-SK" sz="2800" i="1" dirty="0" err="1"/>
              <a:t>Environment</a:t>
            </a:r>
            <a:r>
              <a:rPr lang="sk-SK" sz="2800" i="1" dirty="0"/>
              <a:t>)</a:t>
            </a:r>
            <a:r>
              <a:rPr lang="sk-SK" sz="2800" dirty="0"/>
              <a:t>:</a:t>
            </a:r>
          </a:p>
          <a:p>
            <a:pPr lvl="1"/>
            <a:r>
              <a:rPr lang="sk-SK" sz="2800" dirty="0"/>
              <a:t>vývojové prostredie</a:t>
            </a:r>
          </a:p>
          <a:p>
            <a:pPr lvl="1"/>
            <a:r>
              <a:rPr lang="sk-SK" sz="2800" dirty="0"/>
              <a:t>uľahčuje programovanie</a:t>
            </a:r>
          </a:p>
          <a:p>
            <a:pPr lvl="1"/>
            <a:r>
              <a:rPr lang="sk-SK" sz="2800" b="1" dirty="0" err="1"/>
              <a:t>IntelliJ</a:t>
            </a:r>
            <a:r>
              <a:rPr lang="sk-SK" sz="2800" b="1" dirty="0"/>
              <a:t> IDEA</a:t>
            </a:r>
            <a:br>
              <a:rPr lang="sk-SK" sz="2800" b="1" dirty="0"/>
            </a:br>
            <a:endParaRPr lang="sk-SK" sz="2800" b="1" dirty="0"/>
          </a:p>
          <a:p>
            <a:pPr marL="0" indent="0">
              <a:buNone/>
            </a:pPr>
            <a:r>
              <a:rPr lang="sk-SK" sz="2800" dirty="0">
                <a:hlinkClick r:id="rId2"/>
              </a:rPr>
              <a:t>https://www.jetbrains.com/idea/</a:t>
            </a:r>
            <a:r>
              <a:rPr lang="sk-SK" sz="2800" dirty="0"/>
              <a:t> </a:t>
            </a:r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40D4C8E0-A393-AE62-758B-299BA76CCB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1325" y="2491201"/>
            <a:ext cx="2321247" cy="232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6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F8DDDD-602A-49D6-516A-F20B2D6C9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2764" y="634947"/>
            <a:ext cx="4335237" cy="1450757"/>
          </a:xfrm>
        </p:spPr>
        <p:txBody>
          <a:bodyPr>
            <a:normAutofit/>
          </a:bodyPr>
          <a:lstStyle/>
          <a:p>
            <a:r>
              <a:rPr lang="sk-SK" sz="4000" b="1" dirty="0">
                <a:highlight>
                  <a:srgbClr val="00FFFF"/>
                </a:highlight>
              </a:rPr>
              <a:t>Úvod do diagramov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917812E-278F-AFE9-9096-48501F591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764" y="2198914"/>
            <a:ext cx="5102152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Vývojový diagram znázorňuje kroky procesu alebo algoritmu. </a:t>
            </a:r>
          </a:p>
          <a:p>
            <a:pPr marL="0" indent="0">
              <a:buNone/>
            </a:pPr>
            <a:r>
              <a:rPr lang="sk-SK" sz="2800" dirty="0"/>
              <a:t>V praxi sa používa v zjednodušenej forme. Dopĺňa iné typy diagramov.</a:t>
            </a:r>
          </a:p>
          <a:p>
            <a:endParaRPr lang="sk-SK" dirty="0"/>
          </a:p>
        </p:txBody>
      </p:sp>
      <p:pic>
        <p:nvPicPr>
          <p:cNvPr id="7" name="Obrázok 6" descr="Obrázok, na ktorom je diagram, text, plán, rad&#10;&#10;Obsah vygenerovaný pomocou AI môže byť nesprávny.">
            <a:extLst>
              <a:ext uri="{FF2B5EF4-FFF2-40B4-BE49-F238E27FC236}">
                <a16:creationId xmlns:a16="http://schemas.microsoft.com/office/drawing/2014/main" id="{BA289351-BF4C-46CA-0123-41BB3D27C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63"/>
          <a:stretch>
            <a:fillRect/>
          </a:stretch>
        </p:blipFill>
        <p:spPr>
          <a:xfrm>
            <a:off x="2007280" y="766909"/>
            <a:ext cx="4088720" cy="49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1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E1AC7644-4857-7889-92EC-DD7E3E4BF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501" y="131838"/>
            <a:ext cx="8285729" cy="667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3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DA4B8403-0096-2FD4-42D8-F86B5B94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29" y="52416"/>
            <a:ext cx="8001000" cy="678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74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7ACFD1-9ADA-CBAF-F800-5D5950EC3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b="1" dirty="0" err="1">
                <a:highlight>
                  <a:srgbClr val="00FFFF"/>
                </a:highlight>
              </a:rPr>
              <a:t>Pseudokód</a:t>
            </a:r>
            <a:endParaRPr lang="sk-SK" sz="4000" b="1" dirty="0"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23853C-4467-FEE0-62F1-68A68DD6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825625"/>
            <a:ext cx="9341260" cy="482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Pseudokód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je zápis algoritmu v prirodzenom jazyku, bez pravidiel. Pomáha </a:t>
            </a: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</a:rPr>
              <a:t>v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ysvetliť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algoritmus a plánovať.</a:t>
            </a:r>
          </a:p>
          <a:p>
            <a:pPr marL="0" indent="0">
              <a:buNone/>
            </a:pPr>
            <a:r>
              <a:rPr lang="sk-SK" sz="2800" dirty="0"/>
              <a:t>Príklad </a:t>
            </a:r>
            <a:r>
              <a:rPr lang="sk-SK" sz="2800" dirty="0" err="1"/>
              <a:t>pseudokódu</a:t>
            </a:r>
            <a:r>
              <a:rPr lang="sk-SK" sz="2800" dirty="0"/>
              <a:t> pre súčet dvoch čísel:</a:t>
            </a:r>
          </a:p>
          <a:p>
            <a:pPr marL="457200" lvl="1" indent="0">
              <a:buNone/>
            </a:pPr>
            <a:endParaRPr lang="sk-SK" sz="10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Začať</a:t>
            </a:r>
          </a:p>
          <a:p>
            <a:pPr marL="457200" lvl="1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Prečítať číslo1</a:t>
            </a:r>
          </a:p>
          <a:p>
            <a:pPr marL="457200" lvl="1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Prečítať číslo2</a:t>
            </a:r>
          </a:p>
          <a:p>
            <a:pPr marL="457200" lvl="1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súčet = číslo1 + číslo2</a:t>
            </a:r>
          </a:p>
          <a:p>
            <a:pPr marL="457200" lvl="1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Vypísať súčet</a:t>
            </a:r>
          </a:p>
          <a:p>
            <a:pPr marL="457200" lvl="1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Koniec</a:t>
            </a:r>
          </a:p>
        </p:txBody>
      </p:sp>
    </p:spTree>
    <p:extLst>
      <p:ext uri="{BB962C8B-B14F-4D97-AF65-F5344CB8AC3E}">
        <p14:creationId xmlns:p14="http://schemas.microsoft.com/office/powerpoint/2010/main" val="270763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FC83381-CAF0-FCB2-EBA8-B78020AF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74" y="2044044"/>
            <a:ext cx="3484552" cy="1672550"/>
          </a:xfrm>
        </p:spPr>
        <p:txBody>
          <a:bodyPr>
            <a:normAutofit/>
          </a:bodyPr>
          <a:lstStyle/>
          <a:p>
            <a:pPr algn="r"/>
            <a:r>
              <a:rPr lang="sk-SK" sz="4000" b="1" dirty="0">
                <a:highlight>
                  <a:srgbClr val="00FFFF"/>
                </a:highlight>
              </a:rPr>
              <a:t>Diagramy ako kód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C65C32-1305-CFFD-8C8E-396D551DD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339" y="1338729"/>
            <a:ext cx="5703491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Diagramy vo forme textu, vkladáme ich do dokumentácie alebo zdrojového kódu.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http://mermaid.live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3055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868FFB-94A8-6B2E-B21C-40560B1F3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478971"/>
            <a:ext cx="7886700" cy="56979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k-SK" sz="2800" dirty="0"/>
              <a:t>Príklad vývojového diagramu v jazyku </a:t>
            </a:r>
            <a:r>
              <a:rPr lang="sk-SK" sz="2800" dirty="0" err="1"/>
              <a:t>Mermaid</a:t>
            </a:r>
            <a:r>
              <a:rPr lang="sk-SK" sz="2800" dirty="0"/>
              <a:t>:</a:t>
            </a:r>
          </a:p>
          <a:p>
            <a:pPr marL="0" indent="0">
              <a:buNone/>
            </a:pPr>
            <a:endParaRPr lang="sk-SK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 err="1">
                <a:latin typeface="Consolas" panose="020B0609020204030204" pitchFamily="49" charset="0"/>
              </a:rPr>
              <a:t>flowchart</a:t>
            </a:r>
            <a:r>
              <a:rPr lang="sk-SK" dirty="0">
                <a:latin typeface="Consolas" panose="020B0609020204030204" pitchFamily="49" charset="0"/>
              </a:rPr>
              <a:t> TD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</a:t>
            </a:r>
            <a:r>
              <a:rPr lang="sk-SK" dirty="0" err="1">
                <a:latin typeface="Consolas" panose="020B0609020204030204" pitchFamily="49" charset="0"/>
              </a:rPr>
              <a:t>Start</a:t>
            </a:r>
            <a:r>
              <a:rPr lang="sk-SK" dirty="0">
                <a:latin typeface="Consolas" panose="020B0609020204030204" pitchFamily="49" charset="0"/>
              </a:rPr>
              <a:t>([Štart])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Input1[/Prečítať číslo1/]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Input2[/Prečítať číslo2/]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</a:t>
            </a:r>
            <a:r>
              <a:rPr lang="sk-SK" dirty="0" err="1">
                <a:latin typeface="Consolas" panose="020B0609020204030204" pitchFamily="49" charset="0"/>
              </a:rPr>
              <a:t>Sum</a:t>
            </a:r>
            <a:r>
              <a:rPr lang="sk-SK" dirty="0">
                <a:latin typeface="Consolas" panose="020B0609020204030204" pitchFamily="49" charset="0"/>
              </a:rPr>
              <a:t>[súčet = číslo1 + číslo2]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Output[/Vypísať súčet/]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End([Koniec])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</a:t>
            </a:r>
            <a:r>
              <a:rPr lang="sk-SK" dirty="0" err="1">
                <a:latin typeface="Consolas" panose="020B0609020204030204" pitchFamily="49" charset="0"/>
              </a:rPr>
              <a:t>Start</a:t>
            </a:r>
            <a:r>
              <a:rPr lang="sk-SK" dirty="0">
                <a:latin typeface="Consolas" panose="020B0609020204030204" pitchFamily="49" charset="0"/>
              </a:rPr>
              <a:t> --&gt; Input1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Input1 --&gt; Input2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Input2 --&gt; </a:t>
            </a:r>
            <a:r>
              <a:rPr lang="sk-SK" dirty="0" err="1">
                <a:latin typeface="Consolas" panose="020B0609020204030204" pitchFamily="49" charset="0"/>
              </a:rPr>
              <a:t>Sum</a:t>
            </a:r>
            <a:endParaRPr lang="sk-SK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</a:t>
            </a:r>
            <a:r>
              <a:rPr lang="sk-SK" dirty="0" err="1">
                <a:latin typeface="Consolas" panose="020B0609020204030204" pitchFamily="49" charset="0"/>
              </a:rPr>
              <a:t>Sum</a:t>
            </a:r>
            <a:r>
              <a:rPr lang="sk-SK" dirty="0">
                <a:latin typeface="Consolas" panose="020B0609020204030204" pitchFamily="49" charset="0"/>
              </a:rPr>
              <a:t> --&gt; Output</a:t>
            </a:r>
          </a:p>
          <a:p>
            <a:pPr marL="0" indent="0">
              <a:buNone/>
            </a:pPr>
            <a:r>
              <a:rPr lang="sk-SK" dirty="0">
                <a:latin typeface="Consolas" panose="020B0609020204030204" pitchFamily="49" charset="0"/>
              </a:rPr>
              <a:t>    Output --&gt; End</a:t>
            </a:r>
          </a:p>
        </p:txBody>
      </p:sp>
    </p:spTree>
    <p:extLst>
      <p:ext uri="{BB962C8B-B14F-4D97-AF65-F5344CB8AC3E}">
        <p14:creationId xmlns:p14="http://schemas.microsoft.com/office/powerpoint/2010/main" val="1464798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4782F-AC63-FC25-8304-A3E19CFA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8539CCF-AB13-831F-66A9-7CB08185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90"/>
            <a:ext cx="8944897" cy="1084798"/>
          </a:xfrm>
        </p:spPr>
        <p:txBody>
          <a:bodyPr>
            <a:normAutofit/>
          </a:bodyPr>
          <a:lstStyle/>
          <a:p>
            <a:r>
              <a:rPr lang="sk-SK" sz="5200" dirty="0"/>
              <a:t>Diagramy ako kód</a:t>
            </a:r>
          </a:p>
        </p:txBody>
      </p:sp>
      <p:sp>
        <p:nvSpPr>
          <p:cNvPr id="2" name="Zástupný objekt pre obsah 1">
            <a:extLst>
              <a:ext uri="{FF2B5EF4-FFF2-40B4-BE49-F238E27FC236}">
                <a16:creationId xmlns:a16="http://schemas.microsoft.com/office/drawing/2014/main" id="{6B2997C3-D466-44BB-DA0F-C46008BED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613"/>
            <a:ext cx="10515600" cy="4161350"/>
          </a:xfrm>
        </p:spPr>
        <p:txBody>
          <a:bodyPr>
            <a:normAutofit/>
          </a:bodyPr>
          <a:lstStyle/>
          <a:p>
            <a:pPr lvl="0"/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Vlastnosti: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generované automaticky z textu</a:t>
            </a: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</a:rPr>
              <a:t>, AI friendly</a:t>
            </a: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ľahšie sa udržiava aktuálny</a:t>
            </a:r>
            <a:endParaRPr lang="en-US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0"/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Nevýhody: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musíte vedieť špecifickú syntax</a:t>
            </a:r>
            <a:endParaRPr lang="en-US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strata precíznej kontroly vizuálu</a:t>
            </a:r>
            <a:endParaRPr lang="en-US" sz="28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359817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</TotalTime>
  <Words>313</Words>
  <Application>Microsoft Office PowerPoint</Application>
  <PresentationFormat>Širokouhlá</PresentationFormat>
  <Paragraphs>70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Prezentácia programu PowerPoint</vt:lpstr>
      <vt:lpstr>OPG   Cvičenie 1</vt:lpstr>
      <vt:lpstr>Java</vt:lpstr>
      <vt:lpstr>Príprava</vt:lpstr>
      <vt:lpstr>Úvod do diagramov</vt:lpstr>
      <vt:lpstr>Prezentácia programu PowerPoint</vt:lpstr>
      <vt:lpstr>Prezentácia programu PowerPoint</vt:lpstr>
      <vt:lpstr>Pseudokód</vt:lpstr>
      <vt:lpstr>Diagramy ako kód</vt:lpstr>
      <vt:lpstr>Prezentácia programu PowerPoint</vt:lpstr>
      <vt:lpstr>Diagramy ako kód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5</cp:revision>
  <dcterms:created xsi:type="dcterms:W3CDTF">2025-09-05T09:09:34Z</dcterms:created>
  <dcterms:modified xsi:type="dcterms:W3CDTF">2026-09-02T21:21:43Z</dcterms:modified>
</cp:coreProperties>
</file>