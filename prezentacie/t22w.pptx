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01" r:id="rId5"/>
    <p:sldId id="302" r:id="rId6"/>
    <p:sldId id="288" r:id="rId7"/>
    <p:sldId id="303" r:id="rId8"/>
    <p:sldId id="304" r:id="rId9"/>
    <p:sldId id="305" r:id="rId10"/>
    <p:sldId id="306" r:id="rId11"/>
    <p:sldId id="307" r:id="rId12"/>
    <p:sldId id="310" r:id="rId13"/>
    <p:sldId id="308" r:id="rId14"/>
    <p:sldId id="311" r:id="rId15"/>
    <p:sldId id="309" r:id="rId16"/>
    <p:sldId id="312" r:id="rId17"/>
    <p:sldId id="313" r:id="rId18"/>
    <p:sldId id="31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4:09.18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5059 0 24575,'0'1537'0,"3"-1475"0,3-1 0,3 0 0,19 69 0,8 49 0,-15-45 0,18 128 0,-17 190 0,-23 1013 0,-12-1284 0,0-28 0,12-108 0,-15 217 0,-12 6 0,17-182 0,-49 296 0,51-323 0,2 0 0,1 72 0,4-63 0,-4-3 0,-15 72 0,-2 20 0,19 147 0,6-162 0,-2 928 0,0-1060 0,0 1 0,-2-1 0,1 0 0,-1 1 0,-1-1 0,1 0 0,-2-1 0,0 1 0,0 0 0,0-1 0,-7 10 0,-6 5 0,0-2 0,-34 34 0,25-28 0,-23 32 0,38-45 0,-22 31 0,-38 41 0,58-74 0,1-1 0,-2 0 0,0-1 0,0 0 0,-1-1 0,0 0 0,-24 10 0,-39 15 0,-119 72 0,169-90 0,0-1 0,-1-2 0,-1 0 0,-55 16 0,35-14 0,-48 23 0,30-10 0,-144 68 0,124-54 0,-39 25 0,84-42 0,-1-3 0,-1-1 0,-71 22 0,71-28 0,0 1 0,-53 29 0,16-7 0,-127 72 0,151-76 0,-2-2 0,-1-4 0,-88 31 0,-21-1 0,78-25 0,-118 49 0,172-66 0,0 1 0,-59 39 0,12-6 0,27-17 0,-97 73 0,7-1 0,36-27 0,53-39 0,-112 55 0,119-69 0,1 2 0,2 2 0,-66 52 0,63-42 0,-2-2 0,-101 54 0,20-13 0,122-71 0,2 1 0,-1 1 0,1 0 0,1 0 0,-19 23 0,-37 66 0,37-54 0,19-28 0,0-1 0,1 2 0,1-1 0,1 1 0,0 1 0,1-1 0,1 1 0,1 0 0,0 0 0,2 1 0,0-1 0,2 23 0,1 22 0,0-25 0,-1 0 0,-1 0 0,-9 45 0,-1-10 0,4 0 0,3 1 0,9 132 0,1-168 0,1 0 0,2 0 0,1-1 0,3 0 0,20 44 0,-3-5 0,-17-47 0,0-1 0,3 0 0,0-1 0,1-1 0,2 0 0,1-2 0,1 0 0,1-2 0,44 37 0,3-6 0,2-3 0,106 57 0,241 99 0,-358-179 0,592 239 0,-621-258 0,1-2 0,0-2 0,0 0 0,0-2 0,50-2 0,-37-1 0,89 13 0,12 27 0,-106-26 0,1-3 0,62 11 0,-45-15 0,-1 4 0,87 26 0,-89-21 0,-24-7 0,53 22 0,-62-22 0,1-1 0,0-1 0,36 6 0,-37-9 0,-1 1 0,0 1 0,0 0 0,31 15 0,-36-14 0,1 0 0,1-1 0,-1-2 0,1 1 0,0-2 0,0 0 0,0-2 0,29 0 0,-26-1 0,-1 1 0,1 1 0,-1 1 0,0 0 0,0 2 0,31 10 0,120 45 0,-125-46 0,0 1 0,-2 2 0,0 3 0,50 29 0,171 112 0,-59-35 0,122 82 0,-149-91 0,-160-104 0,-1 1 0,0 1 0,-1 1 0,-1 1 0,0 0 0,19 28 0,35 36 0,-60-71 0,0-1 0,1 0 0,0-1 0,0 0 0,23 11 0,-32-18 0,0 1 0,0-1 0,1-1 0,-1 1 0,0 0 0,1 0 0,-1-1 0,1 0 0,-1 1 0,0-1 0,1 0 0,-1 0 0,1 0 0,2-1 0,-4 0 0,0 1 0,0-1 0,0 1 0,0-1 0,-1 0 0,1 0 0,0 1 0,0-1 0,-1 0 0,1 0 0,0 0 0,-1 0 0,1 0 0,-1 0 0,1 0 0,-1 0 0,0 0 0,1 0 0,-1 0 0,0 0 0,0 0 0,0 0 0,0 0 0,0 0 0,0 0 0,0 0 0,0-1 0,0 1 0,0 0 0,-1 0 0,1 0 0,0 0 0,-1 0 0,1 0 0,-1-1 0,-8-22 0,0 1 0,-2 0 0,0 1 0,-22-30 0,-11-24 0,25 36 0,2 0 0,-22-84 0,-6-89 0,37 175 0,-1-13 0,-2 1 0,-3 0 0,-1 0 0,-32-66 0,25 75 0,2-1 0,2-1 0,2-1 0,2-1 0,-14-73 0,28 114 0,-1 1 0,1-1 0,0 1 0,1-1 0,-1 1 0,1-1 0,-1 1 0,1-1 0,0 1 0,0 0 0,0-1 0,1 1 0,-1 0 0,1 0 0,2-4 0,-2 6 0,-1-1 0,0 1 0,0 0 0,1 0 0,-1-1 0,0 1 0,1 0 0,-1 0 0,1 0 0,0 0 0,-1 1 0,1-1 0,0 0 0,-1 1 0,1-1 0,0 1 0,0 0 0,0-1 0,-1 1 0,1 0 0,0 0 0,0 0 0,0 0 0,0 1 0,-1-1 0,1 0 0,0 1 0,0-1 0,-1 1 0,1 0 0,2 0 0,-1 1 0,0 0 0,0-1 0,-1 1 0,1 0 0,-1 1 0,1-1 0,-1 0 0,1 1 0,-1-1 0,0 1 0,0 0 0,0 0 0,2 5 0,15 45 0,-13-34 0,72 265 0,-4-10 0,-62-238 0,-2 0 0,-1 0 0,-2 1 0,-1 0 0,0 49 0,-4-47 0,3 0 0,0-1 0,3 1 0,22 65 0,2 13 0,-8-23 0,13 65 0,-36-155 0,-1 0 0,-1 0 0,1 1 0,0-1 0,-1 0 0,0 0 0,0 0 0,0 0 0,-1 0 0,1 0 0,-1 0 0,0 0 0,0-1 0,0 1 0,-1-1 0,1 1 0,-1-1 0,0 0 0,0 0 0,0 0 0,0 0 0,-1-1 0,-6 5 0,-6 4 0,-2-1 0,1 0 0,-33 11 0,3-5 0,-94 18 0,70-18 0,22-5 0,1-1 0,-58 22 0,87-26 66,0-1 0,-1 0 0,1-1 0,-32 1-1,-79-3-981,97-3 138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4:09.18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5059 0 24575,'0'1537'0,"3"-1475"0,3-1 0,3 0 0,19 69 0,8 49 0,-15-45 0,18 128 0,-17 190 0,-23 1013 0,-12-1284 0,0-28 0,12-108 0,-15 217 0,-12 6 0,17-182 0,-49 296 0,51-323 0,2 0 0,1 72 0,4-63 0,-4-3 0,-15 72 0,-2 20 0,19 147 0,6-162 0,-2 928 0,0-1060 0,0 1 0,-2-1 0,1 0 0,-1 1 0,-1-1 0,1 0 0,-2-1 0,0 1 0,0 0 0,0-1 0,-7 10 0,-6 5 0,0-2 0,-34 34 0,25-28 0,-23 32 0,38-45 0,-22 31 0,-38 41 0,58-74 0,1-1 0,-2 0 0,0-1 0,0 0 0,-1-1 0,0 0 0,-24 10 0,-39 15 0,-119 72 0,169-90 0,0-1 0,-1-2 0,-1 0 0,-55 16 0,35-14 0,-48 23 0,30-10 0,-144 68 0,124-54 0,-39 25 0,84-42 0,-1-3 0,-1-1 0,-71 22 0,71-28 0,0 1 0,-53 29 0,16-7 0,-127 72 0,151-76 0,-2-2 0,-1-4 0,-88 31 0,-21-1 0,78-25 0,-118 49 0,172-66 0,0 1 0,-59 39 0,12-6 0,27-17 0,-97 73 0,7-1 0,36-27 0,53-39 0,-112 55 0,119-69 0,1 2 0,2 2 0,-66 52 0,63-42 0,-2-2 0,-101 54 0,20-13 0,122-71 0,2 1 0,-1 1 0,1 0 0,1 0 0,-19 23 0,-37 66 0,37-54 0,19-28 0,0-1 0,1 2 0,1-1 0,1 1 0,0 1 0,1-1 0,1 1 0,1 0 0,0 0 0,2 1 0,0-1 0,2 23 0,1 22 0,0-25 0,-1 0 0,-1 0 0,-9 45 0,-1-10 0,4 0 0,3 1 0,9 132 0,1-168 0,1 0 0,2 0 0,1-1 0,3 0 0,20 44 0,-3-5 0,-17-47 0,0-1 0,3 0 0,0-1 0,1-1 0,2 0 0,1-2 0,1 0 0,1-2 0,44 37 0,3-6 0,2-3 0,106 57 0,241 99 0,-358-179 0,592 239 0,-621-258 0,1-2 0,0-2 0,0 0 0,0-2 0,50-2 0,-37-1 0,89 13 0,12 27 0,-106-26 0,1-3 0,62 11 0,-45-15 0,-1 4 0,87 26 0,-89-21 0,-24-7 0,53 22 0,-62-22 0,1-1 0,0-1 0,36 6 0,-37-9 0,-1 1 0,0 1 0,0 0 0,31 15 0,-36-14 0,1 0 0,1-1 0,-1-2 0,1 1 0,0-2 0,0 0 0,0-2 0,29 0 0,-26-1 0,-1 1 0,1 1 0,-1 1 0,0 0 0,0 2 0,31 10 0,120 45 0,-125-46 0,0 1 0,-2 2 0,0 3 0,50 29 0,171 112 0,-59-35 0,122 82 0,-149-91 0,-160-104 0,-1 1 0,0 1 0,-1 1 0,-1 1 0,0 0 0,19 28 0,35 36 0,-60-71 0,0-1 0,1 0 0,0-1 0,0 0 0,23 11 0,-32-18 0,0 1 0,0-1 0,1-1 0,-1 1 0,0 0 0,1 0 0,-1-1 0,1 0 0,-1 1 0,0-1 0,1 0 0,-1 0 0,1 0 0,2-1 0,-4 0 0,0 1 0,0-1 0,0 1 0,0-1 0,-1 0 0,1 0 0,0 1 0,0-1 0,-1 0 0,1 0 0,0 0 0,-1 0 0,1 0 0,-1 0 0,1 0 0,-1 0 0,0 0 0,1 0 0,-1 0 0,0 0 0,0 0 0,0 0 0,0 0 0,0 0 0,0 0 0,0 0 0,0-1 0,0 1 0,0 0 0,-1 0 0,1 0 0,0 0 0,-1 0 0,1 0 0,-1-1 0,-8-22 0,0 1 0,-2 0 0,0 1 0,-22-30 0,-11-24 0,25 36 0,2 0 0,-22-84 0,-6-89 0,37 175 0,-1-13 0,-2 1 0,-3 0 0,-1 0 0,-32-66 0,25 75 0,2-1 0,2-1 0,2-1 0,2-1 0,-14-73 0,28 114 0,-1 1 0,1-1 0,0 1 0,1-1 0,-1 1 0,1-1 0,-1 1 0,1-1 0,0 1 0,0 0 0,0-1 0,1 1 0,-1 0 0,1 0 0,2-4 0,-2 6 0,-1-1 0,0 1 0,0 0 0,1 0 0,-1-1 0,0 1 0,1 0 0,-1 0 0,1 0 0,0 0 0,-1 1 0,1-1 0,0 0 0,-1 1 0,1-1 0,0 1 0,0 0 0,0-1 0,-1 1 0,1 0 0,0 0 0,0 0 0,0 0 0,0 1 0,-1-1 0,1 0 0,0 1 0,0-1 0,-1 1 0,1 0 0,2 0 0,-1 1 0,0 0 0,0-1 0,-1 1 0,1 0 0,-1 1 0,1-1 0,-1 0 0,1 1 0,-1-1 0,0 1 0,0 0 0,0 0 0,2 5 0,15 45 0,-13-34 0,72 265 0,-4-10 0,-62-238 0,-2 0 0,-1 0 0,-2 1 0,-1 0 0,0 49 0,-4-47 0,3 0 0,0-1 0,3 1 0,22 65 0,2 13 0,-8-23 0,13 65 0,-36-155 0,-1 0 0,-1 0 0,1 1 0,0-1 0,-1 0 0,0 0 0,0 0 0,0 0 0,-1 0 0,1 0 0,-1 0 0,0 0 0,0-1 0,0 1 0,-1-1 0,1 1 0,-1-1 0,0 0 0,0 0 0,0 0 0,0 0 0,-1-1 0,-6 5 0,-6 4 0,-2-1 0,1 0 0,-33 11 0,3-5 0,-94 18 0,70-18 0,22-5 0,1-1 0,-58 22 0,87-26 66,0-1 0,-1 0 0,1-1 0,-32 1-1,-79-3-981,97-3 138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4:31.666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4970 14579 24575,'-5'0'0,"-1"-1"0,1 0 0,-1 0 0,1 0 0,0-1 0,0 0 0,-1 0 0,1 0 0,1-1 0,-1 0 0,-5-3 0,-49-43 0,52 43 0,-192-190 0,55 51 0,83 93 0,-2 3 0,-122-72 0,110 74 0,25 19 0,-1 2 0,-62-22 0,-38-19 0,-13-9 0,92 45 0,-118-71 0,134 68 0,-3 2 0,0 3 0,-65-22 0,56 21 0,1-2 0,-89-59 0,105 59 0,0 2 0,-83-34 0,45 35 0,-107-22 0,-35-10 0,146 36 0,36 12 0,-46-21 0,-16-13 0,-255-102 0,291 120 0,1-4 0,2-2 0,1-4 0,-110-80 0,36 26 0,9 8 0,117 70 0,0 0 0,1-2 0,1 0 0,1-1 0,1-1 0,-15-22 0,-42-54 0,46 62 0,0-1 0,-37-68 0,6-2 0,36 71 0,1-2 0,2-1 0,2 0 0,-17-55 0,28 66 0,2-1 0,1 1 0,1-1 0,4-47 0,-1 41 0,-2 0 0,-4-49 0,-9-17 0,5 0 0,7-159 0,2 244 0,1 0 0,0 0 0,1 0 0,0 1 0,1-1 0,0 1 0,1 0 0,1 0 0,0 0 0,0 1 0,1 0 0,1 0 0,-1 0 0,2 1 0,0 0 0,13-11 0,11-6 0,2 2 0,0 1 0,62-31 0,-83 47 0,101-66 0,-85 53 0,1 0 0,0 2 0,43-18 0,0 12 0,1 3 0,122-19 0,-20 6 0,17-4 0,71-19 0,253-124 0,-478 165 0,-2-3 0,0 0 0,58-44 0,94-92 0,-165 135 0,-3 0 0,1 2 0,29-18 0,-5 4 0,62-55 0,-9 6 0,497-378 0,-569 438 0,10-7 0,43-44 0,-70 61 0,0-1 0,0 0 0,-1-1 0,-1 0 0,0 0 0,-1-1 0,8-21 0,-14 31 0,77-222 0,-69 191 0,-1-1 0,-2 0 0,-2-1 0,0-49 0,-5 77 0,0-34 0,2 0 0,10-66 0,3 19 0,-12 59 0,2 0 0,1 1 0,2 0 0,1 0 0,22-52 0,-17 55 0,-1 0 0,-2-1 0,14-56 0,8-94 0,-20 98 0,26-208 0,-16 107 0,-13 70 0,-8-190 0,-5 146 0,3-605 0,15 529 0,-2 25 0,-6 114 0,3 0 0,44-175 0,2-5 0,-24-82 0,-4 28 0,-4 196 0,6-55 0,-23-386 0,-10 325 0,3 155 0,-5-216 0,0 230 0,-31-151 0,1 89 0,-18-88 0,45 195 0,-2 1 0,-17-38 0,-11-36 0,19 42 0,10 34 0,0 0 0,2 0 0,-6-60 0,12-275 0,3 173 0,-1 184 0,-3-35 0,2 43 0,0-1 0,0 0 0,0 1 0,0-1 0,0 1 0,0-1 0,0 1 0,-1-1 0,1 1 0,0-1 0,0 1 0,-1-1 0,1 1 0,0 0 0,-1-1 0,1 1 0,0-1 0,-1 1 0,1 0 0,-1-1 0,1 1 0,-1-1 0,0 1 0,0 0 0,0 1 0,0-1 0,1 0 0,-1 0 0,0 1 0,0-1 0,1 0 0,-1 1 0,0-1 0,1 1 0,-1-1 0,0 1 0,1-1 0,-1 1 0,0-1 0,1 1 0,-1 0 0,1-1 0,-1 2 0,-10 15 0,0-1 0,1 2 0,1-1 0,-9 27 0,-9 18 0,-35 59 0,-114 168 0,173-285 0,-9 14 0,-1-1 0,0 0 0,-2 0 0,0-2 0,-31 27 0,45-41 0,0-1 0,0 1 0,0 0 0,0-1 0,0 1 0,-1 0 0,1-1 0,0 1 0,0-1 0,0 0 0,-1 1 0,1-1 0,0 0 0,0 0 0,-1 0 0,1 0 0,0 0 0,0 0 0,-1 0 0,1 0 0,0 0 0,0-1 0,0 1 0,-1 0 0,1-1 0,0 1 0,0-1 0,0 1 0,0-1 0,0 0 0,0 0 0,0 1 0,0-1 0,0 0 0,0 0 0,0 0 0,0 0 0,1 0 0,-1 0 0,0 0 0,1 0 0,-1 0 0,1 0 0,-1-1 0,1 1 0,-1 0 0,1 0 0,0-2 0,-3-6 0,1 1 0,1-1 0,-1 0 0,2 0 0,-1-17 0,4 0 0,1 0 0,0 0 0,2 0 0,1 1 0,16-37 0,64-124 0,-56 126 0,47-82 0,-17 33 0,-59 105 0,0 0 0,1 0 0,-1 0 0,1 0 0,0 0 0,0 1 0,0-1 0,0 1 0,0 0 0,1 0 0,0 0 0,0 1 0,-1-1 0,1 1 0,1 0 0,-1 0 0,0 0 0,0 1 0,7-2 0,-4 2 0,0 1 0,1-1 0,-1 1 0,0 1 0,1 0 0,-1 0 0,0 0 0,0 1 0,0 0 0,0 0 0,11 5 0,24 13 0,-1 2 0,77 53 0,67 72 0,-75-58 0,-53-44 150,134 112-1665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5:17.494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2570 227 24575,'-1041'0'0,"958"4"0,-106 19 0,58-6 0,27-2 0,-188 52 0,-89 64 0,364-125 0,0 0 0,0 1 0,1 1 0,-24 14 0,35-19 0,1 0 0,0 0 0,-1 1 0,1 0 0,1 0 0,-1 0 0,1 0 0,-1 1 0,1-1 0,1 1 0,-1 0 0,1 0 0,-1 0 0,2 0 0,-4 10 0,-2 9 0,-1 0 0,-1-1 0,-2-1 0,0 0 0,-1 0 0,-19 24 0,-29 58 0,53-91 0,2 1 0,0 0 0,0 0 0,1 0 0,1 0 0,-2 20 0,3 1 0,1 0 0,1 0 0,3 0 0,0 0 0,3 0 0,1-1 0,1 0 0,2 0 0,1-1 0,1-1 0,2 0 0,33 55 0,-23-51 0,1-1 0,2-1 0,1-1 0,2-2 0,1-1 0,1-1 0,2-1 0,0-3 0,2 0 0,1-3 0,0-1 0,2-1 0,0-2 0,1-2 0,1-2 0,1-2 0,-1-1 0,69 8 0,253-5 0,-195-12 0,687 47 0,-787-42 0,156 10 0,-165-15 0,103-9 0,-143 4 0,1 0 0,-1-1 0,1 0 0,-1-2 0,23-10 0,-33 12 0,0-1 0,-1 0 0,1 0 0,-1-1 0,0 0 0,-1-1 0,0 0 0,0 0 0,0 0 0,-1-1 0,0 0 0,6-10 0,9-20 0,-2-1 0,23-71 0,16-89 0,-9 25 0,-21 77 0,-5-2 0,-4 0 0,9-147 0,-22 154 0,-8-140 0,1 213 0,-2-1 0,-1 1 0,0 0 0,-1 0 0,-1 0 0,-1 1 0,-11-21 0,12 27 0,-2-1 0,0 1 0,0 0 0,-1 1 0,-1 0 0,0 1 0,0-1 0,-1 2 0,0 0 0,-18-12 0,-14-2 0,-1 2 0,-1 1 0,-1 3 0,0 1 0,-1 3 0,-50-8 0,-290-25 0,-638 27-1094,901 20 359,-95 1-5627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6:05.9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1 111 24575,'625'-14'0,"-94"1"0,2080 11 0,-1343 4 0,-649-2 0,-588-2 0,0-1 0,0-2 0,37-9 0,43-8 0,-102 21 2,438-35-1369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6:05.95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1 111 24575,'625'-14'0,"-94"1"0,2080 11 0,-1343 4 0,-649-2 0,-588-2 0,0-1 0,0-2 0,37-9 0,43-8 0,-102 21 2,438-35-1369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8:23.839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0 113 24575,'920'-52'-437,"-196"3"133,1060 38-794,-1137 14 864,1305-3 942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2T20:38:23.839"/>
    </inkml:context>
    <inkml:brush xml:id="br0">
      <inkml:brushProperty name="width" value="0.35" units="cm"/>
      <inkml:brushProperty name="height" value="0.35" units="cm"/>
      <inkml:brushProperty name="color" value="#004F8B"/>
    </inkml:brush>
  </inkml:definitions>
  <inkml:trace contextRef="#ctx0" brushRef="#br0">0 113 24575,'920'-52'-437,"-196"3"133,1060 38-794,-1137 14 864,1305-3 942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12. 3. 2026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</a:t>
            </a:r>
            <a:r>
              <a:rPr lang="en-US" sz="4000" dirty="0"/>
              <a:t>2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JavaFX </a:t>
            </a:r>
            <a:r>
              <a:rPr lang="en-US" dirty="0" err="1"/>
              <a:t>udalosti</a:t>
            </a:r>
            <a:r>
              <a:rPr lang="en-US" dirty="0"/>
              <a:t> – </a:t>
            </a:r>
            <a:r>
              <a:rPr lang="en-US" dirty="0" err="1"/>
              <a:t>eventy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Typy udalostí a ich spracovanie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</a:t>
            </a:r>
            <a:r>
              <a:rPr lang="sk-SK" dirty="0" err="1"/>
              <a:t>apturing</a:t>
            </a:r>
            <a:r>
              <a:rPr lang="sk-SK" dirty="0"/>
              <a:t>, </a:t>
            </a:r>
            <a:r>
              <a:rPr lang="sk-SK" dirty="0" err="1"/>
              <a:t>Bubbling</a:t>
            </a:r>
            <a:r>
              <a:rPr lang="sk-SK" dirty="0"/>
              <a:t>, </a:t>
            </a:r>
            <a:r>
              <a:rPr lang="sk-SK" dirty="0" err="1"/>
              <a:t>Consuming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Udalosti v FXML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JavaFX </a:t>
            </a:r>
            <a:r>
              <a:rPr lang="en-US" dirty="0" err="1"/>
              <a:t>udalosti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k-SK" dirty="0"/>
              <a:t>Udalosť </a:t>
            </a:r>
            <a:r>
              <a:rPr lang="en-US" dirty="0"/>
              <a:t>– </a:t>
            </a:r>
            <a:r>
              <a:rPr lang="en-US" b="1" dirty="0"/>
              <a:t>event</a:t>
            </a:r>
            <a:r>
              <a:rPr lang="en-US" dirty="0"/>
              <a:t> </a:t>
            </a:r>
            <a:r>
              <a:rPr lang="sk-SK" dirty="0"/>
              <a:t>–</a:t>
            </a:r>
            <a:r>
              <a:rPr lang="en-US" dirty="0"/>
              <a:t> </a:t>
            </a:r>
            <a:r>
              <a:rPr lang="sk-SK" dirty="0" err="1"/>
              <a:t>klikn</a:t>
            </a:r>
            <a:r>
              <a:rPr lang="en-US" dirty="0" err="1"/>
              <a:t>uti</a:t>
            </a:r>
            <a:r>
              <a:rPr lang="sk-SK" dirty="0"/>
              <a:t>e myšou, stlačenie klávesy, zmena veľkosti okna, ...</a:t>
            </a:r>
          </a:p>
          <a:p>
            <a:pPr marL="0" indent="0">
              <a:buNone/>
            </a:pPr>
            <a:r>
              <a:rPr lang="sk-SK" dirty="0"/>
              <a:t>Udalosť je objekt dediaci z triedy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javafx.event.Event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/>
              <a:t>Príklady tried: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DragEvent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KeyEvent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MouseEvent</a:t>
            </a:r>
            <a:r>
              <a:rPr lang="sk-SK" dirty="0"/>
              <a:t> 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ScrollEvent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27BCE-0D46-1F7F-A15A-32AC1425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E76C34-20F4-6679-8AA4-B1CD90FD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JavaFX </a:t>
            </a:r>
            <a:r>
              <a:rPr lang="en-US" dirty="0" err="1"/>
              <a:t>udalosti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468E97-0E39-355A-B55B-264462EE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Každá udalosť obsahuje:</a:t>
            </a:r>
          </a:p>
          <a:p>
            <a:pPr lvl="1">
              <a:lnSpc>
                <a:spcPct val="100000"/>
              </a:lnSpc>
            </a:pPr>
            <a:r>
              <a:rPr lang="sk-SK" sz="2800" b="1" dirty="0"/>
              <a:t>Typ udalosti </a:t>
            </a:r>
            <a:r>
              <a:rPr lang="sk-SK" sz="2800" dirty="0"/>
              <a:t>ktorá nastala, napr.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MouseEvent.MOUSE_CLICKED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sk-SK" sz="2800" b="1" dirty="0" err="1"/>
              <a:t>Source</a:t>
            </a:r>
            <a:r>
              <a:rPr lang="sk-SK" sz="2800" dirty="0"/>
              <a:t> (zdroj) - Kde sa práve v procese propagácie udalosti nachádzame</a:t>
            </a:r>
          </a:p>
          <a:p>
            <a:pPr lvl="1">
              <a:lnSpc>
                <a:spcPct val="100000"/>
              </a:lnSpc>
            </a:pPr>
            <a:r>
              <a:rPr lang="sk-SK" sz="2800" b="1" dirty="0" err="1"/>
              <a:t>Target</a:t>
            </a:r>
            <a:r>
              <a:rPr lang="sk-SK" sz="2800" dirty="0"/>
              <a:t> (cieľ) - ktorého ovládacieho prvku alebo iného </a:t>
            </a:r>
            <a:r>
              <a:rPr lang="sk-SK" sz="2800" dirty="0" err="1"/>
              <a:t>JavaFX</a:t>
            </a:r>
            <a:r>
              <a:rPr lang="sk-SK" sz="2800" dirty="0"/>
              <a:t> objektu sa udalosť týka</a:t>
            </a:r>
          </a:p>
        </p:txBody>
      </p:sp>
    </p:spTree>
    <p:extLst>
      <p:ext uri="{BB962C8B-B14F-4D97-AF65-F5344CB8AC3E}">
        <p14:creationId xmlns:p14="http://schemas.microsoft.com/office/powerpoint/2010/main" val="82357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4E5F5-6924-B36A-0A66-649048245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A83903-84AF-A84A-2DCC-EC0E42F0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sk-SK" dirty="0"/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0B15ECFA-2535-F6EE-DF81-F3D524BFF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421022"/>
              </p:ext>
            </p:extLst>
          </p:nvPr>
        </p:nvGraphicFramePr>
        <p:xfrm>
          <a:off x="154858" y="71142"/>
          <a:ext cx="11882283" cy="6786858"/>
        </p:xfrm>
        <a:graphic>
          <a:graphicData uri="http://schemas.openxmlformats.org/drawingml/2006/table">
            <a:tbl>
              <a:tblPr/>
              <a:tblGrid>
                <a:gridCol w="2059858">
                  <a:extLst>
                    <a:ext uri="{9D8B030D-6E8A-4147-A177-3AD203B41FA5}">
                      <a16:colId xmlns:a16="http://schemas.microsoft.com/office/drawing/2014/main" val="1483352188"/>
                    </a:ext>
                  </a:extLst>
                </a:gridCol>
                <a:gridCol w="4778478">
                  <a:extLst>
                    <a:ext uri="{9D8B030D-6E8A-4147-A177-3AD203B41FA5}">
                      <a16:colId xmlns:a16="http://schemas.microsoft.com/office/drawing/2014/main" val="3049246940"/>
                    </a:ext>
                  </a:extLst>
                </a:gridCol>
                <a:gridCol w="5043947">
                  <a:extLst>
                    <a:ext uri="{9D8B030D-6E8A-4147-A177-3AD203B41FA5}">
                      <a16:colId xmlns:a16="http://schemas.microsoft.com/office/drawing/2014/main" val="3633953420"/>
                    </a:ext>
                  </a:extLst>
                </a:gridCol>
              </a:tblGrid>
              <a:tr h="2732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1">
                          <a:effectLst/>
                        </a:rPr>
                        <a:t>Trieda udalosti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404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1">
                          <a:effectLst/>
                        </a:rPr>
                        <a:t>Typy udalosti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204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1" dirty="0">
                          <a:effectLst/>
                        </a:rPr>
                        <a:t>Detaily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0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51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148783"/>
                  </a:ext>
                </a:extLst>
              </a:tr>
              <a:tr h="10999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ActionEvent</a:t>
                      </a:r>
                      <a:endParaRPr lang="sk-SK" sz="2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404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204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404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ACTION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204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51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204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8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UI akcia (kliknutie na tlačidlo, výber menu, stlačenie </a:t>
                      </a:r>
                      <a:r>
                        <a:rPr lang="sk-SK" sz="2000" b="0" dirty="0" err="1">
                          <a:effectLst/>
                        </a:rPr>
                        <a:t>enter</a:t>
                      </a:r>
                      <a:r>
                        <a:rPr lang="sk-SK" sz="2000" b="0" dirty="0">
                          <a:effectLst/>
                        </a:rPr>
                        <a:t> v </a:t>
                      </a:r>
                      <a:r>
                        <a:rPr lang="sk-SK" sz="2000" b="0" dirty="0" err="1">
                          <a:effectLst/>
                        </a:rPr>
                        <a:t>TextField</a:t>
                      </a:r>
                      <a:r>
                        <a:rPr lang="sk-SK" sz="2000" b="0" dirty="0">
                          <a:effectLst/>
                        </a:rPr>
                        <a:t>). Signalizuje, že nastala nejaká akcia.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E051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E051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51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A0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40538"/>
                  </a:ext>
                </a:extLst>
              </a:tr>
              <a:tr h="136946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MouseEvent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10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C08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64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3059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MOUSE_CLICKED, MOUSE_PRESSED, MOUSE_RELEASED, MOUSE_MOVED, MOUSE_DRAGGED, MOUSE_ENTERED, MOUSE_EXITED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C08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C086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9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Interakcia myšou. Obsahuje dodatočné informácie o polohe a tlačidlách: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getX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(),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getButton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(),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getClickCount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(),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isShiftDown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A0A0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A0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A0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50A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788411"/>
                  </a:ext>
                </a:extLst>
              </a:tr>
              <a:tr h="13140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KeyEvent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3059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9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3059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70F2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KEY_PRESSED, KEY_RELEASED, KEY_TYPED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509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A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9F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0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Interakcia klávesnicou. Obsahuje informácie o stlačenej klávese a znaku: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getCode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(),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getCharacter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(),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getText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(), </a:t>
                      </a: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isControlDown</a:t>
                      </a:r>
                      <a:r>
                        <a:rPr lang="sk-SK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50A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50A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50AB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C003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78421"/>
                  </a:ext>
                </a:extLst>
              </a:tr>
              <a:tr h="6204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ScrollEvent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70F2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0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70F29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E02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SCROLL, SCROLL_STARTED, SCROLL_FINISHED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A00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C003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0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F0B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>
                          <a:effectLst/>
                        </a:rPr>
                        <a:t>Užívateľ scrolluje.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C003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C003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C003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D0D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378541"/>
                  </a:ext>
                </a:extLst>
              </a:tr>
              <a:tr h="91857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TouchEvent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E02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F0B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E028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60D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kern="12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TOUCH_PRESSED, TOUCH_MOVED, TOUCH_RELEASED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F0B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F0BE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F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Interakcia pomocou dotykovej obrazovky. Obsahuje pozíciu dotyku, počet dotykových bodov a iné.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D0D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D0D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D0D5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53685"/>
                  </a:ext>
                </a:extLst>
              </a:tr>
              <a:tr h="10999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WindowEvent</a:t>
                      </a:r>
                      <a:endParaRPr lang="sk-SK" sz="20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60D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A0F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60D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60D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WINDOW_SHOWING, WINDOW_SHOWN, WINDOW_HIDING, WINDOW_HIDDEN, WINDOW_CLOSE_REQUEST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A0F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A0F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A0F3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Udalosti na úrovni života aplikácie, napríklad zobrazenie alebo zatvorenie okna.</a:t>
                      </a:r>
                    </a:p>
                  </a:txBody>
                  <a:tcPr marL="24865" marR="24865" marT="12432" marB="12432">
                    <a:lnL w="6096" cap="flat" cmpd="sng" algn="ctr">
                      <a:solidFill>
                        <a:srgbClr val="10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10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10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1018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5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431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7D191-6A36-F520-C569-AD77AFC8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042D48-07B0-037C-D784-5B672C4C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Spracovanie udalosti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4E47B2C-25F0-836B-D304-2ACCFC456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Spracovanie udalosti má 4 fázy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/>
              <a:t>N</a:t>
            </a:r>
            <a:r>
              <a:rPr lang="sk-SK" sz="2800" b="1" dirty="0" err="1"/>
              <a:t>ájdenie</a:t>
            </a:r>
            <a:r>
              <a:rPr lang="sk-SK" sz="2800" b="1" dirty="0"/>
              <a:t> cieľa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b="1" dirty="0"/>
              <a:t>V</a:t>
            </a:r>
            <a:r>
              <a:rPr lang="sk-SK" sz="2800" b="1" dirty="0" err="1"/>
              <a:t>ytvorenie</a:t>
            </a:r>
            <a:r>
              <a:rPr lang="sk-SK" sz="2800" b="1" dirty="0"/>
              <a:t> cesty </a:t>
            </a:r>
            <a:r>
              <a:rPr lang="sk-SK" sz="2800" dirty="0"/>
              <a:t>ku komponentu v stromovej štruktúre scény - </a:t>
            </a:r>
            <a:r>
              <a:rPr lang="sk-SK" sz="2800" dirty="0" err="1"/>
              <a:t>scene</a:t>
            </a:r>
            <a:r>
              <a:rPr lang="sk-SK" sz="2800" dirty="0"/>
              <a:t> </a:t>
            </a:r>
            <a:r>
              <a:rPr lang="sk-SK" sz="2800" dirty="0" err="1"/>
              <a:t>graphu</a:t>
            </a:r>
            <a:endParaRPr lang="sk-SK" sz="2800" dirty="0"/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sk-SK" sz="2800" dirty="0"/>
              <a:t>Zachytávanie udalosti po ceste smerom od </a:t>
            </a:r>
            <a:r>
              <a:rPr lang="sk-SK" sz="2800" dirty="0" err="1"/>
              <a:t>stage</a:t>
            </a:r>
            <a:r>
              <a:rPr lang="sk-SK" sz="2800" dirty="0"/>
              <a:t> ku cieľu - </a:t>
            </a:r>
            <a:r>
              <a:rPr lang="en-US" sz="2800" b="1" dirty="0"/>
              <a:t>ca</a:t>
            </a:r>
            <a:r>
              <a:rPr lang="sk-SK" sz="2800" b="1" dirty="0" err="1"/>
              <a:t>pturing</a:t>
            </a:r>
            <a:endParaRPr lang="sk-SK" sz="2800" b="1" dirty="0"/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sk-SK" sz="2800" dirty="0"/>
              <a:t>Ošetrenie udalosti po ceste od cieľa ku </a:t>
            </a:r>
            <a:r>
              <a:rPr lang="sk-SK" sz="2800" dirty="0" err="1"/>
              <a:t>stage</a:t>
            </a:r>
            <a:r>
              <a:rPr lang="sk-SK" sz="2800" dirty="0"/>
              <a:t> - tzv. </a:t>
            </a:r>
            <a:r>
              <a:rPr lang="sk-SK" sz="2800" dirty="0" err="1"/>
              <a:t>vybublenie</a:t>
            </a:r>
            <a:r>
              <a:rPr lang="sk-SK" sz="2800" dirty="0"/>
              <a:t> - </a:t>
            </a:r>
            <a:r>
              <a:rPr lang="sk-SK" sz="2800" b="1" dirty="0" err="1"/>
              <a:t>bubbling</a:t>
            </a:r>
            <a:endParaRPr lang="sk-SK" sz="2800" b="1" dirty="0"/>
          </a:p>
        </p:txBody>
      </p:sp>
    </p:spTree>
    <p:extLst>
      <p:ext uri="{BB962C8B-B14F-4D97-AF65-F5344CB8AC3E}">
        <p14:creationId xmlns:p14="http://schemas.microsoft.com/office/powerpoint/2010/main" val="254210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2A004-50EC-B23B-AFF9-6778D75D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885AC4-A7D4-FB63-AC3C-D48D7D40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Nájdenie cieľa a vytvorenie cesty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AE89578-3209-7C62-869A-E6DEDFFF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585314"/>
            <a:ext cx="10817352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Cieľ je ovládací prvok, napr. tlačidlo, kde udalosť nastala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Udalosti z klávesnice majú cieľ ovládací prvok, ktorý je práve zvolený - anglicky </a:t>
            </a:r>
            <a:r>
              <a:rPr lang="sk-SK" sz="2800" b="1" dirty="0" err="1"/>
              <a:t>focus</a:t>
            </a:r>
            <a:endParaRPr lang="sk-SK" sz="2800" b="1" dirty="0"/>
          </a:p>
          <a:p>
            <a:pPr lvl="1">
              <a:lnSpc>
                <a:spcPct val="100000"/>
              </a:lnSpc>
            </a:pPr>
            <a:r>
              <a:rPr lang="sk-SK" sz="2800" dirty="0"/>
              <a:t>Pre udalosti z myši ide o prvok, na ktorom sa práve nachádza kurzor myši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Cesta je v stromovej štruktúre scény a vedie od okna - </a:t>
            </a:r>
            <a:r>
              <a:rPr lang="sk-SK" dirty="0" err="1"/>
              <a:t>stage</a:t>
            </a:r>
            <a:r>
              <a:rPr lang="sk-SK" dirty="0"/>
              <a:t> objektu, až po cieľ</a:t>
            </a:r>
          </a:p>
        </p:txBody>
      </p:sp>
    </p:spTree>
    <p:extLst>
      <p:ext uri="{BB962C8B-B14F-4D97-AF65-F5344CB8AC3E}">
        <p14:creationId xmlns:p14="http://schemas.microsoft.com/office/powerpoint/2010/main" val="274280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3CDDD-C6F6-83F3-8757-7E7E91ADD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ok 8">
            <a:extLst>
              <a:ext uri="{FF2B5EF4-FFF2-40B4-BE49-F238E27FC236}">
                <a16:creationId xmlns:a16="http://schemas.microsoft.com/office/drawing/2014/main" id="{9C9EFDBE-370D-98B1-A1EE-C345AB30B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36" y="166232"/>
            <a:ext cx="8192643" cy="6525536"/>
          </a:xfrm>
          <a:prstGeom prst="rect">
            <a:avLst/>
          </a:prstGeom>
        </p:spPr>
      </p:pic>
      <p:pic>
        <p:nvPicPr>
          <p:cNvPr id="2050" name="Picture 2" descr="Counter scene graph">
            <a:extLst>
              <a:ext uri="{FF2B5EF4-FFF2-40B4-BE49-F238E27FC236}">
                <a16:creationId xmlns:a16="http://schemas.microsoft.com/office/drawing/2014/main" id="{041F6F4F-EF37-3E97-AC09-EA437A669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16" y="285750"/>
            <a:ext cx="3755905" cy="19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36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69ABF-66ED-041B-A7D6-28FB55942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ok 8">
            <a:extLst>
              <a:ext uri="{FF2B5EF4-FFF2-40B4-BE49-F238E27FC236}">
                <a16:creationId xmlns:a16="http://schemas.microsoft.com/office/drawing/2014/main" id="{B8AFEBB8-3339-D7C6-A16E-788E2BA4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36" y="166232"/>
            <a:ext cx="8192643" cy="6525536"/>
          </a:xfrm>
          <a:prstGeom prst="rect">
            <a:avLst/>
          </a:prstGeom>
        </p:spPr>
      </p:pic>
      <p:pic>
        <p:nvPicPr>
          <p:cNvPr id="2050" name="Picture 2" descr="Counter scene graph">
            <a:extLst>
              <a:ext uri="{FF2B5EF4-FFF2-40B4-BE49-F238E27FC236}">
                <a16:creationId xmlns:a16="http://schemas.microsoft.com/office/drawing/2014/main" id="{0782D43F-17F2-BB33-E1C9-2C2BFD703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16" y="285750"/>
            <a:ext cx="3755905" cy="19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Písanie rukou 12">
                <a:extLst>
                  <a:ext uri="{FF2B5EF4-FFF2-40B4-BE49-F238E27FC236}">
                    <a16:creationId xmlns:a16="http://schemas.microsoft.com/office/drawing/2014/main" id="{388988F5-816B-ADF2-316E-32955D74DFCA}"/>
                  </a:ext>
                </a:extLst>
              </p14:cNvPr>
              <p14:cNvContentPartPr/>
              <p14:nvPr/>
            </p14:nvContentPartPr>
            <p14:xfrm>
              <a:off x="5897137" y="540588"/>
              <a:ext cx="1933560" cy="5448240"/>
            </p14:xfrm>
          </p:contentPart>
        </mc:Choice>
        <mc:Fallback>
          <p:pic>
            <p:nvPicPr>
              <p:cNvPr id="13" name="Písanie rukou 12">
                <a:extLst>
                  <a:ext uri="{FF2B5EF4-FFF2-40B4-BE49-F238E27FC236}">
                    <a16:creationId xmlns:a16="http://schemas.microsoft.com/office/drawing/2014/main" id="{388988F5-816B-ADF2-316E-32955D74DF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4497" y="477588"/>
                <a:ext cx="2059200" cy="557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47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2AB71C-025D-0133-8668-4A638AFD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ok 8">
            <a:extLst>
              <a:ext uri="{FF2B5EF4-FFF2-40B4-BE49-F238E27FC236}">
                <a16:creationId xmlns:a16="http://schemas.microsoft.com/office/drawing/2014/main" id="{F4BE2898-E727-1DB2-FAE6-EF9BFB32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536" y="166232"/>
            <a:ext cx="8192643" cy="6525536"/>
          </a:xfrm>
          <a:prstGeom prst="rect">
            <a:avLst/>
          </a:prstGeom>
        </p:spPr>
      </p:pic>
      <p:pic>
        <p:nvPicPr>
          <p:cNvPr id="2050" name="Picture 2" descr="Counter scene graph">
            <a:extLst>
              <a:ext uri="{FF2B5EF4-FFF2-40B4-BE49-F238E27FC236}">
                <a16:creationId xmlns:a16="http://schemas.microsoft.com/office/drawing/2014/main" id="{F64454C5-3FC9-E248-AFB7-E9843ED68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16" y="285750"/>
            <a:ext cx="3755905" cy="19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Písanie rukou 12">
                <a:extLst>
                  <a:ext uri="{FF2B5EF4-FFF2-40B4-BE49-F238E27FC236}">
                    <a16:creationId xmlns:a16="http://schemas.microsoft.com/office/drawing/2014/main" id="{86179DE0-2915-832A-D12E-D4E9AF3A6A69}"/>
                  </a:ext>
                </a:extLst>
              </p14:cNvPr>
              <p14:cNvContentPartPr/>
              <p14:nvPr/>
            </p14:nvContentPartPr>
            <p14:xfrm>
              <a:off x="5897137" y="540588"/>
              <a:ext cx="1933560" cy="5448240"/>
            </p14:xfrm>
          </p:contentPart>
        </mc:Choice>
        <mc:Fallback>
          <p:pic>
            <p:nvPicPr>
              <p:cNvPr id="13" name="Písanie rukou 12">
                <a:extLst>
                  <a:ext uri="{FF2B5EF4-FFF2-40B4-BE49-F238E27FC236}">
                    <a16:creationId xmlns:a16="http://schemas.microsoft.com/office/drawing/2014/main" id="{86179DE0-2915-832A-D12E-D4E9AF3A6A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34137" y="477592"/>
                <a:ext cx="2059200" cy="5573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Písanie rukou 1">
                <a:extLst>
                  <a:ext uri="{FF2B5EF4-FFF2-40B4-BE49-F238E27FC236}">
                    <a16:creationId xmlns:a16="http://schemas.microsoft.com/office/drawing/2014/main" id="{E83EE78E-0F30-4E99-696B-EDB3C3BB43C7}"/>
                  </a:ext>
                </a:extLst>
              </p14:cNvPr>
              <p14:cNvContentPartPr/>
              <p14:nvPr/>
            </p14:nvContentPartPr>
            <p14:xfrm>
              <a:off x="6558457" y="591708"/>
              <a:ext cx="1789560" cy="5248800"/>
            </p14:xfrm>
          </p:contentPart>
        </mc:Choice>
        <mc:Fallback>
          <p:pic>
            <p:nvPicPr>
              <p:cNvPr id="2" name="Písanie rukou 1">
                <a:extLst>
                  <a:ext uri="{FF2B5EF4-FFF2-40B4-BE49-F238E27FC236}">
                    <a16:creationId xmlns:a16="http://schemas.microsoft.com/office/drawing/2014/main" id="{E83EE78E-0F30-4E99-696B-EDB3C3BB43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95457" y="528708"/>
                <a:ext cx="1915200" cy="537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Písanie rukou 2">
                <a:extLst>
                  <a:ext uri="{FF2B5EF4-FFF2-40B4-BE49-F238E27FC236}">
                    <a16:creationId xmlns:a16="http://schemas.microsoft.com/office/drawing/2014/main" id="{EE692262-E8B2-233B-07AF-A8D81B2607AB}"/>
                  </a:ext>
                </a:extLst>
              </p14:cNvPr>
              <p14:cNvContentPartPr/>
              <p14:nvPr/>
            </p14:nvContentPartPr>
            <p14:xfrm>
              <a:off x="7795777" y="5611188"/>
              <a:ext cx="1182240" cy="742320"/>
            </p14:xfrm>
          </p:contentPart>
        </mc:Choice>
        <mc:Fallback>
          <p:pic>
            <p:nvPicPr>
              <p:cNvPr id="3" name="Písanie rukou 2">
                <a:extLst>
                  <a:ext uri="{FF2B5EF4-FFF2-40B4-BE49-F238E27FC236}">
                    <a16:creationId xmlns:a16="http://schemas.microsoft.com/office/drawing/2014/main" id="{EE692262-E8B2-233B-07AF-A8D81B2607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33137" y="5548548"/>
                <a:ext cx="1307880" cy="86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578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3F69B-2B83-86F7-184A-A55CF5E3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C9D0C0-C957-2B9C-631B-3E3259D2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Zachytávanie udalosti - </a:t>
            </a:r>
            <a:r>
              <a:rPr lang="sk-SK" dirty="0" err="1"/>
              <a:t>capturing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BB55AF7-7E7A-78BA-0D1C-658F9965C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10817352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Udalosť je odoslaná </a:t>
            </a:r>
            <a:r>
              <a:rPr lang="sk-SK" b="1" dirty="0"/>
              <a:t>zo </a:t>
            </a:r>
            <a:r>
              <a:rPr lang="sk-SK" b="1" dirty="0" err="1"/>
              <a:t>stage</a:t>
            </a:r>
            <a:r>
              <a:rPr lang="sk-SK" b="1" dirty="0"/>
              <a:t> a prechádza cestou až k cieľu</a:t>
            </a:r>
            <a:r>
              <a:rPr lang="sk-SK" dirty="0"/>
              <a:t>.</a:t>
            </a:r>
          </a:p>
          <a:p>
            <a:pPr marL="0" indent="0">
              <a:buNone/>
            </a:pPr>
            <a:r>
              <a:rPr lang="sk-SK" dirty="0"/>
              <a:t>Počas toho sa udalosť filtruje. Ak má uzol v ceste zaregistrovaný filter, tak sa vykoná. </a:t>
            </a:r>
          </a:p>
          <a:p>
            <a:pPr marL="0" indent="0">
              <a:buNone/>
            </a:pPr>
            <a:r>
              <a:rPr lang="sk-SK" dirty="0"/>
              <a:t>Využitie na logovanie a blokovanie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k-SK" dirty="0"/>
              <a:t>Filter </a:t>
            </a:r>
            <a:r>
              <a:rPr lang="en-US" dirty="0"/>
              <a:t>je </a:t>
            </a:r>
            <a:r>
              <a:rPr lang="sk-SK" dirty="0" err="1"/>
              <a:t>funkci</a:t>
            </a:r>
            <a:r>
              <a:rPr lang="en-US" dirty="0"/>
              <a:t>a.</a:t>
            </a:r>
            <a:r>
              <a:rPr lang="sk-SK" dirty="0"/>
              <a:t> </a:t>
            </a:r>
            <a:r>
              <a:rPr lang="en-US" dirty="0"/>
              <a:t>Z</a:t>
            </a:r>
            <a:r>
              <a:rPr lang="sk-SK" dirty="0" err="1"/>
              <a:t>aregistrujeme</a:t>
            </a:r>
            <a:r>
              <a:rPr lang="sk-SK" dirty="0"/>
              <a:t> </a:t>
            </a:r>
            <a:r>
              <a:rPr lang="en-US" dirty="0" err="1"/>
              <a:t>ju</a:t>
            </a:r>
            <a:r>
              <a:rPr lang="en-US" dirty="0"/>
              <a:t> </a:t>
            </a:r>
            <a:r>
              <a:rPr lang="sk-SK" dirty="0"/>
              <a:t>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addEventFilter</a:t>
            </a:r>
            <a:r>
              <a:rPr lang="sk-SK" dirty="0"/>
              <a:t> v komponente, cez ktorú udalosť prechádza</a:t>
            </a:r>
          </a:p>
          <a:p>
            <a:pPr marL="0" indent="0">
              <a:buNone/>
            </a:pPr>
            <a:r>
              <a:rPr lang="sk-SK" b="1" dirty="0" err="1"/>
              <a:t>Source</a:t>
            </a:r>
            <a:r>
              <a:rPr lang="sk-SK" dirty="0"/>
              <a:t> v udalosti ukazuje na uzol, na ktorom sa filter nachádza. </a:t>
            </a:r>
          </a:p>
          <a:p>
            <a:pPr marL="0" indent="0">
              <a:buNone/>
            </a:pPr>
            <a:r>
              <a:rPr lang="sk-SK" b="1" dirty="0"/>
              <a:t>Cieľ</a:t>
            </a:r>
            <a:r>
              <a:rPr lang="sk-SK" dirty="0"/>
              <a:t> sa nemení a je stále nastavený na cieľový objekt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ísanie rukou 3">
                <a:extLst>
                  <a:ext uri="{FF2B5EF4-FFF2-40B4-BE49-F238E27FC236}">
                    <a16:creationId xmlns:a16="http://schemas.microsoft.com/office/drawing/2014/main" id="{AA6182FF-C4EA-C22B-E08A-87EB3D2030B0}"/>
                  </a:ext>
                </a:extLst>
              </p14:cNvPr>
              <p14:cNvContentPartPr/>
              <p14:nvPr/>
            </p14:nvContentPartPr>
            <p14:xfrm>
              <a:off x="6292417" y="1425108"/>
              <a:ext cx="2298240" cy="39960"/>
            </p14:xfrm>
          </p:contentPart>
        </mc:Choice>
        <mc:Fallback>
          <p:pic>
            <p:nvPicPr>
              <p:cNvPr id="4" name="Písanie rukou 3">
                <a:extLst>
                  <a:ext uri="{FF2B5EF4-FFF2-40B4-BE49-F238E27FC236}">
                    <a16:creationId xmlns:a16="http://schemas.microsoft.com/office/drawing/2014/main" id="{AA6182FF-C4EA-C22B-E08A-87EB3D2030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9777" y="1362468"/>
                <a:ext cx="2423880" cy="16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7162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B30C8-1475-6D75-B2E3-CB904765A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DB6E87-ADCE-B13E-AE4C-EE0A22DB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Zachytávanie udalosti - </a:t>
            </a:r>
            <a:r>
              <a:rPr lang="sk-SK" dirty="0" err="1"/>
              <a:t>capturing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FDC820-0F48-2F6E-1130-D1F26459F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10817352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hBox.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addEventFilter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MouseEvent.MOUSE_CLICKED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e -&gt; {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("Niekto klikol myšou");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});</a:t>
            </a:r>
          </a:p>
          <a:p>
            <a:pPr marL="0" indent="0">
              <a:lnSpc>
                <a:spcPct val="100000"/>
              </a:lnSpc>
              <a:buNone/>
            </a:pPr>
            <a:endParaRPr lang="sk-SK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ísanie rukou 3">
                <a:extLst>
                  <a:ext uri="{FF2B5EF4-FFF2-40B4-BE49-F238E27FC236}">
                    <a16:creationId xmlns:a16="http://schemas.microsoft.com/office/drawing/2014/main" id="{5D8AAAC9-3383-A359-E7BD-89D3EEB87ECD}"/>
                  </a:ext>
                </a:extLst>
              </p14:cNvPr>
              <p14:cNvContentPartPr/>
              <p14:nvPr/>
            </p14:nvContentPartPr>
            <p14:xfrm>
              <a:off x="6292417" y="1425108"/>
              <a:ext cx="2298240" cy="39960"/>
            </p14:xfrm>
          </p:contentPart>
        </mc:Choice>
        <mc:Fallback>
          <p:pic>
            <p:nvPicPr>
              <p:cNvPr id="4" name="Písanie rukou 3">
                <a:extLst>
                  <a:ext uri="{FF2B5EF4-FFF2-40B4-BE49-F238E27FC236}">
                    <a16:creationId xmlns:a16="http://schemas.microsoft.com/office/drawing/2014/main" id="{5D8AAAC9-3383-A359-E7BD-89D3EEB87E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29407" y="1362108"/>
                <a:ext cx="2423900" cy="16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565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7078F-970B-6858-F0DD-9039C1FF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5BD532-D815-AB40-5E99-B4462B54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Ošetrenie udalosti - </a:t>
            </a:r>
            <a:r>
              <a:rPr lang="sk-SK" dirty="0" err="1"/>
              <a:t>bubbling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1CBE808-7CA5-49FD-744E-50F69C43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10817352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Udalosť sa začne vracať späť po ceste v opačnom smere.</a:t>
            </a:r>
          </a:p>
          <a:p>
            <a:pPr marL="0" indent="0">
              <a:buNone/>
            </a:pPr>
            <a:r>
              <a:rPr lang="sk-SK" dirty="0"/>
              <a:t>Ak má uzol zaregistrovaný </a:t>
            </a:r>
            <a:r>
              <a:rPr lang="sk-SK" dirty="0" err="1"/>
              <a:t>handler</a:t>
            </a:r>
            <a:r>
              <a:rPr lang="sk-SK" dirty="0"/>
              <a:t> udalostí, tento </a:t>
            </a:r>
            <a:r>
              <a:rPr lang="sk-SK" dirty="0" err="1"/>
              <a:t>handler</a:t>
            </a:r>
            <a:r>
              <a:rPr lang="sk-SK" dirty="0"/>
              <a:t> sa vykoná.</a:t>
            </a:r>
          </a:p>
          <a:p>
            <a:pPr marL="0" indent="0">
              <a:buNone/>
            </a:pPr>
            <a:r>
              <a:rPr lang="sk-SK" dirty="0"/>
              <a:t>Väčšinou sa registruje </a:t>
            </a:r>
            <a:r>
              <a:rPr lang="sk-SK" dirty="0" err="1"/>
              <a:t>handler</a:t>
            </a:r>
            <a:r>
              <a:rPr lang="sk-SK" dirty="0"/>
              <a:t> na </a:t>
            </a:r>
            <a:r>
              <a:rPr lang="sk-SK" b="1" dirty="0"/>
              <a:t>cieľovom</a:t>
            </a:r>
            <a:r>
              <a:rPr lang="sk-SK" dirty="0"/>
              <a:t> prvku</a:t>
            </a:r>
            <a:endParaRPr lang="en-US" dirty="0"/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Registrujeme pomocou metódy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addEventHandler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/>
              <a:t>Pomocné metódy na registráciu začínajú názvom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setOn</a:t>
            </a:r>
            <a:r>
              <a:rPr lang="sk-SK" dirty="0"/>
              <a:t>, napr.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setOnMouseClicked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setOnKeyTyped</a:t>
            </a:r>
            <a:r>
              <a:rPr lang="sk-SK" dirty="0"/>
              <a:t> atď.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Písanie rukou 5">
                <a:extLst>
                  <a:ext uri="{FF2B5EF4-FFF2-40B4-BE49-F238E27FC236}">
                    <a16:creationId xmlns:a16="http://schemas.microsoft.com/office/drawing/2014/main" id="{BE63A8B0-82D6-B2A9-E4AB-2EA97BC2F6ED}"/>
                  </a:ext>
                </a:extLst>
              </p14:cNvPr>
              <p14:cNvContentPartPr/>
              <p14:nvPr/>
            </p14:nvContentPartPr>
            <p14:xfrm>
              <a:off x="5515897" y="1493148"/>
              <a:ext cx="2170080" cy="40680"/>
            </p14:xfrm>
          </p:contentPart>
        </mc:Choice>
        <mc:Fallback>
          <p:pic>
            <p:nvPicPr>
              <p:cNvPr id="6" name="Písanie rukou 5">
                <a:extLst>
                  <a:ext uri="{FF2B5EF4-FFF2-40B4-BE49-F238E27FC236}">
                    <a16:creationId xmlns:a16="http://schemas.microsoft.com/office/drawing/2014/main" id="{BE63A8B0-82D6-B2A9-E4AB-2EA97BC2F6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52897" y="1430508"/>
                <a:ext cx="2295720" cy="1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6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D9B7B-76DE-5E74-6224-ED4DDDDF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90BF7D-2CE8-7FB6-EC7A-F58EE1DD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Ošetrenie udalosti - </a:t>
            </a:r>
            <a:r>
              <a:rPr lang="sk-SK" dirty="0" err="1"/>
              <a:t>bubbling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188504C-498A-5263-ADF4-FA9369D88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10817352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plus1Button.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addEventHandler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ActionEvent.ACTION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, e -&gt; {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("Plus 1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tlačidlo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stlačené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plus1Button.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setOnAction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(e -&gt; {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("Plus 1 tlačidlo stlačené");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Písanie rukou 5">
                <a:extLst>
                  <a:ext uri="{FF2B5EF4-FFF2-40B4-BE49-F238E27FC236}">
                    <a16:creationId xmlns:a16="http://schemas.microsoft.com/office/drawing/2014/main" id="{D78E49B5-215C-0871-2C89-88DAD56ED443}"/>
                  </a:ext>
                </a:extLst>
              </p14:cNvPr>
              <p14:cNvContentPartPr/>
              <p14:nvPr/>
            </p14:nvContentPartPr>
            <p14:xfrm>
              <a:off x="5515897" y="1493148"/>
              <a:ext cx="2170080" cy="40680"/>
            </p14:xfrm>
          </p:contentPart>
        </mc:Choice>
        <mc:Fallback>
          <p:pic>
            <p:nvPicPr>
              <p:cNvPr id="6" name="Písanie rukou 5">
                <a:extLst>
                  <a:ext uri="{FF2B5EF4-FFF2-40B4-BE49-F238E27FC236}">
                    <a16:creationId xmlns:a16="http://schemas.microsoft.com/office/drawing/2014/main" id="{D78E49B5-215C-0871-2C89-88DAD56ED4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52897" y="1430148"/>
                <a:ext cx="2295720" cy="16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609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5BCB1-CBAC-EB50-184C-49DF022D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F33C34-3454-F645-EAEB-B2671478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Skonzumovanie udalosti - </a:t>
            </a:r>
            <a:r>
              <a:rPr lang="sk-SK" dirty="0" err="1"/>
              <a:t>consuming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0F618B-B6D4-8BC6-2C4E-11CB8D882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10817352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event.consume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sk-SK" dirty="0"/>
              <a:t>Spracovanie udalosti sa ukončí predčasne.</a:t>
            </a:r>
          </a:p>
          <a:p>
            <a:pPr marL="0" indent="0">
              <a:buNone/>
            </a:pPr>
            <a:r>
              <a:rPr lang="sk-SK" dirty="0"/>
              <a:t>Predvolené </a:t>
            </a:r>
            <a:r>
              <a:rPr lang="sk-SK" dirty="0" err="1"/>
              <a:t>handlery</a:t>
            </a:r>
            <a:r>
              <a:rPr lang="sk-SK" dirty="0"/>
              <a:t> </a:t>
            </a:r>
            <a:r>
              <a:rPr lang="sk-SK" dirty="0" err="1"/>
              <a:t>skozumujú</a:t>
            </a:r>
            <a:r>
              <a:rPr lang="sk-SK" dirty="0"/>
              <a:t> väčšinu vstupných udalostí, hlavne tie myšou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plus1Button.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setOnAction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(e -&gt; {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("Plus 1 tlačidlo stlačené");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e.consume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0842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39FA1-845B-25E4-BC54-C836C606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B8DA07-1D53-6D8C-9D24-6ACC089D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Udalosti</a:t>
            </a:r>
            <a:r>
              <a:rPr lang="en-US" dirty="0"/>
              <a:t> a FXML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675F686-2B6A-E6A5-A100-B9EB5C2F4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10817352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1. </a:t>
            </a:r>
            <a:r>
              <a:rPr lang="sk-SK" dirty="0" err="1"/>
              <a:t>Handler</a:t>
            </a:r>
            <a:r>
              <a:rPr lang="sk-SK" dirty="0"/>
              <a:t> funkciu vytvoríme v </a:t>
            </a:r>
            <a:r>
              <a:rPr lang="sk-SK" b="1" dirty="0" err="1"/>
              <a:t>Controller</a:t>
            </a:r>
            <a:r>
              <a:rPr lang="sk-SK" dirty="0"/>
              <a:t> triede aplikácie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Controller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 //...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@FXML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plus1(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actionEvent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("Plus 1 tlačidlo stlačené");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  }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9094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8AF79-A71F-8B90-0B5A-A6495A980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EB0E1A-88D0-AFA8-43C4-036943C4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Udalosti</a:t>
            </a:r>
            <a:r>
              <a:rPr lang="en-US" dirty="0"/>
              <a:t> a FXML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4EE020E-A91C-DA18-EFE7-3C8AD874C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3637698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2</a:t>
            </a:r>
            <a:r>
              <a:rPr lang="sk-SK" dirty="0"/>
              <a:t>. V </a:t>
            </a:r>
            <a:r>
              <a:rPr lang="sk-SK" dirty="0" err="1"/>
              <a:t>Scene</a:t>
            </a:r>
            <a:r>
              <a:rPr lang="sk-SK" dirty="0"/>
              <a:t> </a:t>
            </a:r>
            <a:r>
              <a:rPr lang="sk-SK" dirty="0" err="1"/>
              <a:t>builder</a:t>
            </a:r>
            <a:r>
              <a:rPr lang="sk-SK" dirty="0"/>
              <a:t> si označíme komponentu, pre ktorú chceme zaregistrovať </a:t>
            </a:r>
            <a:r>
              <a:rPr lang="sk-SK" dirty="0" err="1"/>
              <a:t>handler</a:t>
            </a:r>
            <a:r>
              <a:rPr lang="sk-SK" dirty="0"/>
              <a:t>, a v paneli "</a:t>
            </a:r>
            <a:r>
              <a:rPr lang="sk-SK" dirty="0" err="1"/>
              <a:t>Code</a:t>
            </a:r>
            <a:r>
              <a:rPr lang="sk-SK" dirty="0"/>
              <a:t>" vyberieme </a:t>
            </a:r>
            <a:r>
              <a:rPr lang="sk-SK" dirty="0" err="1"/>
              <a:t>handler</a:t>
            </a:r>
            <a:r>
              <a:rPr lang="sk-SK" dirty="0"/>
              <a:t> funkciu pre udalosť, ktorú chceme ošetriť</a:t>
            </a:r>
          </a:p>
          <a:p>
            <a:pPr marL="0" indent="0">
              <a:buNone/>
            </a:pPr>
            <a:endParaRPr lang="sk-SK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0574828-C190-7D9D-11AE-31EB7DF945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3" b="5577"/>
          <a:stretch>
            <a:fillRect/>
          </a:stretch>
        </p:blipFill>
        <p:spPr bwMode="auto">
          <a:xfrm>
            <a:off x="4869786" y="1455967"/>
            <a:ext cx="7322214" cy="495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667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6EB9B-7D13-38B9-B5F3-09E8BD4C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C4B3C9-8753-DBA4-0FF0-CE901940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Udalosti</a:t>
            </a:r>
            <a:r>
              <a:rPr lang="en-US" dirty="0"/>
              <a:t> a FXML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92CCFE-7407-2A9B-3CE9-85625E3A8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" y="1818968"/>
            <a:ext cx="10817352" cy="47464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sk-SK" dirty="0"/>
              <a:t>Vo </a:t>
            </a:r>
            <a:r>
              <a:rPr lang="sk-SK" dirty="0" err="1"/>
              <a:t>výsledom</a:t>
            </a:r>
            <a:r>
              <a:rPr lang="sk-SK" dirty="0"/>
              <a:t>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FXML</a:t>
            </a:r>
            <a:r>
              <a:rPr lang="sk-SK" dirty="0"/>
              <a:t> súbore sa nám potom toto zaregistrovanie zapíše ako atribút, napr.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onAction</a:t>
            </a:r>
            <a:r>
              <a:rPr lang="sk-SK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onAction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="#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plus1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style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="-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fx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-font-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size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: 18px;" text="Plus 1" /&gt;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201667058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27811</TotalTime>
  <Words>804</Words>
  <Application>Microsoft Office PowerPoint</Application>
  <PresentationFormat>Širokouhlá</PresentationFormat>
  <Paragraphs>104</Paragraphs>
  <Slides>18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22</vt:lpstr>
      <vt:lpstr>JavaFX udalosti</vt:lpstr>
      <vt:lpstr>JavaFX udalosti</vt:lpstr>
      <vt:lpstr>Prezentácia programu PowerPoint</vt:lpstr>
      <vt:lpstr>Spracovanie udalosti</vt:lpstr>
      <vt:lpstr>Nájdenie cieľa a vytvorenie cesty</vt:lpstr>
      <vt:lpstr>Prezentácia programu PowerPoint</vt:lpstr>
      <vt:lpstr>Prezentácia programu PowerPoint</vt:lpstr>
      <vt:lpstr>Prezentácia programu PowerPoint</vt:lpstr>
      <vt:lpstr>Zachytávanie udalosti - capturing</vt:lpstr>
      <vt:lpstr>Zachytávanie udalosti - capturing</vt:lpstr>
      <vt:lpstr>Ošetrenie udalosti - bubbling</vt:lpstr>
      <vt:lpstr>Ošetrenie udalosti - bubbling</vt:lpstr>
      <vt:lpstr>Skonzumovanie udalosti - consuming</vt:lpstr>
      <vt:lpstr>Udalosti a FXML</vt:lpstr>
      <vt:lpstr>Udalosti a FXML</vt:lpstr>
      <vt:lpstr>Udalosti a FXML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82</cp:revision>
  <dcterms:created xsi:type="dcterms:W3CDTF">2025-09-05T09:09:34Z</dcterms:created>
  <dcterms:modified xsi:type="dcterms:W3CDTF">2026-03-12T20:56:28Z</dcterms:modified>
</cp:coreProperties>
</file>