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77" r:id="rId3"/>
    <p:sldId id="257" r:id="rId4"/>
    <p:sldId id="258" r:id="rId5"/>
    <p:sldId id="268" r:id="rId6"/>
    <p:sldId id="269" r:id="rId7"/>
    <p:sldId id="270" r:id="rId8"/>
    <p:sldId id="271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6727942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588ED00-8EB1-B24E-FB3F-A5FB48C42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2116"/>
            <a:ext cx="10515600" cy="57148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sz="4000" dirty="0">
                <a:latin typeface="+mj-lt"/>
              </a:rPr>
              <a:t>Základné pokyny:</a:t>
            </a:r>
          </a:p>
          <a:p>
            <a:pPr lvl="1"/>
            <a:r>
              <a:rPr lang="sk-SK" sz="2800">
                <a:latin typeface="+mj-lt"/>
              </a:rPr>
              <a:t>Dodržiavať </a:t>
            </a:r>
            <a:r>
              <a:rPr lang="sk-SK" sz="2800" dirty="0">
                <a:latin typeface="+mj-lt"/>
              </a:rPr>
              <a:t>školský poriadok</a:t>
            </a:r>
          </a:p>
          <a:p>
            <a:pPr lvl="1"/>
            <a:r>
              <a:rPr lang="sk-SK" sz="2800" dirty="0">
                <a:latin typeface="+mj-lt"/>
              </a:rPr>
              <a:t>Pripravený na hodinu, zošit a notebook</a:t>
            </a:r>
          </a:p>
          <a:p>
            <a:pPr lvl="1"/>
            <a:r>
              <a:rPr lang="sk-SK" sz="2800" dirty="0">
                <a:latin typeface="+mj-lt"/>
              </a:rPr>
              <a:t>Ústne, praktické a písomné skúšania</a:t>
            </a:r>
          </a:p>
          <a:p>
            <a:pPr lvl="1"/>
            <a:r>
              <a:rPr lang="sk-SK" sz="2800" dirty="0">
                <a:latin typeface="+mj-lt"/>
              </a:rPr>
              <a:t>Ospravedlnenia pred začiatkom hodiny</a:t>
            </a:r>
          </a:p>
          <a:p>
            <a:endParaRPr lang="sk-SK" dirty="0">
              <a:latin typeface="+mj-lt"/>
            </a:endParaRPr>
          </a:p>
          <a:p>
            <a:pPr marL="0" indent="0">
              <a:buNone/>
            </a:pPr>
            <a:r>
              <a:rPr lang="sk-SK" sz="4000" dirty="0">
                <a:latin typeface="+mj-lt"/>
              </a:rPr>
              <a:t>Legenda:</a:t>
            </a:r>
          </a:p>
          <a:p>
            <a:pPr lvl="1"/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Žltý text – kód</a:t>
            </a:r>
          </a:p>
          <a:p>
            <a:pPr lvl="1"/>
            <a:r>
              <a:rPr lang="sk-SK" sz="2800" dirty="0">
                <a:solidFill>
                  <a:srgbClr val="FF0000"/>
                </a:solidFill>
              </a:rPr>
              <a:t>Červený text – poznámka do zošita</a:t>
            </a:r>
          </a:p>
          <a:p>
            <a:pPr lvl="1"/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Modré pozadie – poznámka do zošita</a:t>
            </a:r>
          </a:p>
        </p:txBody>
      </p:sp>
    </p:spTree>
    <p:extLst>
      <p:ext uri="{BB962C8B-B14F-4D97-AF65-F5344CB8AC3E}">
        <p14:creationId xmlns:p14="http://schemas.microsoft.com/office/powerpoint/2010/main" val="1676824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 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6315649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Jazyk </a:t>
            </a:r>
            <a:r>
              <a:rPr lang="sk-SK" dirty="0" err="1"/>
              <a:t>Python</a:t>
            </a:r>
            <a:r>
              <a:rPr lang="sk-SK" dirty="0"/>
              <a:t>, IDE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Semantic</a:t>
            </a:r>
            <a:r>
              <a:rPr lang="sk-SK" dirty="0"/>
              <a:t> </a:t>
            </a:r>
            <a:r>
              <a:rPr lang="sk-SK" dirty="0" err="1"/>
              <a:t>versioning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Kompilovaný </a:t>
            </a:r>
            <a:r>
              <a:rPr lang="sk-SK" dirty="0" err="1"/>
              <a:t>vs</a:t>
            </a:r>
            <a:r>
              <a:rPr lang="sk-SK" dirty="0"/>
              <a:t> Interpretovaný jazyk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Interaktívne programovanie a Skripty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Opakovanie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FAAD95A5-F511-D032-36B3-6345B022C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675" y="1410905"/>
            <a:ext cx="4032621" cy="4032621"/>
          </a:xfrm>
          <a:prstGeom prst="rect">
            <a:avLst/>
          </a:prstGeom>
        </p:spPr>
      </p:pic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6D5FFFD-949C-5777-368D-7616CC67C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659" y="922095"/>
            <a:ext cx="5642312" cy="977620"/>
          </a:xfrm>
        </p:spPr>
        <p:txBody>
          <a:bodyPr>
            <a:normAutofit/>
          </a:bodyPr>
          <a:lstStyle/>
          <a:p>
            <a:r>
              <a:rPr lang="sk-SK" sz="4000" dirty="0"/>
              <a:t>Jazyk </a:t>
            </a:r>
            <a:r>
              <a:rPr lang="sk-SK" sz="4000" dirty="0" err="1">
                <a:solidFill>
                  <a:srgbClr val="FF0000"/>
                </a:solidFill>
                <a:highlight>
                  <a:srgbClr val="00FFFF"/>
                </a:highlight>
              </a:rPr>
              <a:t>Python</a:t>
            </a:r>
            <a:endParaRPr lang="sk-SK" sz="40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834EA18-2911-E0AA-A6B4-7AC44110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659" y="1899715"/>
            <a:ext cx="5724855" cy="2728198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fr-FR" dirty="0" err="1">
                <a:solidFill>
                  <a:srgbClr val="FF0000"/>
                </a:solidFill>
                <a:highlight>
                  <a:srgbClr val="00FFFF"/>
                </a:highlight>
              </a:rPr>
              <a:t>Vlastnosti</a:t>
            </a:r>
            <a:r>
              <a:rPr lang="fr-FR" dirty="0">
                <a:solidFill>
                  <a:srgbClr val="FF0000"/>
                </a:solidFill>
                <a:highlight>
                  <a:srgbClr val="00FFFF"/>
                </a:highlight>
              </a:rPr>
              <a:t>:</a:t>
            </a:r>
          </a:p>
          <a:p>
            <a:pPr lvl="1"/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interpretovaný</a:t>
            </a:r>
          </a:p>
          <a:p>
            <a:pPr lvl="1"/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všeobecné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použitie</a:t>
            </a:r>
            <a:endParaRPr lang="fr-FR" sz="28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lvl="1"/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dynamické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typovanie</a:t>
            </a:r>
            <a:endParaRPr lang="sk-SK" sz="28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sk-SK" dirty="0">
                <a:hlinkClick r:id="rId3"/>
              </a:rPr>
              <a:t>https://www.python.org/downloads/</a:t>
            </a:r>
            <a:r>
              <a:rPr lang="sk-S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8490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EC106F-4464-5298-BDCB-06CA4CBB0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0C67BA2-42C0-6BA9-37B9-F4D75DF2A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Jazyk </a:t>
            </a:r>
            <a:r>
              <a:rPr lang="sk-SK" sz="4000" dirty="0" err="1"/>
              <a:t>Python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B25BC2E-2B3A-1FF6-FD5C-757CD44B4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5648815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dirty="0" err="1">
                <a:solidFill>
                  <a:srgbClr val="FF0000"/>
                </a:solidFill>
                <a:highlight>
                  <a:srgbClr val="00FFFF"/>
                </a:highlight>
              </a:rPr>
              <a:t>Použitie</a:t>
            </a:r>
            <a:r>
              <a:rPr lang="fr-FR" dirty="0">
                <a:solidFill>
                  <a:srgbClr val="FF0000"/>
                </a:solidFill>
                <a:highlight>
                  <a:srgbClr val="00FFFF"/>
                </a:highlight>
              </a:rPr>
              <a:t>:</a:t>
            </a:r>
          </a:p>
          <a:p>
            <a:pPr lvl="1"/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umelá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inteligencia</a:t>
            </a:r>
            <a:endParaRPr lang="fr-FR" sz="28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lvl="1"/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dátová analytika</a:t>
            </a:r>
          </a:p>
          <a:p>
            <a:pPr lvl="1"/>
            <a:endParaRPr lang="sk-SK" sz="2800" dirty="0"/>
          </a:p>
          <a:p>
            <a:pPr marL="0" indent="0">
              <a:buNone/>
            </a:pPr>
            <a:r>
              <a:rPr lang="sk-SK" i="1" dirty="0"/>
              <a:t>Novšie verzie sú často nekompatibilné so starými </a:t>
            </a:r>
            <a:br>
              <a:rPr lang="sk-SK" i="1" dirty="0"/>
            </a:br>
            <a:r>
              <a:rPr lang="sk-SK" i="1" dirty="0"/>
              <a:t>a je nutná migrácia</a:t>
            </a:r>
          </a:p>
        </p:txBody>
      </p:sp>
    </p:spTree>
    <p:extLst>
      <p:ext uri="{BB962C8B-B14F-4D97-AF65-F5344CB8AC3E}">
        <p14:creationId xmlns:p14="http://schemas.microsoft.com/office/powerpoint/2010/main" val="549049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A494FD-AC52-B6C6-3CE9-5E452A9D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 err="1">
                <a:solidFill>
                  <a:srgbClr val="FF0000"/>
                </a:solidFill>
                <a:highlight>
                  <a:srgbClr val="00FFFF"/>
                </a:highlight>
              </a:rPr>
              <a:t>Semantic</a:t>
            </a:r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sz="4000" dirty="0" err="1">
                <a:solidFill>
                  <a:srgbClr val="FF0000"/>
                </a:solidFill>
                <a:highlight>
                  <a:srgbClr val="00FFFF"/>
                </a:highlight>
              </a:rPr>
              <a:t>versioning</a:t>
            </a:r>
            <a:endParaRPr lang="sk-SK" sz="40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032" y="1845734"/>
            <a:ext cx="8905569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fr-FR" sz="2800" dirty="0" err="1"/>
              <a:t>Vytváranie</a:t>
            </a:r>
            <a:r>
              <a:rPr lang="fr-FR" sz="2800" dirty="0"/>
              <a:t> </a:t>
            </a:r>
            <a:r>
              <a:rPr lang="fr-FR" sz="2800" dirty="0" err="1"/>
              <a:t>verzií</a:t>
            </a:r>
            <a:r>
              <a:rPr lang="fr-FR" sz="2800" dirty="0"/>
              <a:t> vo </a:t>
            </a:r>
            <a:r>
              <a:rPr lang="fr-FR" sz="2800" dirty="0" err="1"/>
              <a:t>formáte</a:t>
            </a:r>
            <a:r>
              <a:rPr lang="fr-FR" sz="2800" dirty="0"/>
              <a:t> </a:t>
            </a:r>
            <a:r>
              <a:rPr lang="fr-FR" sz="2800" i="1" dirty="0">
                <a:solidFill>
                  <a:srgbClr val="FF0000"/>
                </a:solidFill>
                <a:highlight>
                  <a:srgbClr val="00FFFF"/>
                </a:highlight>
              </a:rPr>
              <a:t>MAJOR.MINOR.PATCH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fr-FR" sz="2800" dirty="0" err="1"/>
              <a:t>Používané</a:t>
            </a:r>
            <a:r>
              <a:rPr lang="fr-FR" sz="2800" dirty="0"/>
              <a:t> </a:t>
            </a:r>
            <a:r>
              <a:rPr lang="fr-FR" sz="2800" dirty="0" err="1"/>
              <a:t>napr</a:t>
            </a:r>
            <a:r>
              <a:rPr lang="fr-FR" sz="2800" dirty="0"/>
              <a:t>. v </a:t>
            </a:r>
            <a:r>
              <a:rPr lang="fr-FR" sz="2800" dirty="0" err="1"/>
              <a:t>knižniciach</a:t>
            </a:r>
            <a:r>
              <a:rPr lang="fr-FR" sz="2800" dirty="0"/>
              <a:t> v </a:t>
            </a:r>
            <a:r>
              <a:rPr lang="fr-FR" sz="2800" dirty="0" err="1"/>
              <a:t>Javascripte</a:t>
            </a:r>
            <a:r>
              <a:rPr lang="fr-FR" sz="2800" dirty="0"/>
              <a:t>, Pythone a </a:t>
            </a:r>
            <a:r>
              <a:rPr lang="fr-FR" sz="2800" dirty="0" err="1"/>
              <a:t>Jave</a:t>
            </a:r>
            <a:r>
              <a:rPr lang="fr-FR" sz="2800" dirty="0"/>
              <a:t>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Príklad: 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3.13.7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,  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1.0.0</a:t>
            </a:r>
          </a:p>
          <a:p>
            <a:pPr lvl="1">
              <a:spcBef>
                <a:spcPts val="1200"/>
              </a:spcBef>
            </a:pPr>
            <a:r>
              <a:rPr lang="fr-FR" sz="2800" i="1" dirty="0">
                <a:solidFill>
                  <a:srgbClr val="FF0000"/>
                </a:solidFill>
                <a:highlight>
                  <a:srgbClr val="00FFFF"/>
                </a:highlight>
              </a:rPr>
              <a:t>MAJOR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: veľké a nekompatibilné zmeny</a:t>
            </a:r>
          </a:p>
          <a:p>
            <a:pPr lvl="1">
              <a:spcBef>
                <a:spcPts val="1200"/>
              </a:spcBef>
            </a:pPr>
            <a:r>
              <a:rPr lang="fr-FR" sz="2800" i="1" dirty="0">
                <a:solidFill>
                  <a:srgbClr val="FF0000"/>
                </a:solidFill>
                <a:highlight>
                  <a:srgbClr val="00FFFF"/>
                </a:highlight>
              </a:rPr>
              <a:t>MINOR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: nová funkcionalita, spätne kompatibilná</a:t>
            </a:r>
          </a:p>
          <a:p>
            <a:pPr lvl="1">
              <a:spcBef>
                <a:spcPts val="1200"/>
              </a:spcBef>
            </a:pPr>
            <a:r>
              <a:rPr lang="fr-FR" sz="2800" i="1" dirty="0">
                <a:solidFill>
                  <a:srgbClr val="FF0000"/>
                </a:solidFill>
                <a:highlight>
                  <a:srgbClr val="00FFFF"/>
                </a:highlight>
              </a:rPr>
              <a:t>PATCH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: oprava chýb</a:t>
            </a:r>
            <a:endParaRPr lang="sk-SK" sz="2800" i="1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33D3A-BF72-2A0C-E7BF-D719609D3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53F62B7-D01A-1E56-E45B-F0991783B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488891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Kompilovaný </a:t>
            </a:r>
            <a:r>
              <a:rPr lang="sk-SK" sz="4000" dirty="0" err="1">
                <a:solidFill>
                  <a:srgbClr val="FF0000"/>
                </a:solidFill>
                <a:highlight>
                  <a:srgbClr val="00FFFF"/>
                </a:highlight>
              </a:rPr>
              <a:t>vs</a:t>
            </a:r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 Interpretovaný jazyk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8648A29-7DD6-F8B0-881A-549454B78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fr-FR" sz="3200" dirty="0" err="1">
                <a:solidFill>
                  <a:srgbClr val="FF0000"/>
                </a:solidFill>
                <a:highlight>
                  <a:srgbClr val="00FFFF"/>
                </a:highlight>
              </a:rPr>
              <a:t>Interpretovaný</a:t>
            </a:r>
            <a:r>
              <a:rPr lang="fr-FR" sz="32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3200" dirty="0" err="1">
                <a:solidFill>
                  <a:srgbClr val="FF0000"/>
                </a:solidFill>
                <a:highlight>
                  <a:srgbClr val="00FFFF"/>
                </a:highlight>
              </a:rPr>
              <a:t>jazyk</a:t>
            </a:r>
            <a:r>
              <a:rPr lang="fr-FR" sz="3200" dirty="0">
                <a:solidFill>
                  <a:srgbClr val="FF0000"/>
                </a:solidFill>
                <a:highlight>
                  <a:srgbClr val="00FFFF"/>
                </a:highlight>
              </a:rPr>
              <a:t>: </a:t>
            </a:r>
          </a:p>
          <a:p>
            <a:pPr lvl="1">
              <a:spcBef>
                <a:spcPts val="1200"/>
              </a:spcBef>
            </a:pPr>
            <a:r>
              <a:rPr lang="fr-FR" sz="3200" dirty="0" err="1">
                <a:solidFill>
                  <a:srgbClr val="FF0000"/>
                </a:solidFill>
                <a:highlight>
                  <a:srgbClr val="00FFFF"/>
                </a:highlight>
              </a:rPr>
              <a:t>interaktívny</a:t>
            </a:r>
            <a:r>
              <a:rPr lang="fr-FR" sz="3200" dirty="0">
                <a:solidFill>
                  <a:srgbClr val="FF0000"/>
                </a:solidFill>
                <a:highlight>
                  <a:srgbClr val="00FFFF"/>
                </a:highlight>
              </a:rPr>
              <a:t>, </a:t>
            </a:r>
            <a:r>
              <a:rPr lang="fr-FR" sz="3200" dirty="0" err="1">
                <a:solidFill>
                  <a:srgbClr val="FF0000"/>
                </a:solidFill>
                <a:highlight>
                  <a:srgbClr val="00FFFF"/>
                </a:highlight>
              </a:rPr>
              <a:t>skriptovací</a:t>
            </a:r>
            <a:r>
              <a:rPr lang="fr-FR" sz="3200" dirty="0">
                <a:solidFill>
                  <a:srgbClr val="FF0000"/>
                </a:solidFill>
                <a:highlight>
                  <a:srgbClr val="00FFFF"/>
                </a:highlight>
              </a:rPr>
              <a:t>, </a:t>
            </a:r>
            <a:r>
              <a:rPr lang="fr-FR" sz="3200" dirty="0" err="1">
                <a:solidFill>
                  <a:srgbClr val="FF0000"/>
                </a:solidFill>
                <a:highlight>
                  <a:srgbClr val="00FFFF"/>
                </a:highlight>
              </a:rPr>
              <a:t>pomalší</a:t>
            </a:r>
            <a:endParaRPr lang="fr-FR" sz="32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lvl="1">
              <a:spcBef>
                <a:spcPts val="1200"/>
              </a:spcBef>
            </a:pPr>
            <a:r>
              <a:rPr lang="fr-FR" sz="3200" dirty="0" err="1">
                <a:solidFill>
                  <a:srgbClr val="FF0000"/>
                </a:solidFill>
                <a:highlight>
                  <a:srgbClr val="00FFFF"/>
                </a:highlight>
              </a:rPr>
              <a:t>potrebuje</a:t>
            </a:r>
            <a:r>
              <a:rPr lang="fr-FR" sz="32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3200" dirty="0" err="1">
                <a:solidFill>
                  <a:srgbClr val="FF0000"/>
                </a:solidFill>
                <a:highlight>
                  <a:srgbClr val="00FFFF"/>
                </a:highlight>
              </a:rPr>
              <a:t>interpreter</a:t>
            </a:r>
            <a:endParaRPr lang="fr-FR" sz="32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lvl="1">
              <a:spcBef>
                <a:spcPts val="1200"/>
              </a:spcBef>
            </a:pPr>
            <a:r>
              <a:rPr lang="fr-FR" sz="3200" dirty="0">
                <a:solidFill>
                  <a:srgbClr val="FF0000"/>
                </a:solidFill>
                <a:highlight>
                  <a:srgbClr val="00FFFF"/>
                </a:highlight>
              </a:rPr>
              <a:t>Python, PHP, Javascript</a:t>
            </a:r>
            <a:endParaRPr lang="sk-SK" sz="3200" i="1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64680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563E8-AC5F-7974-4FFB-F324863DA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6229BF-92FA-6A9F-D0D3-ADBC793AD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/>
              <a:t>Kompilovaný </a:t>
            </a:r>
            <a:r>
              <a:rPr lang="sk-SK" sz="4000" dirty="0" err="1"/>
              <a:t>vs</a:t>
            </a:r>
            <a:r>
              <a:rPr lang="sk-SK" sz="4000" dirty="0"/>
              <a:t> Interpretovaný jazyk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69A8055-7CD3-E213-2C09-D391F2153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368" y="1845734"/>
            <a:ext cx="10304205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Kompilovaný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jazyk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: </a:t>
            </a:r>
          </a:p>
          <a:p>
            <a:pPr lvl="1">
              <a:spcBef>
                <a:spcPts val="1200"/>
              </a:spcBef>
            </a:pP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rýchly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, program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spustím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až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keď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ho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skompilujem</a:t>
            </a:r>
            <a:endParaRPr lang="fr-FR" sz="28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lvl="1">
              <a:spcBef>
                <a:spcPts val="1200"/>
              </a:spcBef>
            </a:pP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chyby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nájde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ešte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pred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spustením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programu</a:t>
            </a:r>
            <a:endParaRPr lang="fr-FR" sz="28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lvl="1">
              <a:spcBef>
                <a:spcPts val="1200"/>
              </a:spcBef>
            </a:pP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špeciálna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verzia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pre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každý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fr-FR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typ</a:t>
            </a: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 OS a CPU</a:t>
            </a:r>
          </a:p>
          <a:p>
            <a:pPr lvl="1">
              <a:spcBef>
                <a:spcPts val="1200"/>
              </a:spcBef>
            </a:pPr>
            <a:r>
              <a:rPr lang="fr-FR" sz="2800" dirty="0">
                <a:solidFill>
                  <a:srgbClr val="FF0000"/>
                </a:solidFill>
                <a:highlight>
                  <a:srgbClr val="00FFFF"/>
                </a:highlight>
              </a:rPr>
              <a:t>C, C++, Rust, Swift</a:t>
            </a:r>
            <a:endParaRPr lang="sk-SK" sz="2800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lvl="1">
              <a:spcBef>
                <a:spcPts val="1200"/>
              </a:spcBef>
            </a:pPr>
            <a:endParaRPr lang="sk-SK" sz="2800" i="1" dirty="0"/>
          </a:p>
          <a:p>
            <a:pPr marL="0" indent="0">
              <a:spcBef>
                <a:spcPts val="1200"/>
              </a:spcBef>
              <a:buNone/>
            </a:pPr>
            <a:r>
              <a:rPr lang="sk-SK" sz="2800" dirty="0"/>
              <a:t>Java je hybrid, kód sa skompiluje do </a:t>
            </a:r>
            <a:r>
              <a:rPr lang="sk-SK" sz="2800" dirty="0" err="1"/>
              <a:t>bytekódu</a:t>
            </a:r>
            <a:r>
              <a:rPr lang="sk-SK" sz="2800" dirty="0"/>
              <a:t> a ten sa interpretuje cez JVM	</a:t>
            </a:r>
            <a:endParaRPr lang="sk-SK" sz="2800" i="1" dirty="0"/>
          </a:p>
        </p:txBody>
      </p:sp>
    </p:spTree>
    <p:extLst>
      <p:ext uri="{BB962C8B-B14F-4D97-AF65-F5344CB8AC3E}">
        <p14:creationId xmlns:p14="http://schemas.microsoft.com/office/powerpoint/2010/main" val="1540767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894FC7-A239-06BA-19C3-62DCE6E1F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CE15BC-77F8-E9E3-3D14-FF2A1765D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 err="1">
                <a:solidFill>
                  <a:srgbClr val="FF0000"/>
                </a:solidFill>
                <a:highlight>
                  <a:srgbClr val="00FFFF"/>
                </a:highlight>
              </a:rPr>
              <a:t>Python</a:t>
            </a:r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 program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96CFB3B-0CF6-F414-56F8-6C8F5F3B3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5677" y="1575367"/>
            <a:ext cx="8703480" cy="397002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Interaktívne programovanie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- zadám príkaz a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python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vypíše výsledok.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Skript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príkazy v súbore s príponou .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py</a:t>
            </a:r>
            <a:endParaRPr lang="sk-SK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endParaRPr lang="sk-SK" sz="2800" dirty="0"/>
          </a:p>
        </p:txBody>
      </p:sp>
    </p:spTree>
    <p:extLst>
      <p:ext uri="{BB962C8B-B14F-4D97-AF65-F5344CB8AC3E}">
        <p14:creationId xmlns:p14="http://schemas.microsoft.com/office/powerpoint/2010/main" val="1253372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9645D-3DE6-31A1-2E12-2EEEF0394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3F4367-6FA3-4AEE-1997-FDF75A9C7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Opakovanie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64145DB-D746-7FAF-ADA1-8514DD2B3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218" y="1575367"/>
            <a:ext cx="10311581" cy="4805768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Premenná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- pomenovaná referencia na objekt v pamäti počítača, 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 = 10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Konštanta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- hodnota sa nemá meniť, názov veľkými písmenami, 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MAX = 20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Štandardný výstup 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-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Štandardný vstup 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-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input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F-</a:t>
            </a:r>
            <a:r>
              <a:rPr lang="sk-SK" sz="2800" b="1" dirty="0" err="1">
                <a:solidFill>
                  <a:srgbClr val="FF0000"/>
                </a:solidFill>
                <a:highlight>
                  <a:srgbClr val="00FFFF"/>
                </a:highlight>
              </a:rPr>
              <a:t>String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- Vkladanie premenných do reťazca,</a:t>
            </a:r>
            <a:b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</a:b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f"Ahoj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{meno} z obce {obec}!"</a:t>
            </a:r>
          </a:p>
        </p:txBody>
      </p:sp>
    </p:spTree>
    <p:extLst>
      <p:ext uri="{BB962C8B-B14F-4D97-AF65-F5344CB8AC3E}">
        <p14:creationId xmlns:p14="http://schemas.microsoft.com/office/powerpoint/2010/main" val="1366001057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353</TotalTime>
  <Words>318</Words>
  <Application>Microsoft Office PowerPoint</Application>
  <PresentationFormat>Širokouhlá</PresentationFormat>
  <Paragraphs>62</Paragraphs>
  <Slides>10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Prezentácia programu PowerPoint</vt:lpstr>
      <vt:lpstr>OPGP  Pokročilí 1</vt:lpstr>
      <vt:lpstr>Jazyk Python</vt:lpstr>
      <vt:lpstr>Jazyk Python</vt:lpstr>
      <vt:lpstr>Semantic versioning</vt:lpstr>
      <vt:lpstr>Kompilovaný vs Interpretovaný jazyk</vt:lpstr>
      <vt:lpstr>Kompilovaný vs Interpretovaný jazyk</vt:lpstr>
      <vt:lpstr>Python program</vt:lpstr>
      <vt:lpstr>Opakovanie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9</cp:revision>
  <dcterms:created xsi:type="dcterms:W3CDTF">2025-09-05T09:09:34Z</dcterms:created>
  <dcterms:modified xsi:type="dcterms:W3CDTF">2026-09-03T20:56:50Z</dcterms:modified>
</cp:coreProperties>
</file>