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96" r:id="rId1"/>
  </p:sldMasterIdLst>
  <p:sldIdLst>
    <p:sldId id="266" r:id="rId2"/>
    <p:sldId id="257" r:id="rId3"/>
    <p:sldId id="283" r:id="rId4"/>
    <p:sldId id="299" r:id="rId5"/>
    <p:sldId id="296" r:id="rId6"/>
    <p:sldId id="297" r:id="rId7"/>
    <p:sldId id="29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3. 6. 2026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3. 6. 2026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3. 6. 2026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3. 6. 2026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3. 6. 2026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3. 6. 2026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3. 6. 2026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3. 6. 2026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3. 6. 2026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3. 6. 2026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3. 6. 2026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3. 6. 2026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br>
              <a:rPr lang="en-US" sz="4000" dirty="0"/>
            </a:br>
            <a:r>
              <a:rPr lang="en-US" sz="4000" dirty="0"/>
              <a:t>- </a:t>
            </a:r>
            <a:r>
              <a:rPr lang="en-US" sz="4000" i="1" dirty="0" err="1"/>
              <a:t>pokro</a:t>
            </a:r>
            <a:r>
              <a:rPr lang="sk-SK" sz="4000" i="1" dirty="0" err="1"/>
              <a:t>čilí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OPGP  Pokročilí</a:t>
            </a:r>
            <a:r>
              <a:rPr lang="en-US" sz="4000" dirty="0"/>
              <a:t> </a:t>
            </a:r>
            <a:r>
              <a:rPr lang="sk-SK" sz="4000" dirty="0"/>
              <a:t>2</a:t>
            </a:r>
            <a:r>
              <a:rPr lang="en-US" sz="4000" dirty="0"/>
              <a:t>7</a:t>
            </a:r>
            <a:br>
              <a:rPr lang="en-US" sz="4000" dirty="0"/>
            </a:b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7" y="1338729"/>
            <a:ext cx="6482802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Web Scraper – </a:t>
            </a:r>
            <a:r>
              <a:rPr lang="sk-SK" dirty="0"/>
              <a:t>princíp fungovania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Nástroje pre Web </a:t>
            </a:r>
            <a:r>
              <a:rPr lang="sk-SK" dirty="0" err="1"/>
              <a:t>Scraping</a:t>
            </a:r>
            <a:endParaRPr lang="sk-SK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Platforma</a:t>
            </a:r>
            <a:r>
              <a:rPr lang="en-US" dirty="0"/>
              <a:t> </a:t>
            </a:r>
            <a:r>
              <a:rPr lang="en-US" dirty="0" err="1"/>
              <a:t>Apify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F34094-F190-314F-5CCB-9E270F9DD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3E8B18F-B5AD-1DC8-F63B-8510FD478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130" y="1610468"/>
            <a:ext cx="11300411" cy="46922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Web scraper je názov pre programy, ktoré systematicky prehľadávajú webovú lokalitu a sťahujú z nej dáta</a:t>
            </a:r>
          </a:p>
          <a:p>
            <a:pPr marL="0" indent="0">
              <a:buNone/>
            </a:pPr>
            <a:r>
              <a:rPr lang="sk-SK" dirty="0"/>
              <a:t>Princíp fungovania:</a:t>
            </a:r>
          </a:p>
          <a:p>
            <a:pPr marL="457200" lvl="1" indent="0">
              <a:buNone/>
            </a:pPr>
            <a:r>
              <a:rPr lang="sk-SK" dirty="0"/>
              <a:t>Scraper začína na štartovacej URL adrese</a:t>
            </a:r>
          </a:p>
          <a:p>
            <a:pPr marL="457200" lvl="1" indent="0">
              <a:buNone/>
            </a:pPr>
            <a:endParaRPr lang="sk-SK" dirty="0"/>
          </a:p>
          <a:p>
            <a:pPr marL="971550" lvl="1" indent="-514350">
              <a:buFont typeface="+mj-lt"/>
              <a:buAutoNum type="arabicPeriod"/>
            </a:pPr>
            <a:r>
              <a:rPr lang="sk-SK" dirty="0"/>
              <a:t>Pošle HTTP požiadavku a stiahne HTML súbor so stránkou.</a:t>
            </a:r>
          </a:p>
          <a:p>
            <a:pPr marL="971550" lvl="1" indent="-514350">
              <a:buFont typeface="+mj-lt"/>
              <a:buAutoNum type="arabicPeriod"/>
            </a:pPr>
            <a:r>
              <a:rPr lang="sk-SK" dirty="0" err="1"/>
              <a:t>Zparsuje</a:t>
            </a:r>
            <a:r>
              <a:rPr lang="sk-SK" dirty="0"/>
              <a:t> a zanalyzuje HTML kód stránky a nájde URL odkazy na ďalšie stránky alebo súbory</a:t>
            </a:r>
          </a:p>
          <a:p>
            <a:pPr marL="971550" lvl="1" indent="-514350">
              <a:buFont typeface="+mj-lt"/>
              <a:buAutoNum type="arabicPeriod"/>
            </a:pPr>
            <a:r>
              <a:rPr lang="sk-SK" dirty="0"/>
              <a:t>Stiahne súbory, o ktoré máme záujem</a:t>
            </a:r>
          </a:p>
          <a:p>
            <a:pPr marL="971550" lvl="1" indent="-514350">
              <a:buFont typeface="+mj-lt"/>
              <a:buAutoNum type="arabicPeriod"/>
            </a:pPr>
            <a:r>
              <a:rPr lang="sk-SK" dirty="0"/>
              <a:t>Z nájdených URL odkazov vyberie tie, o ktoré máme záujem a pokračuje bodom 1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A9C42A5D-33AB-425B-E11E-FCC77950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Web scraper</a:t>
            </a:r>
          </a:p>
        </p:txBody>
      </p:sp>
    </p:spTree>
    <p:extLst>
      <p:ext uri="{BB962C8B-B14F-4D97-AF65-F5344CB8AC3E}">
        <p14:creationId xmlns:p14="http://schemas.microsoft.com/office/powerpoint/2010/main" val="886049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345952-9128-0F4D-DDCA-10B30BC6F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FB4D881-6B7C-5341-6C94-23E921C03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130" y="1610468"/>
            <a:ext cx="11300411" cy="46922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Aby scraper nepokračoval do nekonečna, musí si:</a:t>
            </a:r>
          </a:p>
          <a:p>
            <a:pPr lvl="1"/>
            <a:r>
              <a:rPr lang="sk-SK" sz="2800" dirty="0"/>
              <a:t>pamätať už navštívené stránky</a:t>
            </a:r>
          </a:p>
          <a:p>
            <a:pPr lvl="1"/>
            <a:r>
              <a:rPr lang="sk-SK" sz="2800" dirty="0"/>
              <a:t>ukončiť </a:t>
            </a:r>
            <a:r>
              <a:rPr lang="sk-SK" sz="2800" dirty="0" err="1"/>
              <a:t>scrapovanie</a:t>
            </a:r>
            <a:r>
              <a:rPr lang="sk-SK" sz="2800" dirty="0"/>
              <a:t> po určitom počte stránok, resp. súborov</a:t>
            </a:r>
          </a:p>
          <a:p>
            <a:pPr lvl="1"/>
            <a:r>
              <a:rPr lang="sk-SK" sz="2800" dirty="0"/>
              <a:t>ukončiť po určitom čase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Pri pokročilom </a:t>
            </a:r>
            <a:r>
              <a:rPr lang="sk-SK" dirty="0" err="1"/>
              <a:t>scrapovaní</a:t>
            </a:r>
            <a:r>
              <a:rPr lang="sk-SK" dirty="0"/>
              <a:t> nestačí iba stiahnuť HTML súbor, ale scraper musí vykonať aj </a:t>
            </a:r>
            <a:r>
              <a:rPr lang="sk-SK" dirty="0" err="1"/>
              <a:t>Javascript</a:t>
            </a:r>
            <a:r>
              <a:rPr lang="sk-SK" dirty="0"/>
              <a:t> kód na stránke a tváriť sa, že je </a:t>
            </a:r>
            <a:r>
              <a:rPr lang="sk-SK" dirty="0" err="1"/>
              <a:t>regulérny</a:t>
            </a:r>
            <a:r>
              <a:rPr lang="sk-SK" dirty="0"/>
              <a:t> prehliadač.</a:t>
            </a:r>
          </a:p>
          <a:p>
            <a:pPr lvl="1"/>
            <a:endParaRPr lang="sk-SK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4ABB83ED-0D30-23BE-D992-2FF911631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Web scraper</a:t>
            </a:r>
          </a:p>
        </p:txBody>
      </p:sp>
    </p:spTree>
    <p:extLst>
      <p:ext uri="{BB962C8B-B14F-4D97-AF65-F5344CB8AC3E}">
        <p14:creationId xmlns:p14="http://schemas.microsoft.com/office/powerpoint/2010/main" val="3396652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DA4C77-D4FA-AEFE-29C9-1B3F6D90C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D03ED2E-35F9-FF9D-39A5-02C75EA52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130" y="1610468"/>
            <a:ext cx="11526554" cy="46922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Najčastejšie </a:t>
            </a:r>
            <a:r>
              <a:rPr lang="sk-SK" dirty="0" err="1"/>
              <a:t>Python</a:t>
            </a:r>
            <a:r>
              <a:rPr lang="sk-SK" dirty="0"/>
              <a:t> a </a:t>
            </a:r>
            <a:r>
              <a:rPr lang="sk-SK" dirty="0" err="1"/>
              <a:t>Javascript</a:t>
            </a:r>
            <a:r>
              <a:rPr lang="sk-SK" dirty="0"/>
              <a:t> (</a:t>
            </a:r>
            <a:r>
              <a:rPr lang="sk-SK" dirty="0" err="1"/>
              <a:t>Typescript</a:t>
            </a:r>
            <a:r>
              <a:rPr lang="sk-SK" dirty="0"/>
              <a:t>)</a:t>
            </a:r>
          </a:p>
          <a:p>
            <a:pPr marL="0" indent="0">
              <a:buNone/>
            </a:pPr>
            <a:r>
              <a:rPr lang="sk-SK" dirty="0"/>
              <a:t>Sú to často stredne veľké skripty, ktoré necháte bežať buď lokálne na vašom počítači, alebo na prenajatom serveri. Populárne </a:t>
            </a:r>
            <a:r>
              <a:rPr lang="sk-SK" dirty="0" err="1"/>
              <a:t>Python</a:t>
            </a:r>
            <a:r>
              <a:rPr lang="sk-SK" dirty="0"/>
              <a:t> nástroje:</a:t>
            </a:r>
          </a:p>
          <a:p>
            <a:pPr lvl="1"/>
            <a:r>
              <a:rPr lang="sk-SK" b="1" dirty="0" err="1"/>
              <a:t>Requests</a:t>
            </a:r>
            <a:r>
              <a:rPr lang="sk-SK" dirty="0"/>
              <a:t> — Najpoužívanejšia knižnica na odosielanie HTTP požiadaviek.</a:t>
            </a:r>
          </a:p>
          <a:p>
            <a:pPr lvl="1"/>
            <a:r>
              <a:rPr lang="sk-SK" b="1" dirty="0" err="1"/>
              <a:t>Crawlee</a:t>
            </a:r>
            <a:r>
              <a:rPr lang="sk-SK" dirty="0"/>
              <a:t> - </a:t>
            </a:r>
            <a:r>
              <a:rPr lang="sk-SK" dirty="0" err="1"/>
              <a:t>Open-source</a:t>
            </a:r>
            <a:r>
              <a:rPr lang="sk-SK" dirty="0"/>
              <a:t> </a:t>
            </a:r>
            <a:r>
              <a:rPr lang="sk-SK" dirty="0" err="1"/>
              <a:t>crawling</a:t>
            </a:r>
            <a:r>
              <a:rPr lang="sk-SK" dirty="0"/>
              <a:t> </a:t>
            </a:r>
            <a:r>
              <a:rPr lang="sk-SK" dirty="0" err="1"/>
              <a:t>framework</a:t>
            </a:r>
            <a:r>
              <a:rPr lang="sk-SK" dirty="0"/>
              <a:t> - moderný nástroj na tvorbu robustných scraperov</a:t>
            </a:r>
          </a:p>
          <a:p>
            <a:pPr lvl="1"/>
            <a:r>
              <a:rPr lang="sk-SK" b="1" dirty="0" err="1"/>
              <a:t>BeautifulSoup</a:t>
            </a:r>
            <a:r>
              <a:rPr lang="sk-SK" dirty="0"/>
              <a:t> — Knižnica na </a:t>
            </a:r>
            <a:r>
              <a:rPr lang="sk-SK" dirty="0" err="1"/>
              <a:t>parsovanie</a:t>
            </a:r>
            <a:r>
              <a:rPr lang="sk-SK" dirty="0"/>
              <a:t> HTML a jednoduchú extrakciu dát.</a:t>
            </a:r>
          </a:p>
          <a:p>
            <a:pPr lvl="1"/>
            <a:r>
              <a:rPr lang="sk-SK" b="1" dirty="0" err="1"/>
              <a:t>Scrapy</a:t>
            </a:r>
            <a:r>
              <a:rPr lang="sk-SK" dirty="0"/>
              <a:t> — Plnohodnotný </a:t>
            </a:r>
            <a:r>
              <a:rPr lang="sk-SK" dirty="0" err="1"/>
              <a:t>framework</a:t>
            </a:r>
            <a:r>
              <a:rPr lang="sk-SK" dirty="0"/>
              <a:t> na veľké a škálovateľné </a:t>
            </a:r>
            <a:r>
              <a:rPr lang="sk-SK" dirty="0" err="1"/>
              <a:t>crawling</a:t>
            </a:r>
            <a:r>
              <a:rPr lang="sk-SK" dirty="0"/>
              <a:t> projekty.</a:t>
            </a:r>
          </a:p>
          <a:p>
            <a:pPr lvl="1"/>
            <a:r>
              <a:rPr lang="sk-SK" b="1" dirty="0" err="1"/>
              <a:t>Playwright</a:t>
            </a:r>
            <a:r>
              <a:rPr lang="sk-SK" dirty="0"/>
              <a:t> — Knižnica na automatizáciu prehliadača pri dynamických stránkach.</a:t>
            </a:r>
          </a:p>
          <a:p>
            <a:pPr lvl="1"/>
            <a:r>
              <a:rPr lang="sk-SK" b="1" dirty="0" err="1"/>
              <a:t>Selenium</a:t>
            </a:r>
            <a:r>
              <a:rPr lang="sk-SK" dirty="0"/>
              <a:t> — Klasická knižnica na ovládanie reálneho prehliadača</a:t>
            </a:r>
          </a:p>
          <a:p>
            <a:pPr marL="0" indent="0">
              <a:buNone/>
            </a:pPr>
            <a:endParaRPr lang="sk-SK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5E7DDDA0-F925-58CD-E94D-AF11F139A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Nástroje pre Web </a:t>
            </a:r>
            <a:r>
              <a:rPr lang="sk-SK" dirty="0" err="1"/>
              <a:t>Scraping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744756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3C6FF-EAAA-8F5D-FCE5-8AD5B4D6D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A69772B-C869-1B58-4745-3FE95F28B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130" y="1610468"/>
            <a:ext cx="11300411" cy="4692225"/>
          </a:xfrm>
        </p:spPr>
        <p:txBody>
          <a:bodyPr>
            <a:noAutofit/>
          </a:bodyPr>
          <a:lstStyle/>
          <a:p>
            <a:r>
              <a:rPr lang="sk-SK" dirty="0"/>
              <a:t>Zbierajte </a:t>
            </a:r>
            <a:r>
              <a:rPr lang="sk-SK" b="1" dirty="0"/>
              <a:t>len verejné dáta</a:t>
            </a:r>
            <a:endParaRPr lang="sk-SK" dirty="0"/>
          </a:p>
          <a:p>
            <a:r>
              <a:rPr lang="sk-SK" dirty="0"/>
              <a:t>Rešpektujte </a:t>
            </a:r>
            <a:r>
              <a:rPr lang="sk-SK" b="1" dirty="0" err="1"/>
              <a:t>Terms</a:t>
            </a:r>
            <a:r>
              <a:rPr lang="sk-SK" b="1" dirty="0"/>
              <a:t> of Service</a:t>
            </a:r>
            <a:r>
              <a:rPr lang="sk-SK" dirty="0"/>
              <a:t> stránok</a:t>
            </a:r>
          </a:p>
          <a:p>
            <a:r>
              <a:rPr lang="sk-SK" dirty="0"/>
              <a:t>Pri osobných údajoch dodržiavajte </a:t>
            </a:r>
            <a:r>
              <a:rPr lang="sk-SK" b="1" dirty="0"/>
              <a:t>GDPR</a:t>
            </a:r>
            <a:endParaRPr lang="sk-SK" dirty="0"/>
          </a:p>
          <a:p>
            <a:r>
              <a:rPr lang="sk-SK" dirty="0"/>
              <a:t>Nevytvárajte </a:t>
            </a:r>
            <a:r>
              <a:rPr lang="sk-SK" dirty="0" err="1"/>
              <a:t>DDoS</a:t>
            </a:r>
            <a:r>
              <a:rPr lang="sk-SK" dirty="0"/>
              <a:t> útoky – </a:t>
            </a:r>
            <a:r>
              <a:rPr lang="sk-SK" dirty="0" err="1"/>
              <a:t>scraping</a:t>
            </a:r>
            <a:r>
              <a:rPr lang="sk-SK" dirty="0"/>
              <a:t> nie je útok</a:t>
            </a:r>
          </a:p>
          <a:p>
            <a:r>
              <a:rPr lang="sk-SK" dirty="0"/>
              <a:t>Buďte transparentní (v User-Agent hlavičke môžete uviesť, že ste scraper)</a:t>
            </a:r>
          </a:p>
          <a:p>
            <a:endParaRPr lang="sk-SK" dirty="0"/>
          </a:p>
          <a:p>
            <a:pPr marL="0" indent="0">
              <a:buNone/>
            </a:pPr>
            <a:r>
              <a:rPr lang="sk-SK" dirty="0"/>
              <a:t>Web </a:t>
            </a:r>
            <a:r>
              <a:rPr lang="sk-SK" dirty="0" err="1"/>
              <a:t>scraping</a:t>
            </a:r>
            <a:r>
              <a:rPr lang="sk-SK" dirty="0"/>
              <a:t> je legálny nástroj, ale jeho zneužitie môže mať právne následky. Vždy postupujte eticky a zodpovedne.</a:t>
            </a:r>
          </a:p>
          <a:p>
            <a:endParaRPr lang="sk-SK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B9E340E-7402-D0B7-FF6B-9CC4D72E8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957"/>
            <a:ext cx="10515600" cy="1325563"/>
          </a:xfrm>
        </p:spPr>
        <p:txBody>
          <a:bodyPr/>
          <a:lstStyle/>
          <a:p>
            <a:r>
              <a:rPr lang="sk-SK" dirty="0"/>
              <a:t>Etika a právne aspekty</a:t>
            </a:r>
          </a:p>
        </p:txBody>
      </p:sp>
    </p:spTree>
    <p:extLst>
      <p:ext uri="{BB962C8B-B14F-4D97-AF65-F5344CB8AC3E}">
        <p14:creationId xmlns:p14="http://schemas.microsoft.com/office/powerpoint/2010/main" val="803002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6671E3-67D4-279C-FEB7-D97F10444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2CF9C4E-12F8-B29C-9B8B-6628A6210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130" y="1610468"/>
            <a:ext cx="11300411" cy="469222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sk-SK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E310EC9E-AB7C-000E-EAF4-A56D1DFE8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Apify.com - platforma na </a:t>
            </a:r>
            <a:r>
              <a:rPr lang="sk-SK" b="1" dirty="0"/>
              <a:t>web </a:t>
            </a:r>
            <a:r>
              <a:rPr lang="sk-SK" b="1" dirty="0" err="1"/>
              <a:t>scraping</a:t>
            </a:r>
            <a:endParaRPr lang="sk-SK" dirty="0"/>
          </a:p>
        </p:txBody>
      </p:sp>
      <p:graphicFrame>
        <p:nvGraphicFramePr>
          <p:cNvPr id="2" name="Tabuľka 1">
            <a:extLst>
              <a:ext uri="{FF2B5EF4-FFF2-40B4-BE49-F238E27FC236}">
                <a16:creationId xmlns:a16="http://schemas.microsoft.com/office/drawing/2014/main" id="{69EC4509-3E3D-92F9-CAD2-F657A920E1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618819"/>
              </p:ext>
            </p:extLst>
          </p:nvPr>
        </p:nvGraphicFramePr>
        <p:xfrm>
          <a:off x="383458" y="1526991"/>
          <a:ext cx="11300412" cy="4965884"/>
        </p:xfrm>
        <a:graphic>
          <a:graphicData uri="http://schemas.openxmlformats.org/drawingml/2006/table">
            <a:tbl>
              <a:tblPr/>
              <a:tblGrid>
                <a:gridCol w="1504334">
                  <a:extLst>
                    <a:ext uri="{9D8B030D-6E8A-4147-A177-3AD203B41FA5}">
                      <a16:colId xmlns:a16="http://schemas.microsoft.com/office/drawing/2014/main" val="2453804531"/>
                    </a:ext>
                  </a:extLst>
                </a:gridCol>
                <a:gridCol w="6430297">
                  <a:extLst>
                    <a:ext uri="{9D8B030D-6E8A-4147-A177-3AD203B41FA5}">
                      <a16:colId xmlns:a16="http://schemas.microsoft.com/office/drawing/2014/main" val="1173920592"/>
                    </a:ext>
                  </a:extLst>
                </a:gridCol>
                <a:gridCol w="3365781">
                  <a:extLst>
                    <a:ext uri="{9D8B030D-6E8A-4147-A177-3AD203B41FA5}">
                      <a16:colId xmlns:a16="http://schemas.microsoft.com/office/drawing/2014/main" val="845654818"/>
                    </a:ext>
                  </a:extLst>
                </a:gridCol>
              </a:tblGrid>
              <a:tr h="53136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200" b="1">
                          <a:effectLst/>
                        </a:rPr>
                        <a:t>Actor</a:t>
                      </a:r>
                      <a:endParaRPr lang="sk-SK" sz="2200" b="0">
                        <a:effectLst/>
                      </a:endParaRPr>
                    </a:p>
                  </a:txBody>
                  <a:tcPr marL="38851" marR="38851" marT="19426" marB="19426">
                    <a:lnL w="4877" cap="flat" cmpd="sng" algn="ctr">
                      <a:solidFill>
                        <a:srgbClr val="D0F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30F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D0F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900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200" b="0" dirty="0" err="1">
                          <a:effectLst/>
                        </a:rPr>
                        <a:t>Serverless</a:t>
                      </a:r>
                      <a:r>
                        <a:rPr lang="sk-SK" sz="2200" b="0" dirty="0">
                          <a:effectLst/>
                        </a:rPr>
                        <a:t> skripty - </a:t>
                      </a:r>
                      <a:r>
                        <a:rPr lang="sk-SK" sz="2200" b="0" dirty="0" err="1">
                          <a:effectLst/>
                        </a:rPr>
                        <a:t>boti</a:t>
                      </a:r>
                      <a:r>
                        <a:rPr lang="sk-SK" sz="2200" b="0" dirty="0">
                          <a:effectLst/>
                        </a:rPr>
                        <a:t> na </a:t>
                      </a:r>
                      <a:r>
                        <a:rPr lang="sk-SK" sz="2200" b="0" dirty="0" err="1">
                          <a:effectLst/>
                        </a:rPr>
                        <a:t>scraping</a:t>
                      </a:r>
                      <a:r>
                        <a:rPr lang="sk-SK" sz="2200" b="0" dirty="0">
                          <a:effectLst/>
                        </a:rPr>
                        <a:t> alebo automatizáciu</a:t>
                      </a:r>
                    </a:p>
                  </a:txBody>
                  <a:tcPr marL="38851" marR="38851" marT="19426" marB="19426">
                    <a:lnL w="4877" cap="flat" cmpd="sng" algn="ctr">
                      <a:solidFill>
                        <a:srgbClr val="30F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A0FE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30F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E00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200" b="0">
                          <a:effectLst/>
                        </a:rPr>
                        <a:t>Instagram Scraper, vlastný e-shop crawler</a:t>
                      </a:r>
                    </a:p>
                  </a:txBody>
                  <a:tcPr marL="38851" marR="38851" marT="19426" marB="19426">
                    <a:lnL w="4877" cap="flat" cmpd="sng" algn="ctr">
                      <a:solidFill>
                        <a:srgbClr val="A0FE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A0FE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A0FE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200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352134"/>
                  </a:ext>
                </a:extLst>
              </a:tr>
              <a:tr h="63099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200" b="1">
                          <a:effectLst/>
                        </a:rPr>
                        <a:t>Task</a:t>
                      </a:r>
                      <a:endParaRPr lang="sk-SK" sz="2200" b="0">
                        <a:effectLst/>
                      </a:endParaRPr>
                    </a:p>
                  </a:txBody>
                  <a:tcPr marL="38851" marR="38851" marT="19426" marB="19426">
                    <a:lnL w="4877" cap="flat" cmpd="sng" algn="ctr">
                      <a:solidFill>
                        <a:srgbClr val="900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E00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900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201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200" b="0" dirty="0">
                          <a:effectLst/>
                        </a:rPr>
                        <a:t>Uložená konfigurácia </a:t>
                      </a:r>
                      <a:r>
                        <a:rPr lang="sk-SK" sz="2200" b="0" dirty="0" err="1">
                          <a:effectLst/>
                        </a:rPr>
                        <a:t>Actora</a:t>
                      </a:r>
                      <a:r>
                        <a:rPr lang="sk-SK" sz="2200" b="0" dirty="0">
                          <a:effectLst/>
                        </a:rPr>
                        <a:t> s konkrétnymi vstupnými parametrami</a:t>
                      </a:r>
                    </a:p>
                  </a:txBody>
                  <a:tcPr marL="38851" marR="38851" marT="19426" marB="19426">
                    <a:lnL w="4877" cap="flat" cmpd="sng" algn="ctr">
                      <a:solidFill>
                        <a:srgbClr val="E00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200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E00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A00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200" b="0">
                          <a:effectLst/>
                        </a:rPr>
                        <a:t>„Scrapuj denne produkty z Alza.sk“</a:t>
                      </a:r>
                    </a:p>
                  </a:txBody>
                  <a:tcPr marL="38851" marR="38851" marT="19426" marB="19426">
                    <a:lnL w="4877" cap="flat" cmpd="sng" algn="ctr">
                      <a:solidFill>
                        <a:srgbClr val="200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200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200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D01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538938"/>
                  </a:ext>
                </a:extLst>
              </a:tr>
              <a:tr h="53136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200" b="1">
                          <a:effectLst/>
                        </a:rPr>
                        <a:t>Run</a:t>
                      </a:r>
                      <a:endParaRPr lang="sk-SK" sz="2200" b="0">
                        <a:effectLst/>
                      </a:endParaRPr>
                    </a:p>
                  </a:txBody>
                  <a:tcPr marL="38851" marR="38851" marT="19426" marB="19426">
                    <a:lnL w="4877" cap="flat" cmpd="sng" algn="ctr">
                      <a:solidFill>
                        <a:srgbClr val="201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A00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201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4019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l-PL" sz="2200" b="0">
                          <a:effectLst/>
                        </a:rPr>
                        <a:t>Jedno konkrétne spustenie Actora alebo Tasku</a:t>
                      </a:r>
                    </a:p>
                  </a:txBody>
                  <a:tcPr marL="38851" marR="38851" marT="19426" marB="19426">
                    <a:lnL w="4877" cap="flat" cmpd="sng" algn="ctr">
                      <a:solidFill>
                        <a:srgbClr val="A00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D01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A00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C01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l-PL" sz="2200" b="0">
                          <a:effectLst/>
                        </a:rPr>
                        <a:t>Spustenie Tasku každý deň o 8:00</a:t>
                      </a:r>
                    </a:p>
                  </a:txBody>
                  <a:tcPr marL="38851" marR="38851" marT="19426" marB="19426">
                    <a:lnL w="4877" cap="flat" cmpd="sng" algn="ctr">
                      <a:solidFill>
                        <a:srgbClr val="D01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D01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D01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C01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433734"/>
                  </a:ext>
                </a:extLst>
              </a:tr>
              <a:tr h="53136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200" b="1" dirty="0" err="1">
                          <a:effectLst/>
                        </a:rPr>
                        <a:t>Dataset</a:t>
                      </a:r>
                      <a:endParaRPr lang="sk-SK" sz="2200" b="0" dirty="0">
                        <a:effectLst/>
                      </a:endParaRPr>
                    </a:p>
                  </a:txBody>
                  <a:tcPr marL="38851" marR="38851" marT="19426" marB="19426">
                    <a:lnL w="4877" cap="flat" cmpd="sng" algn="ctr">
                      <a:solidFill>
                        <a:srgbClr val="4019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C01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4019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D025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200" b="0">
                          <a:effectLst/>
                        </a:rPr>
                        <a:t>Hlavné úložisko výsledkov (štruktúrované dáta)</a:t>
                      </a:r>
                    </a:p>
                  </a:txBody>
                  <a:tcPr marL="38851" marR="38851" marT="19426" marB="19426">
                    <a:lnL w="4877" cap="flat" cmpd="sng" algn="ctr">
                      <a:solidFill>
                        <a:srgbClr val="C01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C01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C01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002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2200" b="0">
                          <a:effectLst/>
                        </a:rPr>
                        <a:t>Export do CSV / JSON / Excel / Pandas</a:t>
                      </a:r>
                    </a:p>
                  </a:txBody>
                  <a:tcPr marL="38851" marR="38851" marT="19426" marB="19426">
                    <a:lnL w="4877" cap="flat" cmpd="sng" algn="ctr">
                      <a:solidFill>
                        <a:srgbClr val="C01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C01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C01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C02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945333"/>
                  </a:ext>
                </a:extLst>
              </a:tr>
              <a:tr h="43173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200" b="1">
                          <a:effectLst/>
                        </a:rPr>
                        <a:t>Key-value store</a:t>
                      </a:r>
                      <a:endParaRPr lang="sk-SK" sz="2200" b="0">
                        <a:effectLst/>
                      </a:endParaRPr>
                    </a:p>
                  </a:txBody>
                  <a:tcPr marL="38851" marR="38851" marT="19426" marB="19426">
                    <a:lnL w="4877" cap="flat" cmpd="sng" algn="ctr">
                      <a:solidFill>
                        <a:srgbClr val="D025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002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D025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603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200" b="0" dirty="0">
                          <a:effectLst/>
                        </a:rPr>
                        <a:t>Úložisko pre súbory, </a:t>
                      </a:r>
                      <a:r>
                        <a:rPr lang="sk-SK" sz="2200" b="0" dirty="0" err="1">
                          <a:effectLst/>
                        </a:rPr>
                        <a:t>screenshoty</a:t>
                      </a:r>
                      <a:r>
                        <a:rPr lang="sk-SK" sz="2200" b="0" dirty="0">
                          <a:effectLst/>
                        </a:rPr>
                        <a:t>, JSON objekty</a:t>
                      </a:r>
                    </a:p>
                  </a:txBody>
                  <a:tcPr marL="38851" marR="38851" marT="19426" marB="19426">
                    <a:lnL w="4877" cap="flat" cmpd="sng" algn="ctr">
                      <a:solidFill>
                        <a:srgbClr val="002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C02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002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6035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200" b="0">
                          <a:effectLst/>
                        </a:rPr>
                        <a:t>Uloženie PDF faktúr alebo obrázkov</a:t>
                      </a:r>
                    </a:p>
                  </a:txBody>
                  <a:tcPr marL="38851" marR="38851" marT="19426" marB="19426">
                    <a:lnL w="4877" cap="flat" cmpd="sng" algn="ctr">
                      <a:solidFill>
                        <a:srgbClr val="C02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C02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C02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8036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738304"/>
                  </a:ext>
                </a:extLst>
              </a:tr>
              <a:tr h="50853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200" b="1">
                          <a:effectLst/>
                        </a:rPr>
                        <a:t>Proxy</a:t>
                      </a:r>
                      <a:endParaRPr lang="sk-SK" sz="2200" b="0">
                        <a:effectLst/>
                      </a:endParaRPr>
                    </a:p>
                  </a:txBody>
                  <a:tcPr marL="38851" marR="38851" marT="19426" marB="19426">
                    <a:lnL w="4877" cap="flat" cmpd="sng" algn="ctr">
                      <a:solidFill>
                        <a:srgbClr val="603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6035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603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5036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2200" b="0" dirty="0">
                          <a:effectLst/>
                        </a:rPr>
                        <a:t>Automatická rotácia IP adries (datacenter + residential)</a:t>
                      </a:r>
                    </a:p>
                  </a:txBody>
                  <a:tcPr marL="38851" marR="38851" marT="19426" marB="19426">
                    <a:lnL w="4877" cap="flat" cmpd="sng" algn="ctr">
                      <a:solidFill>
                        <a:srgbClr val="6035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8036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6035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D04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200" b="0">
                          <a:effectLst/>
                        </a:rPr>
                        <a:t>Zabrániť blokovaniu pri veľkom scrapingu</a:t>
                      </a:r>
                    </a:p>
                  </a:txBody>
                  <a:tcPr marL="38851" marR="38851" marT="19426" marB="19426">
                    <a:lnL w="4877" cap="flat" cmpd="sng" algn="ctr">
                      <a:solidFill>
                        <a:srgbClr val="8036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8036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8036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B03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589882"/>
                  </a:ext>
                </a:extLst>
              </a:tr>
              <a:tr h="53136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200" b="1" dirty="0">
                          <a:effectLst/>
                        </a:rPr>
                        <a:t>Schedule</a:t>
                      </a:r>
                      <a:endParaRPr lang="sk-SK" sz="2200" b="0" dirty="0">
                        <a:effectLst/>
                      </a:endParaRPr>
                    </a:p>
                  </a:txBody>
                  <a:tcPr marL="38851" marR="38851" marT="19426" marB="19426">
                    <a:lnL w="4877" cap="flat" cmpd="sng" algn="ctr">
                      <a:solidFill>
                        <a:srgbClr val="5036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D04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5036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5036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200" b="0" dirty="0">
                          <a:effectLst/>
                        </a:rPr>
                        <a:t>Automatické spúšťanie </a:t>
                      </a:r>
                      <a:r>
                        <a:rPr lang="sk-SK" sz="2200" b="0" dirty="0" err="1">
                          <a:effectLst/>
                        </a:rPr>
                        <a:t>Taskov</a:t>
                      </a:r>
                      <a:r>
                        <a:rPr lang="sk-SK" sz="2200" b="0" dirty="0">
                          <a:effectLst/>
                        </a:rPr>
                        <a:t> podľa časového plánu (</a:t>
                      </a:r>
                      <a:r>
                        <a:rPr lang="sk-SK" sz="2200" b="0" dirty="0" err="1">
                          <a:effectLst/>
                        </a:rPr>
                        <a:t>cron</a:t>
                      </a:r>
                      <a:r>
                        <a:rPr lang="sk-SK" sz="2200" b="0" dirty="0">
                          <a:effectLst/>
                        </a:rPr>
                        <a:t>)</a:t>
                      </a:r>
                    </a:p>
                  </a:txBody>
                  <a:tcPr marL="38851" marR="38851" marT="19426" marB="19426">
                    <a:lnL w="4877" cap="flat" cmpd="sng" algn="ctr">
                      <a:solidFill>
                        <a:srgbClr val="D04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B03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D04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D04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200" b="0" dirty="0">
                          <a:effectLst/>
                        </a:rPr>
                        <a:t>Denný / hodinový zber dát</a:t>
                      </a:r>
                    </a:p>
                  </a:txBody>
                  <a:tcPr marL="38851" marR="38851" marT="19426" marB="19426">
                    <a:lnL w="4877" cap="flat" cmpd="sng" algn="ctr">
                      <a:solidFill>
                        <a:srgbClr val="B03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B03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B03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B03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6257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2188442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21111</TotalTime>
  <Words>446</Words>
  <Application>Microsoft Office PowerPoint</Application>
  <PresentationFormat>Širokouhlá</PresentationFormat>
  <Paragraphs>64</Paragraphs>
  <Slides>7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Motív Office</vt:lpstr>
      <vt:lpstr>Objektovo orientované programovanie - pokročilí</vt:lpstr>
      <vt:lpstr>OPGP  Pokročilí 27 </vt:lpstr>
      <vt:lpstr>Web scraper</vt:lpstr>
      <vt:lpstr>Web scraper</vt:lpstr>
      <vt:lpstr>Nástroje pre Web Scraping</vt:lpstr>
      <vt:lpstr>Etika a právne aspekty</vt:lpstr>
      <vt:lpstr>Apify.com - platforma na web scraping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82</cp:revision>
  <dcterms:created xsi:type="dcterms:W3CDTF">2025-09-05T09:09:34Z</dcterms:created>
  <dcterms:modified xsi:type="dcterms:W3CDTF">2026-06-03T17:45:25Z</dcterms:modified>
</cp:coreProperties>
</file>