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06" r:id="rId5"/>
    <p:sldId id="287" r:id="rId6"/>
    <p:sldId id="298" r:id="rId7"/>
    <p:sldId id="307" r:id="rId8"/>
    <p:sldId id="308" r:id="rId9"/>
    <p:sldId id="311" r:id="rId10"/>
    <p:sldId id="310" r:id="rId11"/>
    <p:sldId id="309" r:id="rId12"/>
    <p:sldId id="312" r:id="rId13"/>
    <p:sldId id="31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29. 1. 2026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19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GUI </a:t>
            </a:r>
            <a:r>
              <a:rPr lang="en-US" dirty="0" err="1"/>
              <a:t>kni</a:t>
            </a:r>
            <a:r>
              <a:rPr lang="sk-SK" dirty="0"/>
              <a:t>žnice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AWT, Java2D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Swing, </a:t>
            </a:r>
            <a:r>
              <a:rPr lang="sk-SK" dirty="0" err="1"/>
              <a:t>JavaFX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Grafické knižnice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k-SK" b="1" dirty="0"/>
              <a:t>2D grafika </a:t>
            </a:r>
            <a:r>
              <a:rPr lang="sk-SK" dirty="0"/>
              <a:t>- tvary (čiary, obdĺžniky, kruhy), text, farby, ...</a:t>
            </a:r>
          </a:p>
          <a:p>
            <a:pPr>
              <a:lnSpc>
                <a:spcPct val="100000"/>
              </a:lnSpc>
            </a:pPr>
            <a:r>
              <a:rPr lang="sk-SK" b="1" dirty="0"/>
              <a:t>GUI</a:t>
            </a:r>
            <a:r>
              <a:rPr lang="sk-SK" dirty="0"/>
              <a:t> - komponenty pre tvorbu užívateľského rozhrania (tlačidlá, textové polia, </a:t>
            </a:r>
            <a:r>
              <a:rPr lang="sk-SK" dirty="0" err="1"/>
              <a:t>scrollbar</a:t>
            </a:r>
            <a:r>
              <a:rPr lang="sk-SK" dirty="0"/>
              <a:t>, menu, tabuľky)</a:t>
            </a:r>
          </a:p>
          <a:p>
            <a:pPr>
              <a:lnSpc>
                <a:spcPct val="100000"/>
              </a:lnSpc>
            </a:pPr>
            <a:r>
              <a:rPr lang="sk-SK" b="1" dirty="0"/>
              <a:t>3D</a:t>
            </a:r>
            <a:r>
              <a:rPr lang="sk-SK" dirty="0"/>
              <a:t> - textúry, </a:t>
            </a:r>
            <a:r>
              <a:rPr lang="sk-SK" dirty="0" err="1"/>
              <a:t>polygony</a:t>
            </a:r>
            <a:r>
              <a:rPr lang="sk-SK" dirty="0"/>
              <a:t>, scéna, osvetlenie, kamera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3A0FD-1D8B-7B4F-624D-0B395E62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091A5B-0CFC-9488-B6E8-6E246F32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AWT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EBACFDE-D0B2-6E57-5D9D-570A157EA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k-SK" dirty="0"/>
              <a:t>Prvá GUI knižnica v Jave (1996)</a:t>
            </a:r>
          </a:p>
          <a:p>
            <a:pPr>
              <a:lnSpc>
                <a:spcPct val="100000"/>
              </a:lnSpc>
            </a:pPr>
            <a:r>
              <a:rPr lang="sk-SK" dirty="0"/>
              <a:t>Rýchly štart, jednoduchá architektúra</a:t>
            </a:r>
          </a:p>
          <a:p>
            <a:pPr>
              <a:lnSpc>
                <a:spcPct val="100000"/>
              </a:lnSpc>
            </a:pPr>
            <a:r>
              <a:rPr lang="sk-SK" b="1" dirty="0"/>
              <a:t>Natívny vzhľad</a:t>
            </a:r>
            <a:r>
              <a:rPr lang="sk-SK" dirty="0"/>
              <a:t>, ale nejednotné správanie na rôznych OS</a:t>
            </a:r>
          </a:p>
          <a:p>
            <a:pPr>
              <a:lnSpc>
                <a:spcPct val="100000"/>
              </a:lnSpc>
            </a:pPr>
            <a:r>
              <a:rPr lang="sk-SK" dirty="0"/>
              <a:t>Veľmi obmedzené možnosti kreslenia, </a:t>
            </a:r>
            <a:r>
              <a:rPr lang="sk-SK" b="1" dirty="0"/>
              <a:t>málo komponentov</a:t>
            </a:r>
          </a:p>
          <a:p>
            <a:pPr>
              <a:lnSpc>
                <a:spcPct val="100000"/>
              </a:lnSpc>
            </a:pPr>
            <a:r>
              <a:rPr lang="sk-SK" b="1" dirty="0" err="1"/>
              <a:t>heavyweight</a:t>
            </a:r>
            <a:r>
              <a:rPr lang="sk-SK" dirty="0"/>
              <a:t> (ťažké, komplikované) komponenty, pretože vykresľovanie prenecháva OS</a:t>
            </a:r>
          </a:p>
        </p:txBody>
      </p:sp>
    </p:spTree>
    <p:extLst>
      <p:ext uri="{BB962C8B-B14F-4D97-AF65-F5344CB8AC3E}">
        <p14:creationId xmlns:p14="http://schemas.microsoft.com/office/powerpoint/2010/main" val="84674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580D0-B9D9-74F5-88D1-B0C7686F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1C3258-7EE6-025D-A0E9-E4FE7EA2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Počítadlo v AWT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CA75339-A71A-3322-1B57-1A1065A9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0936"/>
            <a:ext cx="11512296" cy="622706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public 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AwtCounter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extends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Frame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private int counter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private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public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AwtCounter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super("AWT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setLayout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FlowLayout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FlowLayout.LEFT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20, 20));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("Počítadlo:");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("0", 5);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("Plus 1");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addActionListener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(e -&gt;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textField.setText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String.valueOf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counter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setSize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(500, 180);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addWindowListener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WindowAdapter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windowClosing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WindowEvent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e)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dispose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System.exit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});       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setVisible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78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ADD74-59A1-5BDE-00FB-834B05FE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52C587-F5E5-704F-8233-0B444EFF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AWT – Windows, Linux, Mac OS</a:t>
            </a:r>
          </a:p>
        </p:txBody>
      </p:sp>
      <p:pic>
        <p:nvPicPr>
          <p:cNvPr id="7" name="Zástupný objekt pre obsah 6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E2D1C6E8-A4A9-5431-BE1D-4FF3232A4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724" y="3202809"/>
            <a:ext cx="3773379" cy="1358416"/>
          </a:xfrm>
        </p:spPr>
      </p:pic>
      <p:pic>
        <p:nvPicPr>
          <p:cNvPr id="9" name="Obrázok 8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D3E7C196-81F7-8C34-FA03-CA4B0FD63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723" y="5014326"/>
            <a:ext cx="3784054" cy="1148730"/>
          </a:xfrm>
          <a:prstGeom prst="rect">
            <a:avLst/>
          </a:prstGeom>
        </p:spPr>
      </p:pic>
      <p:pic>
        <p:nvPicPr>
          <p:cNvPr id="11" name="Obrázok 10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F47DA3DE-DAA9-9AA4-079F-7D7EAA8FA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723" y="1877245"/>
            <a:ext cx="3679301" cy="107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67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51BF0-AADE-030C-BBD7-409E82CD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12DDB4-2FB4-7C4C-0BC9-791DD1A0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Java 2D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DC8A5A-96A3-62B4-B675-1DAD2B092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k-SK" dirty="0"/>
              <a:t>1998, pre vykresľovanie 2D grafiky, nie GUI</a:t>
            </a:r>
          </a:p>
          <a:p>
            <a:pPr>
              <a:lnSpc>
                <a:spcPct val="100000"/>
              </a:lnSpc>
            </a:pPr>
            <a:r>
              <a:rPr lang="sk-SK" dirty="0"/>
              <a:t>Vektorová grafika, Transformácie (</a:t>
            </a:r>
            <a:r>
              <a:rPr lang="sk-SK" dirty="0" err="1"/>
              <a:t>rotate</a:t>
            </a:r>
            <a:r>
              <a:rPr lang="sk-SK" dirty="0"/>
              <a:t>, </a:t>
            </a:r>
            <a:r>
              <a:rPr lang="sk-SK" dirty="0" err="1"/>
              <a:t>scale</a:t>
            </a:r>
            <a:r>
              <a:rPr lang="sk-SK" dirty="0"/>
              <a:t>, </a:t>
            </a:r>
            <a:r>
              <a:rPr lang="sk-SK" dirty="0" err="1"/>
              <a:t>translate</a:t>
            </a:r>
            <a:r>
              <a:rPr lang="sk-SK" dirty="0"/>
              <a:t>)</a:t>
            </a:r>
          </a:p>
          <a:p>
            <a:pPr>
              <a:lnSpc>
                <a:spcPct val="100000"/>
              </a:lnSpc>
            </a:pPr>
            <a:r>
              <a:rPr lang="sk-SK" dirty="0"/>
              <a:t>Práca s fontami a obrázkami</a:t>
            </a:r>
          </a:p>
          <a:p>
            <a:pPr>
              <a:lnSpc>
                <a:spcPct val="100000"/>
              </a:lnSpc>
            </a:pPr>
            <a:r>
              <a:rPr lang="sk-SK" dirty="0"/>
              <a:t>Obmedzená hardwarová akcelerácia</a:t>
            </a:r>
          </a:p>
        </p:txBody>
      </p:sp>
    </p:spTree>
    <p:extLst>
      <p:ext uri="{BB962C8B-B14F-4D97-AF65-F5344CB8AC3E}">
        <p14:creationId xmlns:p14="http://schemas.microsoft.com/office/powerpoint/2010/main" val="4428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FA182-D8F9-CF30-E092-12EBB7DA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4652B8-4162-473A-6583-BBB811B7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Swing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DB13F70-6BF6-CFCD-02A9-0387519B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k-SK" dirty="0"/>
              <a:t>Nástupca AWT pre GUI vývoj (1998)</a:t>
            </a:r>
          </a:p>
          <a:p>
            <a:pPr>
              <a:lnSpc>
                <a:spcPct val="100000"/>
              </a:lnSpc>
            </a:pPr>
            <a:r>
              <a:rPr lang="sk-SK" dirty="0"/>
              <a:t>používa "ľahké" komponenty (</a:t>
            </a:r>
            <a:r>
              <a:rPr lang="sk-SK" b="1" dirty="0" err="1"/>
              <a:t>lightweight</a:t>
            </a:r>
            <a:r>
              <a:rPr lang="sk-SK" dirty="0"/>
              <a:t> </a:t>
            </a:r>
            <a:r>
              <a:rPr lang="sk-SK" dirty="0" err="1"/>
              <a:t>components</a:t>
            </a:r>
            <a:r>
              <a:rPr lang="sk-SK" dirty="0"/>
              <a:t>), ktoré sa kreslia priamo v Jave, nie cez OS</a:t>
            </a:r>
          </a:p>
          <a:p>
            <a:pPr>
              <a:lnSpc>
                <a:spcPct val="100000"/>
              </a:lnSpc>
            </a:pPr>
            <a:r>
              <a:rPr lang="sk-SK" b="1" dirty="0"/>
              <a:t>pokročilé</a:t>
            </a:r>
            <a:r>
              <a:rPr lang="sk-SK" dirty="0"/>
              <a:t> komponenty ako stromy, tabuľky, editory a </a:t>
            </a:r>
            <a:r>
              <a:rPr lang="sk-SK" dirty="0" err="1"/>
              <a:t>drag</a:t>
            </a:r>
            <a:r>
              <a:rPr lang="sk-SK" dirty="0"/>
              <a:t>-and-drop. </a:t>
            </a:r>
          </a:p>
          <a:p>
            <a:pPr>
              <a:lnSpc>
                <a:spcPct val="100000"/>
              </a:lnSpc>
            </a:pPr>
            <a:r>
              <a:rPr lang="sk-SK" b="1" dirty="0"/>
              <a:t>Konzistentné správanie </a:t>
            </a:r>
            <a:r>
              <a:rPr lang="sk-SK" dirty="0"/>
              <a:t>naprieč OS</a:t>
            </a:r>
          </a:p>
          <a:p>
            <a:pPr>
              <a:lnSpc>
                <a:spcPct val="100000"/>
              </a:lnSpc>
            </a:pPr>
            <a:r>
              <a:rPr lang="sk-SK" b="1" dirty="0"/>
              <a:t>Zastaralý vzhľad, komplikovaná architektúra</a:t>
            </a:r>
          </a:p>
        </p:txBody>
      </p:sp>
    </p:spTree>
    <p:extLst>
      <p:ext uri="{BB962C8B-B14F-4D97-AF65-F5344CB8AC3E}">
        <p14:creationId xmlns:p14="http://schemas.microsoft.com/office/powerpoint/2010/main" val="363405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4B690-F1E6-5F21-79E0-2AA71545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2A161B-2A70-2EAA-AB93-3CE63474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Počítadlo vo Swing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D76E7A-417F-AB2F-F6EA-257327260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0936"/>
            <a:ext cx="11512296" cy="622706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public 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SwingCounter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private int counter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public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SwingCounter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JFrame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frame = 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JFrame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("Swing Counter");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frame.setDefaultCloseOperation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JFrame.EXIT_ON_CLOSE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JPanel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panel = 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JPanel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FlowLayout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FlowLayout.LEFT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, 20, 20));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JLabel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label = 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JLabel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Počítadlo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panel.add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(label);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("0", 5);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panel.add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JButton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button = 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JButton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("Plus 1");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addActionListener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(e -&gt;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    counter++;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textField.setText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String.valueOf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(counter));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panel.add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(button);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frame.setContentPane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(panel);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frame.setSize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(560, 170);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frame.setVisible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(true);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15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20830-7CA5-17D8-1FC7-FBC559F8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04FD5E-6842-452A-4877-F60EAFB7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Swing – Windows, Linux, Mac OS</a:t>
            </a:r>
          </a:p>
        </p:txBody>
      </p:sp>
      <p:pic>
        <p:nvPicPr>
          <p:cNvPr id="6" name="Zástupný objekt pre obsah 5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F4C98F45-63C4-363B-54FA-30B3B9384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044" y="3429000"/>
            <a:ext cx="3848298" cy="1168233"/>
          </a:xfrm>
        </p:spPr>
      </p:pic>
      <p:pic>
        <p:nvPicPr>
          <p:cNvPr id="10" name="Obrázok 9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4C31CD1F-2F27-8D02-D0F6-0113B3367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88" y="4981161"/>
            <a:ext cx="3933050" cy="1168233"/>
          </a:xfrm>
          <a:prstGeom prst="rect">
            <a:avLst/>
          </a:prstGeom>
        </p:spPr>
      </p:pic>
      <p:pic>
        <p:nvPicPr>
          <p:cNvPr id="13" name="Obrázok 12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94A03D04-16FF-99F6-48F2-E4767FD94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043" y="1834546"/>
            <a:ext cx="3887653" cy="12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74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69886-644A-5BCB-AE41-D4DB44F8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F76A83-6F99-9ECF-27F0-DC6DFEA2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JavaFX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3A2E1B4-7BD3-0806-737F-BDD2EA904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sk-SK" dirty="0"/>
              <a:t>moderný nástupca Swingu. (2008)</a:t>
            </a:r>
          </a:p>
          <a:p>
            <a:pPr>
              <a:lnSpc>
                <a:spcPct val="100000"/>
              </a:lnSpc>
            </a:pPr>
            <a:r>
              <a:rPr lang="sk-SK" dirty="0"/>
              <a:t>ľahší na učenie pre web developerov vďaka CSS</a:t>
            </a:r>
          </a:p>
          <a:p>
            <a:pPr>
              <a:lnSpc>
                <a:spcPct val="100000"/>
              </a:lnSpc>
            </a:pPr>
            <a:r>
              <a:rPr lang="sk-SK" b="1" dirty="0"/>
              <a:t>Moderný</a:t>
            </a:r>
            <a:r>
              <a:rPr lang="sk-SK" dirty="0"/>
              <a:t> vzhľad, GPU akcelerácia, podpora animácií a efektov</a:t>
            </a:r>
          </a:p>
          <a:p>
            <a:pPr>
              <a:lnSpc>
                <a:spcPct val="100000"/>
              </a:lnSpc>
            </a:pPr>
            <a:r>
              <a:rPr lang="sk-SK" dirty="0"/>
              <a:t>Podpora </a:t>
            </a:r>
            <a:r>
              <a:rPr lang="sk-SK" b="1" dirty="0"/>
              <a:t>CSS</a:t>
            </a:r>
          </a:p>
          <a:p>
            <a:pPr>
              <a:lnSpc>
                <a:spcPct val="100000"/>
              </a:lnSpc>
            </a:pPr>
            <a:r>
              <a:rPr lang="sk-SK" b="1" dirty="0" err="1"/>
              <a:t>Scene</a:t>
            </a:r>
            <a:r>
              <a:rPr lang="sk-SK" b="1" dirty="0"/>
              <a:t> </a:t>
            </a:r>
            <a:r>
              <a:rPr lang="sk-SK" b="1" dirty="0" err="1"/>
              <a:t>graph</a:t>
            </a:r>
            <a:r>
              <a:rPr lang="sk-SK" b="1" dirty="0"/>
              <a:t> </a:t>
            </a:r>
            <a:r>
              <a:rPr lang="sk-SK" dirty="0"/>
              <a:t>- niečo ako DOM v prehliadačoch</a:t>
            </a:r>
          </a:p>
          <a:p>
            <a:pPr>
              <a:lnSpc>
                <a:spcPct val="100000"/>
              </a:lnSpc>
            </a:pPr>
            <a:r>
              <a:rPr lang="sk-SK" b="1" dirty="0"/>
              <a:t>FXML</a:t>
            </a:r>
            <a:r>
              <a:rPr lang="sk-SK" dirty="0"/>
              <a:t> - niečo ako HTML v prehliadačoch </a:t>
            </a:r>
            <a:endParaRPr lang="sk-SK" b="1" dirty="0"/>
          </a:p>
        </p:txBody>
      </p:sp>
    </p:spTree>
    <p:extLst>
      <p:ext uri="{BB962C8B-B14F-4D97-AF65-F5344CB8AC3E}">
        <p14:creationId xmlns:p14="http://schemas.microsoft.com/office/powerpoint/2010/main" val="4055327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4A909-1B5F-2D23-AE20-E84CBDD5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8DE552-AF0D-8EB4-5EC7-F638197E2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669"/>
            <a:ext cx="10515600" cy="558419"/>
          </a:xfrm>
        </p:spPr>
        <p:txBody>
          <a:bodyPr>
            <a:normAutofit fontScale="90000"/>
          </a:bodyPr>
          <a:lstStyle/>
          <a:p>
            <a:r>
              <a:rPr lang="sk-SK" dirty="0"/>
              <a:t>Počítadlo v </a:t>
            </a:r>
            <a:r>
              <a:rPr lang="sk-SK" dirty="0" err="1"/>
              <a:t>JavaFX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C6444E4-9856-0B3D-DCE0-A86C7D33E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0936"/>
            <a:ext cx="11512296" cy="622706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public class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FxCounterApplication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extends Application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private int counter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public void start(Stage stage)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Label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Label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Počítadlo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:");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label.setStyle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-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-font-size: 18px;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("0");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textField.setPrefColumnCount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(4);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textField.setStyle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("-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-font-size: 18px;");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Button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("Plus 1");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button.setStyle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("-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-font-size: 18px;");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button.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setOnAction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(e -&gt;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    counter++;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textField.setText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String.valueOf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(counter));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root = new </a:t>
            </a:r>
            <a:r>
              <a:rPr lang="en-US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HBox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(20, label,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textField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, button);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root.setPadding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(new Insets(20));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Scene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Scene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(root);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stage.setTitle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("JavaFX Counter");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stage.setScene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(scene);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stage.show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55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77E3C-30D2-B796-7E16-D64BB278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E106DA-CE14-7B27-ACB9-A95FBD5D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JavaFX</a:t>
            </a:r>
            <a:r>
              <a:rPr lang="sk-SK" dirty="0"/>
              <a:t> – Windows, Linux, Mac OS</a:t>
            </a:r>
          </a:p>
        </p:txBody>
      </p:sp>
      <p:pic>
        <p:nvPicPr>
          <p:cNvPr id="7" name="Zástupný objekt pre obsah 6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8CF0D1E9-3457-3948-DAA9-5D2762B72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34" y="3429000"/>
            <a:ext cx="3651110" cy="1220770"/>
          </a:xfrm>
        </p:spPr>
      </p:pic>
      <p:pic>
        <p:nvPicPr>
          <p:cNvPr id="9" name="Obrázok 8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63BB72BD-F0E9-CC75-FAF3-9F3286E1C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48" y="4924538"/>
            <a:ext cx="3949903" cy="1308167"/>
          </a:xfrm>
          <a:prstGeom prst="rect">
            <a:avLst/>
          </a:prstGeom>
        </p:spPr>
      </p:pic>
      <p:pic>
        <p:nvPicPr>
          <p:cNvPr id="12" name="Obrázok 11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53EDF0D9-28E8-0131-3759-6E72F4018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48" y="1748732"/>
            <a:ext cx="3810532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0086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9027</TotalTime>
  <Words>756</Words>
  <Application>Microsoft Office PowerPoint</Application>
  <PresentationFormat>Širokouhlá</PresentationFormat>
  <Paragraphs>110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19</vt:lpstr>
      <vt:lpstr>Grafické knižnice</vt:lpstr>
      <vt:lpstr>AWT</vt:lpstr>
      <vt:lpstr>Počítadlo v AWT</vt:lpstr>
      <vt:lpstr>AWT – Windows, Linux, Mac OS</vt:lpstr>
      <vt:lpstr>Java 2D</vt:lpstr>
      <vt:lpstr>Swing</vt:lpstr>
      <vt:lpstr>Počítadlo vo Swing</vt:lpstr>
      <vt:lpstr>Swing – Windows, Linux, Mac OS</vt:lpstr>
      <vt:lpstr>JavaFX</vt:lpstr>
      <vt:lpstr>Počítadlo v JavaFX</vt:lpstr>
      <vt:lpstr>JavaFX – Windows, Linux, Mac 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73</cp:revision>
  <dcterms:created xsi:type="dcterms:W3CDTF">2025-09-05T09:09:34Z</dcterms:created>
  <dcterms:modified xsi:type="dcterms:W3CDTF">2026-01-29T22:49:01Z</dcterms:modified>
</cp:coreProperties>
</file>