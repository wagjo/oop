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69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9. 9. 2026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Príkazy a výrazy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Dátové typy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Funkcie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Vetvenie programu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Cykly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Výnimky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066314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fr-FR" sz="2800" b="1" dirty="0" err="1">
                <a:highlight>
                  <a:srgbClr val="00FFFF"/>
                </a:highlight>
              </a:rPr>
              <a:t>Literál</a:t>
            </a:r>
            <a:r>
              <a:rPr lang="fr-FR" sz="2800" dirty="0">
                <a:highlight>
                  <a:srgbClr val="00FFFF"/>
                </a:highlight>
              </a:rPr>
              <a:t> je </a:t>
            </a:r>
            <a:r>
              <a:rPr lang="fr-FR" sz="2800" dirty="0" err="1">
                <a:highlight>
                  <a:srgbClr val="00FFFF"/>
                </a:highlight>
              </a:rPr>
              <a:t>zápis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údaja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priamo</a:t>
            </a:r>
            <a:r>
              <a:rPr lang="fr-FR" sz="2800" dirty="0">
                <a:highlight>
                  <a:srgbClr val="00FFFF"/>
                </a:highlight>
              </a:rPr>
              <a:t> v </a:t>
            </a:r>
            <a:r>
              <a:rPr lang="fr-FR" sz="2800" dirty="0" err="1">
                <a:highlight>
                  <a:srgbClr val="00FFFF"/>
                </a:highlight>
              </a:rPr>
              <a:t>kóde</a:t>
            </a:r>
            <a:endParaRPr lang="sk-SK" sz="2800" dirty="0"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sk-SK" dirty="0">
                <a:solidFill>
                  <a:srgbClr val="C00000"/>
                </a:solidFill>
              </a:rPr>
              <a:t>, 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dirty="0">
                <a:solidFill>
                  <a:srgbClr val="C00000"/>
                </a:solidFill>
              </a:rPr>
              <a:t>, 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[1, 2, 3]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b="1" dirty="0"/>
          </a:p>
          <a:p>
            <a:pPr marL="0" indent="0">
              <a:spcBef>
                <a:spcPts val="1200"/>
              </a:spcBef>
              <a:buNone/>
            </a:pPr>
            <a:r>
              <a:rPr lang="fr-FR" sz="2800" b="1" dirty="0" err="1">
                <a:highlight>
                  <a:srgbClr val="00FFFF"/>
                </a:highlight>
              </a:rPr>
              <a:t>Príkaz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sk-SK" dirty="0">
                <a:highlight>
                  <a:srgbClr val="00FFFF"/>
                </a:highlight>
              </a:rPr>
              <a:t>(</a:t>
            </a:r>
            <a:r>
              <a:rPr lang="sk-SK" dirty="0" err="1">
                <a:highlight>
                  <a:srgbClr val="00FFFF"/>
                </a:highlight>
              </a:rPr>
              <a:t>statement</a:t>
            </a:r>
            <a:r>
              <a:rPr lang="sk-SK" dirty="0">
                <a:highlight>
                  <a:srgbClr val="00FFFF"/>
                </a:highlight>
              </a:rPr>
              <a:t>) </a:t>
            </a:r>
            <a:r>
              <a:rPr lang="fr-FR" sz="2800" dirty="0" err="1">
                <a:highlight>
                  <a:srgbClr val="00FFFF"/>
                </a:highlight>
              </a:rPr>
              <a:t>vykoná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akciu</a:t>
            </a:r>
            <a:r>
              <a:rPr lang="fr-FR" sz="2800" dirty="0">
                <a:highlight>
                  <a:srgbClr val="00FFFF"/>
                </a:highlight>
              </a:rPr>
              <a:t>, je </a:t>
            </a:r>
            <a:r>
              <a:rPr lang="fr-FR" sz="2800" dirty="0" err="1">
                <a:highlight>
                  <a:srgbClr val="00FFFF"/>
                </a:highlight>
              </a:rPr>
              <a:t>samostatný</a:t>
            </a:r>
            <a:endParaRPr lang="sk-SK" sz="2800" dirty="0"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solidFill>
                  <a:srgbClr val="C00000"/>
                </a:solidFill>
              </a:rPr>
              <a:t>, </a:t>
            </a: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solidFill>
                  <a:srgbClr val="C00000"/>
                </a:solidFill>
              </a:rPr>
              <a:t>, </a:t>
            </a: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dirty="0">
                <a:solidFill>
                  <a:srgbClr val="C00000"/>
                </a:solidFill>
              </a:rPr>
              <a:t>, 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a=2</a:t>
            </a:r>
            <a:endParaRPr lang="fr-FR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fr-FR" sz="2800" b="1" dirty="0" err="1">
                <a:highlight>
                  <a:srgbClr val="00FFFF"/>
                </a:highlight>
              </a:rPr>
              <a:t>Výraz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sk-SK" sz="2800" dirty="0">
                <a:highlight>
                  <a:srgbClr val="00FFFF"/>
                </a:highlight>
              </a:rPr>
              <a:t>(</a:t>
            </a:r>
            <a:r>
              <a:rPr lang="sk-SK" sz="2800" dirty="0" err="1">
                <a:highlight>
                  <a:srgbClr val="00FFFF"/>
                </a:highlight>
              </a:rPr>
              <a:t>expression</a:t>
            </a:r>
            <a:r>
              <a:rPr lang="sk-SK" sz="2800" dirty="0">
                <a:highlight>
                  <a:srgbClr val="00FFFF"/>
                </a:highlight>
              </a:rPr>
              <a:t>) </a:t>
            </a:r>
            <a:r>
              <a:rPr lang="fr-FR" sz="2800" dirty="0" err="1">
                <a:highlight>
                  <a:srgbClr val="00FFFF"/>
                </a:highlight>
              </a:rPr>
              <a:t>vracia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hodnotu</a:t>
            </a:r>
            <a:r>
              <a:rPr lang="fr-FR" sz="2800" dirty="0">
                <a:highlight>
                  <a:srgbClr val="00FFFF"/>
                </a:highlight>
              </a:rPr>
              <a:t> a </a:t>
            </a:r>
            <a:r>
              <a:rPr lang="fr-FR" sz="2800" dirty="0" err="1">
                <a:highlight>
                  <a:srgbClr val="00FFFF"/>
                </a:highlight>
              </a:rPr>
              <a:t>môže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byť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súčasťou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iných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výrazov</a:t>
            </a:r>
            <a:r>
              <a:rPr lang="fr-FR" sz="2800" dirty="0">
                <a:highlight>
                  <a:srgbClr val="00FFFF"/>
                </a:highlight>
              </a:rPr>
              <a:t> a </a:t>
            </a:r>
            <a:r>
              <a:rPr lang="fr-FR" sz="2800" dirty="0" err="1">
                <a:highlight>
                  <a:srgbClr val="00FFFF"/>
                </a:highlight>
              </a:rPr>
              <a:t>príkazov</a:t>
            </a:r>
            <a:endParaRPr lang="sk-SK" sz="2800" dirty="0"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1+2</a:t>
            </a:r>
            <a:r>
              <a:rPr lang="sk-SK" i="1" dirty="0">
                <a:solidFill>
                  <a:srgbClr val="C00000"/>
                </a:solidFill>
              </a:rPr>
              <a:t>, </a:t>
            </a: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input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C00000"/>
                </a:solidFill>
              </a:rPr>
              <a:t>, 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 &gt; 3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33D3A-BF72-2A0C-E7BF-D719609D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53F62B7-D01A-1E56-E45B-F0991783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488891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>
                <a:highlight>
                  <a:srgbClr val="00FFFF"/>
                </a:highlight>
              </a:rPr>
              <a:t>Základné dátové typy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8648A29-7DD6-F8B0-881A-549454B78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endParaRPr lang="sk-SK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</a:t>
            </a:r>
            <a:endParaRPr lang="sk-SK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</a:t>
            </a:r>
            <a:r>
              <a:rPr lang="en-US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ool</a:t>
            </a:r>
            <a:endParaRPr lang="sk-SK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tuple</a:t>
            </a:r>
            <a:endParaRPr lang="sk-SK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dict</a:t>
            </a:r>
            <a:endParaRPr lang="sk-SK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68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563E8-AC5F-7974-4FFB-F324863D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6229BF-92FA-6A9F-D0D3-ADBC793A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Funkcia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9A8055-7CD3-E213-2C09-D391F215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066314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b="1" dirty="0" err="1">
                <a:highlight>
                  <a:srgbClr val="00FFFF"/>
                </a:highlight>
              </a:rPr>
              <a:t>def</a:t>
            </a:r>
            <a:r>
              <a:rPr lang="sk-SK" dirty="0">
                <a:highlight>
                  <a:srgbClr val="00FFFF"/>
                </a:highlight>
              </a:rPr>
              <a:t> – funkcia</a:t>
            </a:r>
            <a:endParaRPr lang="en-US" dirty="0">
              <a:highlight>
                <a:srgbClr val="00FFFF"/>
              </a:highlight>
            </a:endParaRPr>
          </a:p>
          <a:p>
            <a:pPr>
              <a:spcBef>
                <a:spcPts val="1200"/>
              </a:spcBef>
            </a:pPr>
            <a:r>
              <a:rPr lang="sk-SK" dirty="0">
                <a:highlight>
                  <a:srgbClr val="00FFFF"/>
                </a:highlight>
              </a:rPr>
              <a:t>parametre môžu mať </a:t>
            </a:r>
            <a:r>
              <a:rPr lang="sk-SK" dirty="0" err="1">
                <a:highlight>
                  <a:srgbClr val="00FFFF"/>
                </a:highlight>
              </a:rPr>
              <a:t>defaultnú</a:t>
            </a:r>
            <a:r>
              <a:rPr lang="sk-SK" dirty="0">
                <a:highlight>
                  <a:srgbClr val="00FFFF"/>
                </a:highlight>
              </a:rPr>
              <a:t> hodnotu</a:t>
            </a:r>
            <a:endParaRPr lang="en-US" dirty="0">
              <a:highlight>
                <a:srgbClr val="00FFFF"/>
              </a:highlight>
            </a:endParaRPr>
          </a:p>
          <a:p>
            <a:pPr>
              <a:spcBef>
                <a:spcPts val="1200"/>
              </a:spcBef>
            </a:pPr>
            <a:r>
              <a:rPr lang="sk-SK" dirty="0">
                <a:highlight>
                  <a:srgbClr val="00FFFF"/>
                </a:highlight>
              </a:rPr>
              <a:t>pozičné </a:t>
            </a:r>
            <a:r>
              <a:rPr lang="sk-SK" dirty="0" err="1">
                <a:highlight>
                  <a:srgbClr val="00FFFF"/>
                </a:highlight>
              </a:rPr>
              <a:t>vs</a:t>
            </a:r>
            <a:r>
              <a:rPr lang="sk-SK" dirty="0">
                <a:highlight>
                  <a:srgbClr val="00FFFF"/>
                </a:highlight>
              </a:rPr>
              <a:t> kľúčové parametre</a:t>
            </a:r>
          </a:p>
          <a:p>
            <a:pPr>
              <a:spcBef>
                <a:spcPts val="1200"/>
              </a:spcBef>
            </a:pPr>
            <a:endParaRPr lang="en-US" dirty="0"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vypocitaj_cenu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(cena,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zlava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=0.0):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vypocitaj_cenu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zlava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=0.15, cena=100)</a:t>
            </a:r>
          </a:p>
        </p:txBody>
      </p:sp>
    </p:spTree>
    <p:extLst>
      <p:ext uri="{BB962C8B-B14F-4D97-AF65-F5344CB8AC3E}">
        <p14:creationId xmlns:p14="http://schemas.microsoft.com/office/powerpoint/2010/main" val="154076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94FC7-A239-06BA-19C3-62DCE6E1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CE15BC-77F8-E9E3-3D14-FF2A1765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Vetvenie programu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96CFB3B-0CF6-F414-56F8-6C8F5F3B3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842" y="1575367"/>
            <a:ext cx="9290957" cy="158326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highlight>
                  <a:srgbClr val="00FFFF"/>
                </a:highlight>
              </a:rPr>
              <a:t>Podmienka </a:t>
            </a:r>
            <a:r>
              <a:rPr lang="sk-SK" sz="2800" dirty="0" err="1">
                <a:highlight>
                  <a:srgbClr val="00FFFF"/>
                </a:highlight>
              </a:rPr>
              <a:t>if</a:t>
            </a:r>
            <a:r>
              <a:rPr lang="sk-SK" sz="2800" dirty="0">
                <a:highlight>
                  <a:srgbClr val="00FFFF"/>
                </a:highlight>
              </a:rPr>
              <a:t>:</a:t>
            </a: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800" dirty="0">
                <a:solidFill>
                  <a:srgbClr val="C00000"/>
                </a:solidFill>
              </a:rPr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elif</a:t>
            </a:r>
            <a:r>
              <a:rPr lang="sk-SK" sz="2800" dirty="0">
                <a:solidFill>
                  <a:srgbClr val="C00000"/>
                </a:solidFill>
              </a:rPr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 err="1">
                <a:highlight>
                  <a:srgbClr val="00FFFF"/>
                </a:highlight>
              </a:rPr>
              <a:t>ternárny</a:t>
            </a:r>
            <a:r>
              <a:rPr lang="sk-SK" sz="2800" dirty="0">
                <a:highlight>
                  <a:srgbClr val="00FFFF"/>
                </a:highlight>
              </a:rPr>
              <a:t> operátor je </a:t>
            </a:r>
            <a:r>
              <a:rPr lang="sk-SK" sz="2800" dirty="0" err="1">
                <a:highlight>
                  <a:srgbClr val="00FFFF"/>
                </a:highlight>
              </a:rPr>
              <a:t>if</a:t>
            </a:r>
            <a:r>
              <a:rPr lang="sk-SK" sz="2800" dirty="0">
                <a:highlight>
                  <a:srgbClr val="00FFFF"/>
                </a:highlight>
              </a:rPr>
              <a:t> ako výraz</a:t>
            </a:r>
          </a:p>
          <a:p>
            <a:pPr lvl="1">
              <a:spcBef>
                <a:spcPts val="1200"/>
              </a:spcBef>
            </a:pPr>
            <a:endParaRPr lang="sk-SK" sz="2800" dirty="0"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status = "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dospelý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" if x &gt;= 18 else "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nedospelý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7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9645D-3DE6-31A1-2E12-2EEEF039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64145DB-D746-7FAF-ADA1-8514DD2B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014" y="4162048"/>
            <a:ext cx="8066314" cy="158326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4000" dirty="0" err="1">
                <a:highlight>
                  <a:srgbClr val="00FFFF"/>
                </a:highlight>
              </a:rPr>
              <a:t>Výnimky</a:t>
            </a:r>
            <a:endParaRPr lang="en-US" sz="4000" dirty="0">
              <a:highlight>
                <a:srgbClr val="00FFFF"/>
              </a:highlight>
            </a:endParaRPr>
          </a:p>
          <a:p>
            <a:pPr lvl="1">
              <a:spcBef>
                <a:spcPts val="1200"/>
              </a:spcBef>
            </a:pP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en-US" sz="2800" dirty="0">
                <a:solidFill>
                  <a:srgbClr val="C00000"/>
                </a:solidFill>
              </a:rPr>
              <a:t>, </a:t>
            </a: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except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finally</a:t>
            </a:r>
            <a:r>
              <a:rPr lang="en-US" sz="2800" dirty="0">
                <a:solidFill>
                  <a:srgbClr val="C00000"/>
                </a:solidFill>
              </a:rPr>
              <a:t>, </a:t>
            </a: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raise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BC6E66A4-E0BB-6DDC-FD68-8E53D230F1C0}"/>
              </a:ext>
            </a:extLst>
          </p:cNvPr>
          <p:cNvSpPr txBox="1">
            <a:spLocks/>
          </p:cNvSpPr>
          <p:nvPr/>
        </p:nvSpPr>
        <p:spPr>
          <a:xfrm>
            <a:off x="892628" y="5466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4000" dirty="0">
                <a:highlight>
                  <a:srgbClr val="00FFFF"/>
                </a:highlight>
              </a:rPr>
              <a:t>Cykly</a:t>
            </a:r>
          </a:p>
        </p:txBody>
      </p:sp>
      <p:sp>
        <p:nvSpPr>
          <p:cNvPr id="9" name="Zástupný objekt pre obsah 2">
            <a:extLst>
              <a:ext uri="{FF2B5EF4-FFF2-40B4-BE49-F238E27FC236}">
                <a16:creationId xmlns:a16="http://schemas.microsoft.com/office/drawing/2014/main" id="{BA043422-D768-A5FA-BD0A-04D54290E802}"/>
              </a:ext>
            </a:extLst>
          </p:cNvPr>
          <p:cNvSpPr txBox="1">
            <a:spLocks/>
          </p:cNvSpPr>
          <p:nvPr/>
        </p:nvSpPr>
        <p:spPr>
          <a:xfrm>
            <a:off x="1573162" y="1690059"/>
            <a:ext cx="8028214" cy="18095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800" dirty="0"/>
              <a:t> </a:t>
            </a:r>
            <a:r>
              <a:rPr lang="sk-SK" sz="2800" dirty="0">
                <a:highlight>
                  <a:srgbClr val="00FFFF"/>
                </a:highlight>
              </a:rPr>
              <a:t>pre kolekcie a rozsahy</a:t>
            </a:r>
          </a:p>
          <a:p>
            <a:pPr>
              <a:spcBef>
                <a:spcPts val="1200"/>
              </a:spcBef>
            </a:pP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800" dirty="0"/>
              <a:t> </a:t>
            </a:r>
            <a:r>
              <a:rPr lang="sk-SK" sz="2800" dirty="0">
                <a:highlight>
                  <a:srgbClr val="00FFFF"/>
                </a:highlight>
              </a:rPr>
              <a:t>ak máme ukončovaciu podmienku</a:t>
            </a:r>
          </a:p>
          <a:p>
            <a:pPr>
              <a:spcBef>
                <a:spcPts val="1200"/>
              </a:spcBef>
            </a:pP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break</a:t>
            </a:r>
            <a:r>
              <a:rPr lang="sk-SK" sz="2800" dirty="0"/>
              <a:t>,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continue</a:t>
            </a:r>
            <a:endParaRPr lang="sk-SK" sz="2800" dirty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r>
              <a:rPr lang="sk-SK" sz="2800" dirty="0"/>
              <a:t> – ak cyklus </a:t>
            </a:r>
            <a:r>
              <a:rPr lang="sk-SK" sz="2800" dirty="0" err="1"/>
              <a:t>nebreakne</a:t>
            </a: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136600105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</TotalTime>
  <Words>206</Words>
  <Application>Microsoft Office PowerPoint</Application>
  <PresentationFormat>Širokouhlá</PresentationFormat>
  <Paragraphs>47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2</vt:lpstr>
      <vt:lpstr>Prezentácia programu PowerPoint</vt:lpstr>
      <vt:lpstr>Základné dátové typy</vt:lpstr>
      <vt:lpstr>Funkcia</vt:lpstr>
      <vt:lpstr>Vetvenie programu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12</cp:revision>
  <dcterms:created xsi:type="dcterms:W3CDTF">2025-09-05T09:09:34Z</dcterms:created>
  <dcterms:modified xsi:type="dcterms:W3CDTF">2026-09-09T21:29:39Z</dcterms:modified>
</cp:coreProperties>
</file>