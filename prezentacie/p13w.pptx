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bookmarkIdSeed="2">
  <p:sldMasterIdLst>
    <p:sldMasterId id="2147483696" r:id="rId1"/>
  </p:sldMasterIdLst>
  <p:sldIdLst>
    <p:sldId id="266" r:id="rId2"/>
    <p:sldId id="257" r:id="rId3"/>
    <p:sldId id="269" r:id="rId4"/>
    <p:sldId id="271" r:id="rId5"/>
    <p:sldId id="270" r:id="rId6"/>
    <p:sldId id="280" r:id="rId7"/>
    <p:sldId id="281" r:id="rId8"/>
    <p:sldId id="282" r:id="rId9"/>
    <p:sldId id="283" r:id="rId10"/>
    <p:sldId id="279" r:id="rId1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47" d="100"/>
          <a:sy n="47" d="100"/>
        </p:scale>
        <p:origin x="758" y="4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Úvodná snímk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sk-SK"/>
              <a:t>Kliknutím upravte štýl predlohy nadpisu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sk-SK"/>
              <a:t>Kliknutím upravte štýl predlohy podnadpisu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052495-8BC8-4CFB-94B1-B0429F101A0D}" type="datetimeFigureOut">
              <a:rPr lang="sk-SK" smtClean="0"/>
              <a:t>9. 12. 2025</a:t>
            </a:fld>
            <a:endParaRPr lang="sk-S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12504F-4570-4D96-AE99-1195B26940D9}" type="slidenum">
              <a:rPr lang="sk-SK" smtClean="0"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71149123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k-SK"/>
              <a:t>Kliknutím upravte štýl predlohy nadpisu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sk-SK"/>
              <a:t>Kliknite sem a upravte štýly predlohy textu</a:t>
            </a:r>
          </a:p>
          <a:p>
            <a:pPr lvl="1"/>
            <a:r>
              <a:rPr lang="sk-SK"/>
              <a:t>Druhá úroveň</a:t>
            </a:r>
          </a:p>
          <a:p>
            <a:pPr lvl="2"/>
            <a:r>
              <a:rPr lang="sk-SK"/>
              <a:t>Tretia úroveň</a:t>
            </a:r>
          </a:p>
          <a:p>
            <a:pPr lvl="3"/>
            <a:r>
              <a:rPr lang="sk-SK"/>
              <a:t>Štvrtá úroveň</a:t>
            </a:r>
          </a:p>
          <a:p>
            <a:pPr lvl="4"/>
            <a:r>
              <a:rPr lang="sk-SK"/>
              <a:t>Piata úroveň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052495-8BC8-4CFB-94B1-B0429F101A0D}" type="datetimeFigureOut">
              <a:rPr lang="sk-SK" smtClean="0"/>
              <a:t>9. 12. 2025</a:t>
            </a:fld>
            <a:endParaRPr lang="sk-S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12504F-4570-4D96-AE99-1195B26940D9}" type="slidenum">
              <a:rPr lang="sk-SK" smtClean="0"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30979669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Hlavička sekc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sk-SK"/>
              <a:t>Kliknutím upravte štýl predlohy nadpisu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sk-SK"/>
              <a:t>Kliknite sem a upravte štýly predlohy textu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052495-8BC8-4CFB-94B1-B0429F101A0D}" type="datetimeFigureOut">
              <a:rPr lang="sk-SK" smtClean="0"/>
              <a:t>9. 12. 2025</a:t>
            </a:fld>
            <a:endParaRPr lang="sk-S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12504F-4570-4D96-AE99-1195B26940D9}" type="slidenum">
              <a:rPr lang="sk-SK" smtClean="0"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15574200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va obsah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k-SK"/>
              <a:t>Kliknutím upravte štýl predlohy nadpisu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sk-SK"/>
              <a:t>Kliknite sem a upravte štýly predlohy textu</a:t>
            </a:r>
          </a:p>
          <a:p>
            <a:pPr lvl="1"/>
            <a:r>
              <a:rPr lang="sk-SK"/>
              <a:t>Druhá úroveň</a:t>
            </a:r>
          </a:p>
          <a:p>
            <a:pPr lvl="2"/>
            <a:r>
              <a:rPr lang="sk-SK"/>
              <a:t>Tretia úroveň</a:t>
            </a:r>
          </a:p>
          <a:p>
            <a:pPr lvl="3"/>
            <a:r>
              <a:rPr lang="sk-SK"/>
              <a:t>Štvrtá úroveň</a:t>
            </a:r>
          </a:p>
          <a:p>
            <a:pPr lvl="4"/>
            <a:r>
              <a:rPr lang="sk-SK"/>
              <a:t>Piata úroveň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sk-SK"/>
              <a:t>Kliknite sem a upravte štýly predlohy textu</a:t>
            </a:r>
          </a:p>
          <a:p>
            <a:pPr lvl="1"/>
            <a:r>
              <a:rPr lang="sk-SK"/>
              <a:t>Druhá úroveň</a:t>
            </a:r>
          </a:p>
          <a:p>
            <a:pPr lvl="2"/>
            <a:r>
              <a:rPr lang="sk-SK"/>
              <a:t>Tretia úroveň</a:t>
            </a:r>
          </a:p>
          <a:p>
            <a:pPr lvl="3"/>
            <a:r>
              <a:rPr lang="sk-SK"/>
              <a:t>Štvrtá úroveň</a:t>
            </a:r>
          </a:p>
          <a:p>
            <a:pPr lvl="4"/>
            <a:r>
              <a:rPr lang="sk-SK"/>
              <a:t>Piata úroveň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052495-8BC8-4CFB-94B1-B0429F101A0D}" type="datetimeFigureOut">
              <a:rPr lang="sk-SK" smtClean="0"/>
              <a:t>9. 12. 2025</a:t>
            </a:fld>
            <a:endParaRPr lang="sk-SK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12504F-4570-4D96-AE99-1195B26940D9}" type="slidenum">
              <a:rPr lang="sk-SK" smtClean="0"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18981796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Porovnan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sk-SK"/>
              <a:t>Kliknutím upravte štýl predlohy nadpisu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sk-SK"/>
              <a:t>Kliknite sem a upravte štýly predlohy textu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sk-SK"/>
              <a:t>Kliknite sem a upravte štýly predlohy textu</a:t>
            </a:r>
          </a:p>
          <a:p>
            <a:pPr lvl="1"/>
            <a:r>
              <a:rPr lang="sk-SK"/>
              <a:t>Druhá úroveň</a:t>
            </a:r>
          </a:p>
          <a:p>
            <a:pPr lvl="2"/>
            <a:r>
              <a:rPr lang="sk-SK"/>
              <a:t>Tretia úroveň</a:t>
            </a:r>
          </a:p>
          <a:p>
            <a:pPr lvl="3"/>
            <a:r>
              <a:rPr lang="sk-SK"/>
              <a:t>Štvrtá úroveň</a:t>
            </a:r>
          </a:p>
          <a:p>
            <a:pPr lvl="4"/>
            <a:r>
              <a:rPr lang="sk-SK"/>
              <a:t>Piata úroveň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sk-SK"/>
              <a:t>Kliknite sem a upravte štýly predlohy textu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sk-SK"/>
              <a:t>Kliknite sem a upravte štýly predlohy textu</a:t>
            </a:r>
          </a:p>
          <a:p>
            <a:pPr lvl="1"/>
            <a:r>
              <a:rPr lang="sk-SK"/>
              <a:t>Druhá úroveň</a:t>
            </a:r>
          </a:p>
          <a:p>
            <a:pPr lvl="2"/>
            <a:r>
              <a:rPr lang="sk-SK"/>
              <a:t>Tretia úroveň</a:t>
            </a:r>
          </a:p>
          <a:p>
            <a:pPr lvl="3"/>
            <a:r>
              <a:rPr lang="sk-SK"/>
              <a:t>Štvrtá úroveň</a:t>
            </a:r>
          </a:p>
          <a:p>
            <a:pPr lvl="4"/>
            <a:r>
              <a:rPr lang="sk-SK"/>
              <a:t>Piata úroveň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052495-8BC8-4CFB-94B1-B0429F101A0D}" type="datetimeFigureOut">
              <a:rPr lang="sk-SK" smtClean="0"/>
              <a:t>9. 12. 2025</a:t>
            </a:fld>
            <a:endParaRPr lang="sk-SK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12504F-4570-4D96-AE99-1195B26940D9}" type="slidenum">
              <a:rPr lang="sk-SK" smtClean="0"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6863701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en nadp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k-SK"/>
              <a:t>Kliknutím upravte štýl predlohy nadpisu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052495-8BC8-4CFB-94B1-B0429F101A0D}" type="datetimeFigureOut">
              <a:rPr lang="sk-SK" smtClean="0"/>
              <a:t>9. 12. 2025</a:t>
            </a:fld>
            <a:endParaRPr lang="sk-SK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12504F-4570-4D96-AE99-1195B26940D9}" type="slidenum">
              <a:rPr lang="sk-SK" smtClean="0"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405468451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Prázdn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052495-8BC8-4CFB-94B1-B0429F101A0D}" type="datetimeFigureOut">
              <a:rPr lang="sk-SK" smtClean="0"/>
              <a:t>9. 12. 2025</a:t>
            </a:fld>
            <a:endParaRPr lang="sk-SK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12504F-4570-4D96-AE99-1195B26940D9}" type="slidenum">
              <a:rPr lang="sk-SK" smtClean="0"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169774342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Obsah s popis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sk-SK"/>
              <a:t>Kliknutím upravte štýl predlohy nadpisu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sk-SK"/>
              <a:t>Kliknite sem a upravte štýly predlohy textu</a:t>
            </a:r>
          </a:p>
          <a:p>
            <a:pPr lvl="1"/>
            <a:r>
              <a:rPr lang="sk-SK"/>
              <a:t>Druhá úroveň</a:t>
            </a:r>
          </a:p>
          <a:p>
            <a:pPr lvl="2"/>
            <a:r>
              <a:rPr lang="sk-SK"/>
              <a:t>Tretia úroveň</a:t>
            </a:r>
          </a:p>
          <a:p>
            <a:pPr lvl="3"/>
            <a:r>
              <a:rPr lang="sk-SK"/>
              <a:t>Štvrtá úroveň</a:t>
            </a:r>
          </a:p>
          <a:p>
            <a:pPr lvl="4"/>
            <a:r>
              <a:rPr lang="sk-SK"/>
              <a:t>Piata úroveň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sk-SK"/>
              <a:t>Kliknite sem a upravte štýly predlohy textu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052495-8BC8-4CFB-94B1-B0429F101A0D}" type="datetimeFigureOut">
              <a:rPr lang="sk-SK" smtClean="0"/>
              <a:t>9. 12. 2025</a:t>
            </a:fld>
            <a:endParaRPr lang="sk-SK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12504F-4570-4D96-AE99-1195B26940D9}" type="slidenum">
              <a:rPr lang="sk-SK" smtClean="0"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54303960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Obrázok s popis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sk-SK"/>
              <a:t>Kliknutím upravte štýl predlohy nadpisu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sk-SK"/>
              <a:t>Kliknutím na ikonu pridáte obrázok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sk-SK"/>
              <a:t>Kliknite sem a upravte štýly predlohy textu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052495-8BC8-4CFB-94B1-B0429F101A0D}" type="datetimeFigureOut">
              <a:rPr lang="sk-SK" smtClean="0"/>
              <a:t>9. 12. 2025</a:t>
            </a:fld>
            <a:endParaRPr lang="sk-SK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12504F-4570-4D96-AE99-1195B26940D9}" type="slidenum">
              <a:rPr lang="sk-SK" smtClean="0"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171966388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Nadpis a zvislý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k-SK"/>
              <a:t>Kliknutím upravte štýl predlohy nadpisu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sk-SK"/>
              <a:t>Kliknite sem a upravte štýly predlohy textu</a:t>
            </a:r>
          </a:p>
          <a:p>
            <a:pPr lvl="1"/>
            <a:r>
              <a:rPr lang="sk-SK"/>
              <a:t>Druhá úroveň</a:t>
            </a:r>
          </a:p>
          <a:p>
            <a:pPr lvl="2"/>
            <a:r>
              <a:rPr lang="sk-SK"/>
              <a:t>Tretia úroveň</a:t>
            </a:r>
          </a:p>
          <a:p>
            <a:pPr lvl="3"/>
            <a:r>
              <a:rPr lang="sk-SK"/>
              <a:t>Štvrtá úroveň</a:t>
            </a:r>
          </a:p>
          <a:p>
            <a:pPr lvl="4"/>
            <a:r>
              <a:rPr lang="sk-SK"/>
              <a:t>Piata úroveň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052495-8BC8-4CFB-94B1-B0429F101A0D}" type="datetimeFigureOut">
              <a:rPr lang="sk-SK" smtClean="0"/>
              <a:t>9. 12. 2025</a:t>
            </a:fld>
            <a:endParaRPr lang="sk-S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12504F-4570-4D96-AE99-1195B26940D9}" type="slidenum">
              <a:rPr lang="sk-SK" smtClean="0"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259363666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Zvislý nadpis a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sk-SK"/>
              <a:t>Kliknutím upravte štýl predlohy nadpisu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sk-SK"/>
              <a:t>Kliknite sem a upravte štýly predlohy textu</a:t>
            </a:r>
          </a:p>
          <a:p>
            <a:pPr lvl="1"/>
            <a:r>
              <a:rPr lang="sk-SK"/>
              <a:t>Druhá úroveň</a:t>
            </a:r>
          </a:p>
          <a:p>
            <a:pPr lvl="2"/>
            <a:r>
              <a:rPr lang="sk-SK"/>
              <a:t>Tretia úroveň</a:t>
            </a:r>
          </a:p>
          <a:p>
            <a:pPr lvl="3"/>
            <a:r>
              <a:rPr lang="sk-SK"/>
              <a:t>Štvrtá úroveň</a:t>
            </a:r>
          </a:p>
          <a:p>
            <a:pPr lvl="4"/>
            <a:r>
              <a:rPr lang="sk-SK"/>
              <a:t>Piata úroveň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052495-8BC8-4CFB-94B1-B0429F101A0D}" type="datetimeFigureOut">
              <a:rPr lang="sk-SK" smtClean="0"/>
              <a:t>9. 12. 2025</a:t>
            </a:fld>
            <a:endParaRPr lang="sk-S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12504F-4570-4D96-AE99-1195B26940D9}" type="slidenum">
              <a:rPr lang="sk-SK" smtClean="0"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240587594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sk-SK"/>
              <a:t>Kliknutím upravte štýl predlohy nadpisu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sk-SK"/>
              <a:t>Kliknite sem a upravte štýly predlohy textu</a:t>
            </a:r>
          </a:p>
          <a:p>
            <a:pPr lvl="1"/>
            <a:r>
              <a:rPr lang="sk-SK"/>
              <a:t>Druhá úroveň</a:t>
            </a:r>
          </a:p>
          <a:p>
            <a:pPr lvl="2"/>
            <a:r>
              <a:rPr lang="sk-SK"/>
              <a:t>Tretia úroveň</a:t>
            </a:r>
          </a:p>
          <a:p>
            <a:pPr lvl="3"/>
            <a:r>
              <a:rPr lang="sk-SK"/>
              <a:t>Štvrtá úroveň</a:t>
            </a:r>
          </a:p>
          <a:p>
            <a:pPr lvl="4"/>
            <a:r>
              <a:rPr lang="sk-SK"/>
              <a:t>Piata úroveň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0052495-8BC8-4CFB-94B1-B0429F101A0D}" type="datetimeFigureOut">
              <a:rPr lang="sk-SK" smtClean="0"/>
              <a:t>9. 12. 2025</a:t>
            </a:fld>
            <a:endParaRPr lang="sk-S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sk-S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F12504F-4570-4D96-AE99-1195B26940D9}" type="slidenum">
              <a:rPr lang="sk-SK" smtClean="0"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25725244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https://oop.wagjo.com/" TargetMode="Externa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pygame.org/" TargetMode="Externa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081EA652-8C6A-4E69-BEB9-1708094745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A4026A73-1F7F-49F2-B319-8CA3B3D5326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21732" y="321733"/>
            <a:ext cx="11546828" cy="6214534"/>
          </a:xfrm>
          <a:custGeom>
            <a:avLst/>
            <a:gdLst>
              <a:gd name="connsiteX0" fmla="*/ 0 w 11546828"/>
              <a:gd name="connsiteY0" fmla="*/ 0 h 6214534"/>
              <a:gd name="connsiteX1" fmla="*/ 7965430 w 11546828"/>
              <a:gd name="connsiteY1" fmla="*/ 0 h 6214534"/>
              <a:gd name="connsiteX2" fmla="*/ 7965430 w 11546828"/>
              <a:gd name="connsiteY2" fmla="*/ 1786 h 6214534"/>
              <a:gd name="connsiteX3" fmla="*/ 11546828 w 11546828"/>
              <a:gd name="connsiteY3" fmla="*/ 1786 h 6214534"/>
              <a:gd name="connsiteX4" fmla="*/ 11546828 w 11546828"/>
              <a:gd name="connsiteY4" fmla="*/ 2866740 h 6214534"/>
              <a:gd name="connsiteX5" fmla="*/ 11225095 w 11546828"/>
              <a:gd name="connsiteY5" fmla="*/ 3179536 h 6214534"/>
              <a:gd name="connsiteX6" fmla="*/ 11225095 w 11546828"/>
              <a:gd name="connsiteY6" fmla="*/ 301542 h 6214534"/>
              <a:gd name="connsiteX7" fmla="*/ 320042 w 11546828"/>
              <a:gd name="connsiteY7" fmla="*/ 301542 h 6214534"/>
              <a:gd name="connsiteX8" fmla="*/ 320042 w 11546828"/>
              <a:gd name="connsiteY8" fmla="*/ 5909424 h 6214534"/>
              <a:gd name="connsiteX9" fmla="*/ 8417210 w 11546828"/>
              <a:gd name="connsiteY9" fmla="*/ 5909424 h 6214534"/>
              <a:gd name="connsiteX10" fmla="*/ 8103383 w 11546828"/>
              <a:gd name="connsiteY10" fmla="*/ 6214534 h 6214534"/>
              <a:gd name="connsiteX11" fmla="*/ 7222929 w 11546828"/>
              <a:gd name="connsiteY11" fmla="*/ 6214534 h 6214534"/>
              <a:gd name="connsiteX12" fmla="*/ 7222929 w 11546828"/>
              <a:gd name="connsiteY12" fmla="*/ 6212748 h 6214534"/>
              <a:gd name="connsiteX13" fmla="*/ 0 w 11546828"/>
              <a:gd name="connsiteY13" fmla="*/ 6212748 h 62145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11546828" h="6214534">
                <a:moveTo>
                  <a:pt x="0" y="0"/>
                </a:moveTo>
                <a:lnTo>
                  <a:pt x="7965430" y="0"/>
                </a:lnTo>
                <a:lnTo>
                  <a:pt x="7965430" y="1786"/>
                </a:lnTo>
                <a:lnTo>
                  <a:pt x="11546828" y="1786"/>
                </a:lnTo>
                <a:lnTo>
                  <a:pt x="11546828" y="2866740"/>
                </a:lnTo>
                <a:lnTo>
                  <a:pt x="11225095" y="3179536"/>
                </a:lnTo>
                <a:lnTo>
                  <a:pt x="11225095" y="301542"/>
                </a:lnTo>
                <a:lnTo>
                  <a:pt x="320042" y="301542"/>
                </a:lnTo>
                <a:lnTo>
                  <a:pt x="320042" y="5909424"/>
                </a:lnTo>
                <a:lnTo>
                  <a:pt x="8417210" y="5909424"/>
                </a:lnTo>
                <a:lnTo>
                  <a:pt x="8103383" y="6214534"/>
                </a:lnTo>
                <a:lnTo>
                  <a:pt x="7222929" y="6214534"/>
                </a:lnTo>
                <a:lnTo>
                  <a:pt x="7222929" y="6212748"/>
                </a:lnTo>
                <a:lnTo>
                  <a:pt x="0" y="6212748"/>
                </a:lnTo>
                <a:close/>
              </a:path>
            </a:pathLst>
          </a:custGeom>
          <a:solidFill>
            <a:schemeClr val="tx1">
              <a:lumMod val="50000"/>
              <a:lumOff val="50000"/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2" name="Right Triangle 11">
            <a:extLst>
              <a:ext uri="{FF2B5EF4-FFF2-40B4-BE49-F238E27FC236}">
                <a16:creationId xmlns:a16="http://schemas.microsoft.com/office/drawing/2014/main" id="{5298780A-33B9-4EA2-8F67-DE68AD6284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576720" y="3335867"/>
            <a:ext cx="329184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F488E8B-4E1E-4402-8935-D4E6C02615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1774" y="623275"/>
            <a:ext cx="10905053" cy="5607882"/>
          </a:xfrm>
          <a:prstGeom prst="rect">
            <a:avLst/>
          </a:prstGeom>
          <a:noFill/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Nadpis 1">
            <a:extLst>
              <a:ext uri="{FF2B5EF4-FFF2-40B4-BE49-F238E27FC236}">
                <a16:creationId xmlns:a16="http://schemas.microsoft.com/office/drawing/2014/main" id="{8E144086-9642-901A-F3D2-FA2652CA9A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06899" y="1188637"/>
            <a:ext cx="3291839" cy="4480726"/>
          </a:xfrm>
        </p:spPr>
        <p:txBody>
          <a:bodyPr>
            <a:normAutofit/>
          </a:bodyPr>
          <a:lstStyle/>
          <a:p>
            <a:pPr algn="r"/>
            <a:r>
              <a:rPr lang="sk-SK" sz="4000" dirty="0"/>
              <a:t>Objektovo orientované programovanie</a:t>
            </a:r>
            <a:br>
              <a:rPr lang="en-US" sz="4000" dirty="0"/>
            </a:br>
            <a:r>
              <a:rPr lang="en-US" sz="4000" dirty="0"/>
              <a:t>- </a:t>
            </a:r>
            <a:r>
              <a:rPr lang="en-US" sz="4000" i="1" dirty="0" err="1"/>
              <a:t>pokro</a:t>
            </a:r>
            <a:r>
              <a:rPr lang="sk-SK" sz="4000" i="1" dirty="0" err="1"/>
              <a:t>čilí</a:t>
            </a:r>
            <a:endParaRPr lang="sk-SK" sz="4000" i="1" dirty="0"/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23AAC9B5-8015-485C-ACF9-A750390E9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654296" y="1852863"/>
            <a:ext cx="0" cy="3236495"/>
          </a:xfrm>
          <a:prstGeom prst="line">
            <a:avLst/>
          </a:prstGeom>
          <a:ln w="19050" cap="sq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Zástupný objekt pre obsah 2">
            <a:extLst>
              <a:ext uri="{FF2B5EF4-FFF2-40B4-BE49-F238E27FC236}">
                <a16:creationId xmlns:a16="http://schemas.microsoft.com/office/drawing/2014/main" id="{8685716B-C55C-CDF8-4632-389CB907CA6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38928" y="1338729"/>
            <a:ext cx="4795584" cy="4180542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endParaRPr lang="sk-SK" dirty="0"/>
          </a:p>
          <a:p>
            <a:pPr marL="0" indent="0">
              <a:buNone/>
            </a:pPr>
            <a:r>
              <a:rPr lang="sk-SK" dirty="0"/>
              <a:t>Učiteľ: </a:t>
            </a:r>
            <a:br>
              <a:rPr lang="sk-SK" dirty="0"/>
            </a:br>
            <a:r>
              <a:rPr lang="sk-SK" b="1" dirty="0"/>
              <a:t>Ing. Jozef Wagner PhD.</a:t>
            </a:r>
          </a:p>
          <a:p>
            <a:pPr marL="0" indent="0">
              <a:buNone/>
            </a:pPr>
            <a:endParaRPr lang="sk-SK" b="1" dirty="0"/>
          </a:p>
          <a:p>
            <a:pPr marL="0" indent="0">
              <a:buNone/>
            </a:pPr>
            <a:r>
              <a:rPr lang="sk-SK" dirty="0"/>
              <a:t>Učebnica: </a:t>
            </a:r>
            <a:br>
              <a:rPr lang="sk-SK" dirty="0"/>
            </a:br>
            <a:r>
              <a:rPr lang="sk-SK" dirty="0">
                <a:hlinkClick r:id="rId2"/>
              </a:rPr>
              <a:t>https://oop.wagjo.com/</a:t>
            </a:r>
            <a:r>
              <a:rPr lang="sk-SK" dirty="0"/>
              <a:t> </a:t>
            </a:r>
          </a:p>
          <a:p>
            <a:pPr marL="0" indent="0">
              <a:buNone/>
            </a:pPr>
            <a:endParaRPr lang="sk-SK" dirty="0"/>
          </a:p>
        </p:txBody>
      </p:sp>
    </p:spTree>
    <p:extLst>
      <p:ext uri="{BB962C8B-B14F-4D97-AF65-F5344CB8AC3E}">
        <p14:creationId xmlns:p14="http://schemas.microsoft.com/office/powerpoint/2010/main" val="251744361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081EA652-8C6A-4E69-BEB9-1708094745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A4026A73-1F7F-49F2-B319-8CA3B3D5326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21732" y="321733"/>
            <a:ext cx="11546828" cy="6214534"/>
          </a:xfrm>
          <a:custGeom>
            <a:avLst/>
            <a:gdLst>
              <a:gd name="connsiteX0" fmla="*/ 0 w 11546828"/>
              <a:gd name="connsiteY0" fmla="*/ 0 h 6214534"/>
              <a:gd name="connsiteX1" fmla="*/ 7965430 w 11546828"/>
              <a:gd name="connsiteY1" fmla="*/ 0 h 6214534"/>
              <a:gd name="connsiteX2" fmla="*/ 7965430 w 11546828"/>
              <a:gd name="connsiteY2" fmla="*/ 1786 h 6214534"/>
              <a:gd name="connsiteX3" fmla="*/ 11546828 w 11546828"/>
              <a:gd name="connsiteY3" fmla="*/ 1786 h 6214534"/>
              <a:gd name="connsiteX4" fmla="*/ 11546828 w 11546828"/>
              <a:gd name="connsiteY4" fmla="*/ 2866740 h 6214534"/>
              <a:gd name="connsiteX5" fmla="*/ 11225095 w 11546828"/>
              <a:gd name="connsiteY5" fmla="*/ 3179536 h 6214534"/>
              <a:gd name="connsiteX6" fmla="*/ 11225095 w 11546828"/>
              <a:gd name="connsiteY6" fmla="*/ 301542 h 6214534"/>
              <a:gd name="connsiteX7" fmla="*/ 320042 w 11546828"/>
              <a:gd name="connsiteY7" fmla="*/ 301542 h 6214534"/>
              <a:gd name="connsiteX8" fmla="*/ 320042 w 11546828"/>
              <a:gd name="connsiteY8" fmla="*/ 5909424 h 6214534"/>
              <a:gd name="connsiteX9" fmla="*/ 8417210 w 11546828"/>
              <a:gd name="connsiteY9" fmla="*/ 5909424 h 6214534"/>
              <a:gd name="connsiteX10" fmla="*/ 8103383 w 11546828"/>
              <a:gd name="connsiteY10" fmla="*/ 6214534 h 6214534"/>
              <a:gd name="connsiteX11" fmla="*/ 7222929 w 11546828"/>
              <a:gd name="connsiteY11" fmla="*/ 6214534 h 6214534"/>
              <a:gd name="connsiteX12" fmla="*/ 7222929 w 11546828"/>
              <a:gd name="connsiteY12" fmla="*/ 6212748 h 6214534"/>
              <a:gd name="connsiteX13" fmla="*/ 0 w 11546828"/>
              <a:gd name="connsiteY13" fmla="*/ 6212748 h 62145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11546828" h="6214534">
                <a:moveTo>
                  <a:pt x="0" y="0"/>
                </a:moveTo>
                <a:lnTo>
                  <a:pt x="7965430" y="0"/>
                </a:lnTo>
                <a:lnTo>
                  <a:pt x="7965430" y="1786"/>
                </a:lnTo>
                <a:lnTo>
                  <a:pt x="11546828" y="1786"/>
                </a:lnTo>
                <a:lnTo>
                  <a:pt x="11546828" y="2866740"/>
                </a:lnTo>
                <a:lnTo>
                  <a:pt x="11225095" y="3179536"/>
                </a:lnTo>
                <a:lnTo>
                  <a:pt x="11225095" y="301542"/>
                </a:lnTo>
                <a:lnTo>
                  <a:pt x="320042" y="301542"/>
                </a:lnTo>
                <a:lnTo>
                  <a:pt x="320042" y="5909424"/>
                </a:lnTo>
                <a:lnTo>
                  <a:pt x="8417210" y="5909424"/>
                </a:lnTo>
                <a:lnTo>
                  <a:pt x="8103383" y="6214534"/>
                </a:lnTo>
                <a:lnTo>
                  <a:pt x="7222929" y="6214534"/>
                </a:lnTo>
                <a:lnTo>
                  <a:pt x="7222929" y="6212748"/>
                </a:lnTo>
                <a:lnTo>
                  <a:pt x="0" y="6212748"/>
                </a:lnTo>
                <a:close/>
              </a:path>
            </a:pathLst>
          </a:custGeom>
          <a:solidFill>
            <a:schemeClr val="tx1">
              <a:lumMod val="50000"/>
              <a:lumOff val="50000"/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2" name="Right Triangle 11">
            <a:extLst>
              <a:ext uri="{FF2B5EF4-FFF2-40B4-BE49-F238E27FC236}">
                <a16:creationId xmlns:a16="http://schemas.microsoft.com/office/drawing/2014/main" id="{5298780A-33B9-4EA2-8F67-DE68AD6284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576720" y="3335867"/>
            <a:ext cx="329184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F488E8B-4E1E-4402-8935-D4E6C02615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1774" y="623275"/>
            <a:ext cx="10905053" cy="5607882"/>
          </a:xfrm>
          <a:prstGeom prst="rect">
            <a:avLst/>
          </a:prstGeom>
          <a:noFill/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Nadpis 1">
            <a:extLst>
              <a:ext uri="{FF2B5EF4-FFF2-40B4-BE49-F238E27FC236}">
                <a16:creationId xmlns:a16="http://schemas.microsoft.com/office/drawing/2014/main" id="{B3680000-8E97-7BCD-0373-6D09E72013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06900" y="1188637"/>
            <a:ext cx="3141430" cy="4480726"/>
          </a:xfrm>
        </p:spPr>
        <p:txBody>
          <a:bodyPr>
            <a:normAutofit/>
          </a:bodyPr>
          <a:lstStyle/>
          <a:p>
            <a:pPr algn="r"/>
            <a:r>
              <a:rPr lang="sk-SK" sz="4000" dirty="0"/>
              <a:t>OPGP  Pokročilí</a:t>
            </a:r>
            <a:r>
              <a:rPr lang="en-US" sz="4000" dirty="0"/>
              <a:t> 13</a:t>
            </a:r>
            <a:br>
              <a:rPr lang="en-US" sz="4000" dirty="0"/>
            </a:br>
            <a:endParaRPr lang="sk-SK" sz="4000" dirty="0"/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23AAC9B5-8015-485C-ACF9-A750390E9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654296" y="1852863"/>
            <a:ext cx="0" cy="3236495"/>
          </a:xfrm>
          <a:prstGeom prst="line">
            <a:avLst/>
          </a:prstGeom>
          <a:ln w="19050" cap="sq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Zástupný objekt pre obsah 2">
            <a:extLst>
              <a:ext uri="{FF2B5EF4-FFF2-40B4-BE49-F238E27FC236}">
                <a16:creationId xmlns:a16="http://schemas.microsoft.com/office/drawing/2014/main" id="{19A88E58-5472-E350-E606-D7A492AB529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38927" y="1338729"/>
            <a:ext cx="5264703" cy="4180542"/>
          </a:xfrm>
        </p:spPr>
        <p:txBody>
          <a:bodyPr anchor="ctr">
            <a:no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dirty="0" err="1"/>
              <a:t>Pygame</a:t>
            </a:r>
            <a:endParaRPr lang="sk-SK" dirty="0"/>
          </a:p>
          <a:p>
            <a:pPr marL="514350" indent="-514350">
              <a:buFont typeface="+mj-lt"/>
              <a:buAutoNum type="arabicPeriod"/>
            </a:pPr>
            <a:r>
              <a:rPr lang="sk-SK" dirty="0" err="1"/>
              <a:t>Rect</a:t>
            </a:r>
            <a:r>
              <a:rPr lang="sk-SK" dirty="0"/>
              <a:t>, vykresľovanie</a:t>
            </a:r>
          </a:p>
          <a:p>
            <a:pPr marL="514350" indent="-514350">
              <a:buFont typeface="+mj-lt"/>
              <a:buAutoNum type="arabicPeriod"/>
            </a:pPr>
            <a:r>
              <a:rPr lang="sk-SK" dirty="0"/>
              <a:t>Udalosti, stav klávesnice</a:t>
            </a:r>
            <a:endParaRPr lang="en-US" dirty="0"/>
          </a:p>
          <a:p>
            <a:pPr marL="514350" indent="-514350">
              <a:buFont typeface="+mj-lt"/>
              <a:buAutoNum type="arabicPeriod"/>
            </a:pPr>
            <a:r>
              <a:rPr lang="sk-SK" dirty="0"/>
              <a:t>Herná slučka</a:t>
            </a:r>
          </a:p>
        </p:txBody>
      </p:sp>
    </p:spTree>
    <p:extLst>
      <p:ext uri="{BB962C8B-B14F-4D97-AF65-F5344CB8AC3E}">
        <p14:creationId xmlns:p14="http://schemas.microsoft.com/office/powerpoint/2010/main" val="299128834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85B952C-DEB0-F05A-6099-A8BDC351D5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Zástupný objekt pre obsah 2">
            <a:extLst>
              <a:ext uri="{FF2B5EF4-FFF2-40B4-BE49-F238E27FC236}">
                <a16:creationId xmlns:a16="http://schemas.microsoft.com/office/drawing/2014/main" id="{EA1B4840-2877-41AB-3F4C-3F6D130D50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22239" y="1589703"/>
            <a:ext cx="10260873" cy="1839298"/>
          </a:xfrm>
        </p:spPr>
        <p:txBody>
          <a:bodyPr>
            <a:noAutofit/>
          </a:bodyPr>
          <a:lstStyle/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US" dirty="0"/>
              <a:t>K</a:t>
            </a:r>
            <a:r>
              <a:rPr lang="sk-SK" dirty="0" err="1"/>
              <a:t>nižnica</a:t>
            </a:r>
            <a:r>
              <a:rPr lang="sk-SK" dirty="0"/>
              <a:t> pre tvorbu 2D hier v </a:t>
            </a:r>
            <a:r>
              <a:rPr lang="sk-SK" dirty="0" err="1"/>
              <a:t>Pythone</a:t>
            </a:r>
            <a:r>
              <a:rPr lang="en-US" dirty="0"/>
              <a:t>, </a:t>
            </a:r>
            <a:r>
              <a:rPr lang="sk-SK" dirty="0">
                <a:hlinkClick r:id="rId2"/>
              </a:rPr>
              <a:t>https://www.pygame.org</a:t>
            </a:r>
            <a:endParaRPr lang="sk-SK" sz="2400" dirty="0">
              <a:highlight>
                <a:srgbClr val="FFFF00"/>
              </a:highlight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buNone/>
            </a:pPr>
            <a:r>
              <a:rPr lang="en-US" dirty="0"/>
              <a:t>In</a:t>
            </a:r>
            <a:r>
              <a:rPr lang="sk-SK" dirty="0" err="1"/>
              <a:t>štalácia</a:t>
            </a:r>
            <a:r>
              <a:rPr lang="sk-SK" dirty="0"/>
              <a:t>: </a:t>
            </a:r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</a:rPr>
              <a:t>pip</a:t>
            </a: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</a:rPr>
              <a:t>install</a:t>
            </a: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</a:rPr>
              <a:t>pygame</a:t>
            </a:r>
            <a:endParaRPr lang="sk-SK" dirty="0">
              <a:highlight>
                <a:srgbClr val="FFFF00"/>
              </a:highlight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buNone/>
            </a:pPr>
            <a:r>
              <a:rPr lang="sk-SK" dirty="0"/>
              <a:t>Modul </a:t>
            </a:r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</a:rPr>
              <a:t>pygame</a:t>
            </a:r>
            <a:endParaRPr lang="sk-SK" dirty="0">
              <a:highlight>
                <a:srgbClr val="FFFF00"/>
              </a:highlight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buNone/>
            </a:pPr>
            <a:r>
              <a:rPr lang="sk-SK" dirty="0"/>
              <a:t>Inicializácia pomocou </a:t>
            </a:r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</a:rPr>
              <a:t>pygame.init</a:t>
            </a: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()</a:t>
            </a:r>
            <a:endParaRPr lang="en-US" dirty="0">
              <a:highlight>
                <a:srgbClr val="FFFF00"/>
              </a:highlight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buNone/>
            </a:pPr>
            <a:r>
              <a:rPr lang="sk-SK" dirty="0"/>
              <a:t>Hlavné okno vytvoríme pomocou </a:t>
            </a:r>
            <a:br>
              <a:rPr lang="sk-SK" dirty="0"/>
            </a:br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</a:rPr>
              <a:t>screen</a:t>
            </a: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 = </a:t>
            </a:r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</a:rPr>
              <a:t>pygame.display.set_mode</a:t>
            </a: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((SIRKA, VYSKA))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sk-SK" dirty="0"/>
              <a:t>Titulok okna zadefinujeme pomocou </a:t>
            </a:r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</a:rPr>
              <a:t>pygame.display.set_caption</a:t>
            </a: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("Titulok")</a:t>
            </a:r>
          </a:p>
          <a:p>
            <a:pPr marL="0" indent="0">
              <a:spcBef>
                <a:spcPts val="1200"/>
              </a:spcBef>
              <a:buNone/>
            </a:pPr>
            <a:endParaRPr lang="sk-SK" sz="2400" dirty="0">
              <a:highlight>
                <a:srgbClr val="FFFF00"/>
              </a:highlight>
              <a:latin typeface="Consolas" panose="020B0609020204030204" pitchFamily="49" charset="0"/>
            </a:endParaRPr>
          </a:p>
        </p:txBody>
      </p:sp>
      <p:sp>
        <p:nvSpPr>
          <p:cNvPr id="5" name="Nadpis 4">
            <a:extLst>
              <a:ext uri="{FF2B5EF4-FFF2-40B4-BE49-F238E27FC236}">
                <a16:creationId xmlns:a16="http://schemas.microsoft.com/office/drawing/2014/main" id="{0916E66A-BCC7-CD34-6629-ED8AD7BB94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Pygame</a:t>
            </a:r>
            <a:endParaRPr lang="sk-SK" dirty="0"/>
          </a:p>
        </p:txBody>
      </p:sp>
    </p:spTree>
    <p:extLst>
      <p:ext uri="{BB962C8B-B14F-4D97-AF65-F5344CB8AC3E}">
        <p14:creationId xmlns:p14="http://schemas.microsoft.com/office/powerpoint/2010/main" val="70453984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CA6E077-7E1D-3C08-FB6B-13141FD61B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Zástupný objekt pre obsah 2">
            <a:extLst>
              <a:ext uri="{FF2B5EF4-FFF2-40B4-BE49-F238E27FC236}">
                <a16:creationId xmlns:a16="http://schemas.microsoft.com/office/drawing/2014/main" id="{11624F04-DED5-0940-DB24-391E9C2A1A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73015" y="1489118"/>
            <a:ext cx="11257569" cy="4903173"/>
          </a:xfrm>
        </p:spPr>
        <p:txBody>
          <a:bodyPr>
            <a:noAutofit/>
          </a:bodyPr>
          <a:lstStyle/>
          <a:p>
            <a:pPr marL="0" indent="0">
              <a:spcBef>
                <a:spcPts val="0"/>
              </a:spcBef>
              <a:buNone/>
            </a:pP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import </a:t>
            </a:r>
            <a:r>
              <a:rPr lang="sk-SK" sz="2400" dirty="0" err="1">
                <a:highlight>
                  <a:srgbClr val="FFFF00"/>
                </a:highlight>
                <a:latin typeface="Consolas" panose="020B0609020204030204" pitchFamily="49" charset="0"/>
              </a:rPr>
              <a:t>pygame</a:t>
            </a:r>
            <a:endParaRPr lang="sk-SK" sz="2400" dirty="0">
              <a:highlight>
                <a:srgbClr val="FFFF00"/>
              </a:highlight>
              <a:latin typeface="Consolas" panose="020B0609020204030204" pitchFamily="49" charset="0"/>
            </a:endParaRPr>
          </a:p>
          <a:p>
            <a:pPr marL="0" indent="0">
              <a:spcBef>
                <a:spcPts val="0"/>
              </a:spcBef>
              <a:buNone/>
            </a:pPr>
            <a:endParaRPr lang="sk-SK" sz="2400" dirty="0">
              <a:highlight>
                <a:srgbClr val="FFFF00"/>
              </a:highlight>
              <a:latin typeface="Consolas" panose="020B0609020204030204" pitchFamily="49" charset="0"/>
            </a:endParaRPr>
          </a:p>
          <a:p>
            <a:pPr marL="0" indent="0">
              <a:spcBef>
                <a:spcPts val="0"/>
              </a:spcBef>
              <a:buNone/>
            </a:pP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SIRKA = 800</a:t>
            </a:r>
          </a:p>
          <a:p>
            <a:pPr marL="0" indent="0">
              <a:spcBef>
                <a:spcPts val="0"/>
              </a:spcBef>
              <a:buNone/>
            </a:pP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VYSKA = 600</a:t>
            </a:r>
          </a:p>
          <a:p>
            <a:pPr marL="0" indent="0">
              <a:spcBef>
                <a:spcPts val="0"/>
              </a:spcBef>
              <a:buNone/>
            </a:pPr>
            <a:endParaRPr lang="sk-SK" sz="2400" dirty="0">
              <a:highlight>
                <a:srgbClr val="FFFF00"/>
              </a:highlight>
              <a:latin typeface="Consolas" panose="020B0609020204030204" pitchFamily="49" charset="0"/>
            </a:endParaRPr>
          </a:p>
          <a:p>
            <a:pPr marL="0" indent="0">
              <a:spcBef>
                <a:spcPts val="0"/>
              </a:spcBef>
              <a:buNone/>
            </a:pPr>
            <a:r>
              <a:rPr lang="sk-SK" sz="2400" dirty="0" err="1">
                <a:highlight>
                  <a:srgbClr val="FFFF00"/>
                </a:highlight>
                <a:latin typeface="Consolas" panose="020B0609020204030204" pitchFamily="49" charset="0"/>
              </a:rPr>
              <a:t>pygame.init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()</a:t>
            </a:r>
          </a:p>
          <a:p>
            <a:pPr marL="0" indent="0">
              <a:spcBef>
                <a:spcPts val="0"/>
              </a:spcBef>
              <a:buNone/>
            </a:pPr>
            <a:r>
              <a:rPr lang="sk-SK" sz="2400" dirty="0" err="1">
                <a:highlight>
                  <a:srgbClr val="FFFF00"/>
                </a:highlight>
                <a:latin typeface="Consolas" panose="020B0609020204030204" pitchFamily="49" charset="0"/>
              </a:rPr>
              <a:t>screen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 = </a:t>
            </a:r>
            <a:r>
              <a:rPr lang="sk-SK" sz="2400" dirty="0" err="1">
                <a:highlight>
                  <a:srgbClr val="FFFF00"/>
                </a:highlight>
                <a:latin typeface="Consolas" panose="020B0609020204030204" pitchFamily="49" charset="0"/>
              </a:rPr>
              <a:t>pygame.display.set_mode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((SIRKA, VYSKA))</a:t>
            </a:r>
          </a:p>
          <a:p>
            <a:pPr marL="0" indent="0">
              <a:spcBef>
                <a:spcPts val="0"/>
              </a:spcBef>
              <a:buNone/>
            </a:pPr>
            <a:r>
              <a:rPr lang="sk-SK" sz="2400" dirty="0" err="1">
                <a:highlight>
                  <a:srgbClr val="FFFF00"/>
                </a:highlight>
                <a:latin typeface="Consolas" panose="020B0609020204030204" pitchFamily="49" charset="0"/>
              </a:rPr>
              <a:t>pygame.display.set_caption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("Hra")</a:t>
            </a:r>
          </a:p>
        </p:txBody>
      </p:sp>
      <p:sp>
        <p:nvSpPr>
          <p:cNvPr id="5" name="Nadpis 4">
            <a:extLst>
              <a:ext uri="{FF2B5EF4-FFF2-40B4-BE49-F238E27FC236}">
                <a16:creationId xmlns:a16="http://schemas.microsoft.com/office/drawing/2014/main" id="{95F7E574-183B-1724-005B-A714154DDA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k-SK" dirty="0" err="1"/>
              <a:t>Pygame</a:t>
            </a:r>
            <a:endParaRPr lang="sk-SK" dirty="0"/>
          </a:p>
        </p:txBody>
      </p:sp>
    </p:spTree>
    <p:extLst>
      <p:ext uri="{BB962C8B-B14F-4D97-AF65-F5344CB8AC3E}">
        <p14:creationId xmlns:p14="http://schemas.microsoft.com/office/powerpoint/2010/main" val="28297147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5A3543F-7EB0-2776-E718-8A879EB199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Zástupný objekt pre obsah 2">
            <a:extLst>
              <a:ext uri="{FF2B5EF4-FFF2-40B4-BE49-F238E27FC236}">
                <a16:creationId xmlns:a16="http://schemas.microsoft.com/office/drawing/2014/main" id="{657F554B-0241-F81D-A0DF-0EB31990ACA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22239" y="1589703"/>
            <a:ext cx="10431561" cy="1025482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sk-SK" dirty="0"/>
              <a:t>Farby sú reprezentované ako </a:t>
            </a:r>
            <a:r>
              <a:rPr lang="sk-SK" dirty="0" err="1"/>
              <a:t>tuple</a:t>
            </a:r>
            <a:r>
              <a:rPr lang="sk-SK" dirty="0"/>
              <a:t> </a:t>
            </a: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(R, G, B)</a:t>
            </a:r>
            <a:r>
              <a:rPr lang="sk-SK" dirty="0"/>
              <a:t> v intervaloch 0-255</a:t>
            </a:r>
            <a:endParaRPr lang="sk-SK" sz="2800" dirty="0"/>
          </a:p>
        </p:txBody>
      </p:sp>
      <p:sp>
        <p:nvSpPr>
          <p:cNvPr id="5" name="Nadpis 4">
            <a:extLst>
              <a:ext uri="{FF2B5EF4-FFF2-40B4-BE49-F238E27FC236}">
                <a16:creationId xmlns:a16="http://schemas.microsoft.com/office/drawing/2014/main" id="{1E64CADF-C682-0256-AB1D-7C90308C48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k-SK" dirty="0"/>
              <a:t>Farby</a:t>
            </a:r>
          </a:p>
        </p:txBody>
      </p:sp>
      <p:sp>
        <p:nvSpPr>
          <p:cNvPr id="6" name="Nadpis 4">
            <a:extLst>
              <a:ext uri="{FF2B5EF4-FFF2-40B4-BE49-F238E27FC236}">
                <a16:creationId xmlns:a16="http://schemas.microsoft.com/office/drawing/2014/main" id="{B0C3CF00-0485-5482-645D-55C62877F2D6}"/>
              </a:ext>
            </a:extLst>
          </p:cNvPr>
          <p:cNvSpPr txBox="1">
            <a:spLocks/>
          </p:cNvSpPr>
          <p:nvPr/>
        </p:nvSpPr>
        <p:spPr>
          <a:xfrm>
            <a:off x="838200" y="2252484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sk-SK" dirty="0" err="1"/>
              <a:t>Rect</a:t>
            </a:r>
            <a:endParaRPr lang="sk-SK" dirty="0"/>
          </a:p>
        </p:txBody>
      </p:sp>
      <p:sp>
        <p:nvSpPr>
          <p:cNvPr id="7" name="Zástupný objekt pre obsah 2">
            <a:extLst>
              <a:ext uri="{FF2B5EF4-FFF2-40B4-BE49-F238E27FC236}">
                <a16:creationId xmlns:a16="http://schemas.microsoft.com/office/drawing/2014/main" id="{4894FF34-B7D6-B159-8C96-5A45144C8655}"/>
              </a:ext>
            </a:extLst>
          </p:cNvPr>
          <p:cNvSpPr txBox="1">
            <a:spLocks/>
          </p:cNvSpPr>
          <p:nvPr/>
        </p:nvSpPr>
        <p:spPr>
          <a:xfrm>
            <a:off x="880219" y="3578047"/>
            <a:ext cx="10431561" cy="291482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sk-SK" dirty="0"/>
              <a:t>Trieda </a:t>
            </a:r>
            <a:r>
              <a:rPr lang="sk-SK" dirty="0" err="1"/>
              <a:t>Rect</a:t>
            </a:r>
            <a:r>
              <a:rPr lang="sk-SK" dirty="0"/>
              <a:t> - obdĺžnik, </a:t>
            </a:r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</a:rPr>
              <a:t>pygame.Rect</a:t>
            </a: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(x, y, </a:t>
            </a:r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</a:rPr>
              <a:t>width</a:t>
            </a: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, </a:t>
            </a:r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</a:rPr>
              <a:t>height</a:t>
            </a: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)</a:t>
            </a:r>
          </a:p>
          <a:p>
            <a:pPr marL="0" indent="0">
              <a:buNone/>
            </a:pPr>
            <a:r>
              <a:rPr lang="sk-SK" dirty="0"/>
              <a:t>Trieda poskytuje rôzne atribúty ako napr. </a:t>
            </a: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x</a:t>
            </a:r>
            <a:r>
              <a:rPr lang="sk-SK" dirty="0"/>
              <a:t>, </a:t>
            </a: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y</a:t>
            </a:r>
            <a:r>
              <a:rPr lang="sk-SK" dirty="0"/>
              <a:t>, </a:t>
            </a:r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</a:rPr>
              <a:t>width</a:t>
            </a:r>
            <a:r>
              <a:rPr lang="sk-SK" dirty="0"/>
              <a:t>, </a:t>
            </a:r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</a:rPr>
              <a:t>height</a:t>
            </a: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</a:p>
          <a:p>
            <a:pPr marL="0" indent="0">
              <a:buNone/>
            </a:pPr>
            <a:r>
              <a:rPr lang="sk-SK" dirty="0"/>
              <a:t>Detekcia kolízie pomocou </a:t>
            </a:r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</a:rPr>
              <a:t>rect.colliderect</a:t>
            </a: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(</a:t>
            </a:r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</a:rPr>
              <a:t>other_rect</a:t>
            </a: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406160043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75A19C3-DA18-4107-E8B7-6008A092D7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Zástupný objekt pre obsah 2">
            <a:extLst>
              <a:ext uri="{FF2B5EF4-FFF2-40B4-BE49-F238E27FC236}">
                <a16:creationId xmlns:a16="http://schemas.microsoft.com/office/drawing/2014/main" id="{16925C36-18D0-E048-8DF4-6BC3BFA9CB0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22239" y="1589702"/>
            <a:ext cx="10431561" cy="4747089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sk-SK" dirty="0"/>
              <a:t>Vykresľovanie tvarov: </a:t>
            </a:r>
          </a:p>
          <a:p>
            <a:pPr lvl="1"/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</a:rPr>
              <a:t>pygame.draw.rect</a:t>
            </a:r>
            <a:endParaRPr lang="sk-SK" dirty="0">
              <a:highlight>
                <a:srgbClr val="FFFF00"/>
              </a:highlight>
              <a:latin typeface="Consolas" panose="020B0609020204030204" pitchFamily="49" charset="0"/>
            </a:endParaRPr>
          </a:p>
          <a:p>
            <a:pPr lvl="1"/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</a:rPr>
              <a:t>pygame.draw.ellipse</a:t>
            </a:r>
            <a:endParaRPr lang="sk-SK" dirty="0">
              <a:highlight>
                <a:srgbClr val="FFFF00"/>
              </a:highlight>
              <a:latin typeface="Consolas" panose="020B0609020204030204" pitchFamily="49" charset="0"/>
            </a:endParaRPr>
          </a:p>
          <a:p>
            <a:pPr lvl="1"/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</a:rPr>
              <a:t>pygame.draw.line</a:t>
            </a:r>
            <a:endParaRPr lang="sk-SK" dirty="0">
              <a:highlight>
                <a:srgbClr val="FFFF00"/>
              </a:highlight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sk-SK" dirty="0"/>
              <a:t>Vykresľovanie textu v 3 krokoch: </a:t>
            </a:r>
          </a:p>
          <a:p>
            <a:pPr lvl="1"/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</a:rPr>
              <a:t>pygame.font.SysFont</a:t>
            </a:r>
            <a:r>
              <a:rPr lang="sk-SK" dirty="0"/>
              <a:t> – vytvorí font</a:t>
            </a:r>
          </a:p>
          <a:p>
            <a:pPr lvl="1"/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</a:rPr>
              <a:t>font.render</a:t>
            </a:r>
            <a:r>
              <a:rPr lang="sk-SK" dirty="0"/>
              <a:t> – </a:t>
            </a:r>
            <a:r>
              <a:rPr lang="sk-SK" dirty="0" err="1"/>
              <a:t>vyrenderuje</a:t>
            </a:r>
            <a:r>
              <a:rPr lang="sk-SK" dirty="0"/>
              <a:t> text do objektu</a:t>
            </a:r>
          </a:p>
          <a:p>
            <a:pPr lvl="1"/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</a:rPr>
              <a:t>screen.blit</a:t>
            </a:r>
            <a:r>
              <a:rPr lang="sk-SK" dirty="0"/>
              <a:t> - vykreslí do okna</a:t>
            </a:r>
          </a:p>
        </p:txBody>
      </p:sp>
      <p:sp>
        <p:nvSpPr>
          <p:cNvPr id="5" name="Nadpis 4">
            <a:extLst>
              <a:ext uri="{FF2B5EF4-FFF2-40B4-BE49-F238E27FC236}">
                <a16:creationId xmlns:a16="http://schemas.microsoft.com/office/drawing/2014/main" id="{E1C78ACF-5640-CB6A-B977-0343CBC22B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k-SK" dirty="0"/>
              <a:t>Vykresľovanie</a:t>
            </a:r>
          </a:p>
        </p:txBody>
      </p:sp>
    </p:spTree>
    <p:extLst>
      <p:ext uri="{BB962C8B-B14F-4D97-AF65-F5344CB8AC3E}">
        <p14:creationId xmlns:p14="http://schemas.microsoft.com/office/powerpoint/2010/main" val="65386588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39A1788-6126-F919-44D4-D492D48B89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Zástupný objekt pre obsah 2">
            <a:extLst>
              <a:ext uri="{FF2B5EF4-FFF2-40B4-BE49-F238E27FC236}">
                <a16:creationId xmlns:a16="http://schemas.microsoft.com/office/drawing/2014/main" id="{57EEDCAF-67EB-F6FF-8D69-8852B1AAECA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22239" y="1435608"/>
            <a:ext cx="10431561" cy="4946904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sk-SK" dirty="0" err="1"/>
              <a:t>Jednorázové</a:t>
            </a:r>
            <a:r>
              <a:rPr lang="sk-SK" dirty="0"/>
              <a:t> udalosti (klik myšou, stlačenie klávesy): </a:t>
            </a:r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</a:rPr>
              <a:t>pygame.event.get</a:t>
            </a: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</a:p>
          <a:p>
            <a:pPr marL="0" indent="0">
              <a:buNone/>
            </a:pPr>
            <a:r>
              <a:rPr lang="sk-SK" dirty="0"/>
              <a:t>Stav klávesnice - </a:t>
            </a:r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</a:rPr>
              <a:t>pygame.key.get_pressed</a:t>
            </a: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()</a:t>
            </a:r>
          </a:p>
          <a:p>
            <a:pPr marL="0" indent="0">
              <a:spcBef>
                <a:spcPts val="0"/>
              </a:spcBef>
              <a:buNone/>
            </a:pPr>
            <a:endParaRPr lang="sk-SK" sz="2400" dirty="0">
              <a:highlight>
                <a:srgbClr val="FFFF00"/>
              </a:highlight>
              <a:latin typeface="Consolas" panose="020B0609020204030204" pitchFamily="49" charset="0"/>
            </a:endParaRPr>
          </a:p>
          <a:p>
            <a:pPr marL="0" indent="0">
              <a:spcBef>
                <a:spcPts val="0"/>
              </a:spcBef>
              <a:buNone/>
            </a:pPr>
            <a:r>
              <a:rPr lang="sk-SK" sz="2400" dirty="0" err="1">
                <a:highlight>
                  <a:srgbClr val="FFFF00"/>
                </a:highlight>
                <a:latin typeface="Consolas" panose="020B0609020204030204" pitchFamily="49" charset="0"/>
              </a:rPr>
              <a:t>for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 event in </a:t>
            </a:r>
            <a:r>
              <a:rPr lang="sk-SK" sz="2400" b="1" dirty="0" err="1">
                <a:highlight>
                  <a:srgbClr val="FFFF00"/>
                </a:highlight>
                <a:latin typeface="Consolas" panose="020B0609020204030204" pitchFamily="49" charset="0"/>
              </a:rPr>
              <a:t>pygame.event.get</a:t>
            </a:r>
            <a:r>
              <a:rPr lang="sk-SK" sz="2400" b="1" dirty="0">
                <a:highlight>
                  <a:srgbClr val="FFFF00"/>
                </a:highlight>
                <a:latin typeface="Consolas" panose="020B0609020204030204" pitchFamily="49" charset="0"/>
              </a:rPr>
              <a:t>()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buNone/>
            </a:pP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    </a:t>
            </a:r>
            <a:r>
              <a:rPr lang="sk-SK" sz="2400" dirty="0" err="1">
                <a:highlight>
                  <a:srgbClr val="FFFF00"/>
                </a:highlight>
                <a:latin typeface="Consolas" panose="020B0609020204030204" pitchFamily="49" charset="0"/>
              </a:rPr>
              <a:t>if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sk-SK" sz="2400" b="1" dirty="0" err="1">
                <a:highlight>
                  <a:srgbClr val="FFFF00"/>
                </a:highlight>
                <a:latin typeface="Consolas" panose="020B0609020204030204" pitchFamily="49" charset="0"/>
              </a:rPr>
              <a:t>event.type</a:t>
            </a:r>
            <a:r>
              <a:rPr lang="sk-SK" sz="2400" b="1" dirty="0">
                <a:highlight>
                  <a:srgbClr val="FFFF00"/>
                </a:highlight>
                <a:latin typeface="Consolas" panose="020B0609020204030204" pitchFamily="49" charset="0"/>
              </a:rPr>
              <a:t> == </a:t>
            </a:r>
            <a:r>
              <a:rPr lang="sk-SK" sz="2400" b="1" dirty="0" err="1">
                <a:highlight>
                  <a:srgbClr val="FFFF00"/>
                </a:highlight>
                <a:latin typeface="Consolas" panose="020B0609020204030204" pitchFamily="49" charset="0"/>
              </a:rPr>
              <a:t>pygame.QUIT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buNone/>
            </a:pP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        </a:t>
            </a:r>
            <a:r>
              <a:rPr lang="sk-SK" sz="2400" dirty="0" err="1">
                <a:highlight>
                  <a:srgbClr val="FFFF00"/>
                </a:highlight>
                <a:latin typeface="Consolas" panose="020B0609020204030204" pitchFamily="49" charset="0"/>
              </a:rPr>
              <a:t>pygame.quit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()</a:t>
            </a:r>
          </a:p>
          <a:p>
            <a:pPr marL="0" indent="0">
              <a:spcBef>
                <a:spcPts val="0"/>
              </a:spcBef>
              <a:buNone/>
            </a:pP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        </a:t>
            </a:r>
            <a:r>
              <a:rPr lang="sk-SK" sz="2400" dirty="0" err="1">
                <a:highlight>
                  <a:srgbClr val="FFFF00"/>
                </a:highlight>
                <a:latin typeface="Consolas" panose="020B0609020204030204" pitchFamily="49" charset="0"/>
              </a:rPr>
              <a:t>sys.exit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()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sz="2400" dirty="0">
                <a:highlight>
                  <a:srgbClr val="FFFF00"/>
                </a:highlight>
                <a:latin typeface="Consolas" panose="020B0609020204030204" pitchFamily="49" charset="0"/>
              </a:rPr>
              <a:t>    </a:t>
            </a:r>
            <a:r>
              <a:rPr lang="sk-SK" sz="2400" dirty="0" err="1">
                <a:highlight>
                  <a:srgbClr val="FFFF00"/>
                </a:highlight>
                <a:latin typeface="Consolas" panose="020B0609020204030204" pitchFamily="49" charset="0"/>
              </a:rPr>
              <a:t>if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sk-SK" sz="2400" b="1" dirty="0" err="1">
                <a:highlight>
                  <a:srgbClr val="FFFF00"/>
                </a:highlight>
                <a:latin typeface="Consolas" panose="020B0609020204030204" pitchFamily="49" charset="0"/>
              </a:rPr>
              <a:t>event.type</a:t>
            </a:r>
            <a:r>
              <a:rPr lang="sk-SK" sz="2400" b="1" dirty="0">
                <a:highlight>
                  <a:srgbClr val="FFFF00"/>
                </a:highlight>
                <a:latin typeface="Consolas" panose="020B0609020204030204" pitchFamily="49" charset="0"/>
              </a:rPr>
              <a:t> == </a:t>
            </a:r>
            <a:r>
              <a:rPr lang="sk-SK" sz="2400" b="1" dirty="0" err="1">
                <a:highlight>
                  <a:srgbClr val="FFFF00"/>
                </a:highlight>
                <a:latin typeface="Consolas" panose="020B0609020204030204" pitchFamily="49" charset="0"/>
              </a:rPr>
              <a:t>pygame.KEYDOWN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buNone/>
            </a:pP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        </a:t>
            </a:r>
            <a:r>
              <a:rPr lang="sk-SK" sz="2400" dirty="0" err="1">
                <a:highlight>
                  <a:srgbClr val="FFFF00"/>
                </a:highlight>
                <a:latin typeface="Consolas" panose="020B0609020204030204" pitchFamily="49" charset="0"/>
              </a:rPr>
              <a:t>if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sk-SK" sz="2400" b="1" dirty="0" err="1">
                <a:highlight>
                  <a:srgbClr val="FFFF00"/>
                </a:highlight>
                <a:latin typeface="Consolas" panose="020B0609020204030204" pitchFamily="49" charset="0"/>
              </a:rPr>
              <a:t>event.key</a:t>
            </a:r>
            <a:r>
              <a:rPr lang="sk-SK" sz="2400" b="1" dirty="0">
                <a:highlight>
                  <a:srgbClr val="FFFF00"/>
                </a:highlight>
                <a:latin typeface="Consolas" panose="020B0609020204030204" pitchFamily="49" charset="0"/>
              </a:rPr>
              <a:t> == </a:t>
            </a:r>
            <a:r>
              <a:rPr lang="sk-SK" sz="2400" b="1" dirty="0" err="1">
                <a:highlight>
                  <a:srgbClr val="FFFF00"/>
                </a:highlight>
                <a:latin typeface="Consolas" panose="020B0609020204030204" pitchFamily="49" charset="0"/>
              </a:rPr>
              <a:t>pygame.K_ESCAPE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buNone/>
            </a:pP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            # stlačenie ESC</a:t>
            </a:r>
          </a:p>
        </p:txBody>
      </p:sp>
      <p:sp>
        <p:nvSpPr>
          <p:cNvPr id="5" name="Nadpis 4">
            <a:extLst>
              <a:ext uri="{FF2B5EF4-FFF2-40B4-BE49-F238E27FC236}">
                <a16:creationId xmlns:a16="http://schemas.microsoft.com/office/drawing/2014/main" id="{778C3B43-9B20-EC60-94FF-7545CDD6E6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k-SK" dirty="0"/>
              <a:t>Udalosti</a:t>
            </a:r>
          </a:p>
        </p:txBody>
      </p:sp>
    </p:spTree>
    <p:extLst>
      <p:ext uri="{BB962C8B-B14F-4D97-AF65-F5344CB8AC3E}">
        <p14:creationId xmlns:p14="http://schemas.microsoft.com/office/powerpoint/2010/main" val="90227697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92BE763-6B73-176E-E179-6C8B2FC918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Zástupný objekt pre obsah 2">
            <a:extLst>
              <a:ext uri="{FF2B5EF4-FFF2-40B4-BE49-F238E27FC236}">
                <a16:creationId xmlns:a16="http://schemas.microsoft.com/office/drawing/2014/main" id="{F77A12F0-1D29-954B-FC3A-59584A5094C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22239" y="1435608"/>
            <a:ext cx="10431561" cy="4946904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sk-SK" dirty="0"/>
              <a:t>Hra beží v nekonečnom cykle </a:t>
            </a:r>
          </a:p>
          <a:p>
            <a:pPr marL="0" indent="0">
              <a:buNone/>
            </a:pPr>
            <a:r>
              <a:rPr lang="sk-SK" dirty="0"/>
              <a:t>Jedna iterácia je jeden </a:t>
            </a:r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</a:rPr>
              <a:t>tick</a:t>
            </a:r>
            <a:r>
              <a:rPr lang="sk-SK" dirty="0"/>
              <a:t> alebo </a:t>
            </a:r>
            <a:r>
              <a:rPr lang="sk-SK" dirty="0" err="1"/>
              <a:t>frame</a:t>
            </a:r>
            <a:r>
              <a:rPr lang="sk-SK" dirty="0"/>
              <a:t> - snímka </a:t>
            </a:r>
          </a:p>
          <a:p>
            <a:pPr marL="0" indent="0">
              <a:buNone/>
            </a:pPr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</a:rPr>
              <a:t>pygame.time.Clock</a:t>
            </a:r>
            <a:r>
              <a:rPr lang="sk-SK" dirty="0"/>
              <a:t> umožňuje spomaliť cyklus na požadované FPS </a:t>
            </a:r>
          </a:p>
          <a:p>
            <a:pPr marL="0" indent="0">
              <a:buNone/>
            </a:pPr>
            <a:r>
              <a:rPr lang="sk-SK" dirty="0"/>
              <a:t>Úloha hlavnej slučky je zachytiť a spracovať udalosti, aktualizovať stav sveta hry a potom vykresliť hru na obrazovku. </a:t>
            </a:r>
          </a:p>
          <a:p>
            <a:pPr marL="0" indent="0">
              <a:buNone/>
            </a:pPr>
            <a:r>
              <a:rPr lang="sk-SK" dirty="0"/>
              <a:t>Všetko ostatné je potrebné si pripraviť vopred. </a:t>
            </a:r>
          </a:p>
          <a:p>
            <a:pPr marL="0" indent="0">
              <a:buNone/>
            </a:pPr>
            <a:r>
              <a:rPr lang="sk-SK" dirty="0"/>
              <a:t>Je zbytočné vytvárať fonty a načítavať obrázky v každej iterácii slučky, v každom </a:t>
            </a:r>
            <a:r>
              <a:rPr lang="sk-SK" dirty="0" err="1"/>
              <a:t>frame</a:t>
            </a:r>
            <a:endParaRPr lang="sk-SK" sz="2400" dirty="0">
              <a:highlight>
                <a:srgbClr val="FFFF00"/>
              </a:highlight>
              <a:latin typeface="Consolas" panose="020B0609020204030204" pitchFamily="49" charset="0"/>
            </a:endParaRPr>
          </a:p>
        </p:txBody>
      </p:sp>
      <p:sp>
        <p:nvSpPr>
          <p:cNvPr id="5" name="Nadpis 4">
            <a:extLst>
              <a:ext uri="{FF2B5EF4-FFF2-40B4-BE49-F238E27FC236}">
                <a16:creationId xmlns:a16="http://schemas.microsoft.com/office/drawing/2014/main" id="{A4C34724-D63F-492F-C2CE-955AE4F27E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k-SK" dirty="0"/>
              <a:t>Hlavná herná slučka</a:t>
            </a:r>
          </a:p>
        </p:txBody>
      </p:sp>
    </p:spTree>
    <p:extLst>
      <p:ext uri="{BB962C8B-B14F-4D97-AF65-F5344CB8AC3E}">
        <p14:creationId xmlns:p14="http://schemas.microsoft.com/office/powerpoint/2010/main" val="256632942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F7611D6-1FB3-79DB-E4FF-6450613540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Zástupný objekt pre obsah 2">
            <a:extLst>
              <a:ext uri="{FF2B5EF4-FFF2-40B4-BE49-F238E27FC236}">
                <a16:creationId xmlns:a16="http://schemas.microsoft.com/office/drawing/2014/main" id="{D6B30BE2-C509-DE9A-E9A0-F3AE2E41D6C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93639" y="356616"/>
            <a:ext cx="10431561" cy="6153912"/>
          </a:xfrm>
        </p:spPr>
        <p:txBody>
          <a:bodyPr>
            <a:noAutofit/>
          </a:bodyPr>
          <a:lstStyle/>
          <a:p>
            <a:pPr marL="0" indent="0">
              <a:spcBef>
                <a:spcPts val="0"/>
              </a:spcBef>
              <a:buNone/>
            </a:pPr>
            <a:r>
              <a:rPr lang="sk-SK" sz="2400" dirty="0" err="1">
                <a:highlight>
                  <a:srgbClr val="FFFF00"/>
                </a:highlight>
                <a:latin typeface="Consolas" panose="020B0609020204030204" pitchFamily="49" charset="0"/>
              </a:rPr>
              <a:t>clock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 = </a:t>
            </a:r>
            <a:r>
              <a:rPr lang="sk-SK" sz="2400" dirty="0" err="1">
                <a:highlight>
                  <a:srgbClr val="FFFF00"/>
                </a:highlight>
                <a:latin typeface="Consolas" panose="020B0609020204030204" pitchFamily="49" charset="0"/>
              </a:rPr>
              <a:t>pygame.time.Clock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()</a:t>
            </a:r>
          </a:p>
          <a:p>
            <a:pPr marL="0" indent="0">
              <a:spcBef>
                <a:spcPts val="0"/>
              </a:spcBef>
              <a:buNone/>
            </a:pPr>
            <a:r>
              <a:rPr lang="sk-SK" sz="2400" b="1" dirty="0" err="1">
                <a:highlight>
                  <a:srgbClr val="FFFF00"/>
                </a:highlight>
                <a:latin typeface="Consolas" panose="020B0609020204030204" pitchFamily="49" charset="0"/>
              </a:rPr>
              <a:t>while</a:t>
            </a:r>
            <a:r>
              <a:rPr lang="sk-SK" sz="2400" b="1" dirty="0"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sk-SK" sz="2400" b="1" dirty="0" err="1">
                <a:highlight>
                  <a:srgbClr val="FFFF00"/>
                </a:highlight>
                <a:latin typeface="Consolas" panose="020B0609020204030204" pitchFamily="49" charset="0"/>
              </a:rPr>
              <a:t>True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buNone/>
            </a:pP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    </a:t>
            </a:r>
            <a:r>
              <a:rPr lang="sk-SK" sz="2400" i="1" dirty="0">
                <a:highlight>
                  <a:srgbClr val="FFFF00"/>
                </a:highlight>
                <a:latin typeface="Consolas" panose="020B0609020204030204" pitchFamily="49" charset="0"/>
              </a:rPr>
              <a:t># 1. Spracovanie udalosti</a:t>
            </a:r>
          </a:p>
          <a:p>
            <a:pPr marL="0" indent="0">
              <a:spcBef>
                <a:spcPts val="0"/>
              </a:spcBef>
              <a:buNone/>
            </a:pP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    </a:t>
            </a:r>
            <a:r>
              <a:rPr lang="sk-SK" sz="2400" b="1" dirty="0" err="1">
                <a:highlight>
                  <a:srgbClr val="FFFF00"/>
                </a:highlight>
                <a:latin typeface="Consolas" panose="020B0609020204030204" pitchFamily="49" charset="0"/>
              </a:rPr>
              <a:t>for</a:t>
            </a:r>
            <a:r>
              <a:rPr lang="sk-SK" sz="2400" b="1" dirty="0">
                <a:highlight>
                  <a:srgbClr val="FFFF00"/>
                </a:highlight>
                <a:latin typeface="Consolas" panose="020B0609020204030204" pitchFamily="49" charset="0"/>
              </a:rPr>
              <a:t> event in </a:t>
            </a:r>
            <a:r>
              <a:rPr lang="sk-SK" sz="2400" b="1" dirty="0" err="1">
                <a:highlight>
                  <a:srgbClr val="FFFF00"/>
                </a:highlight>
                <a:latin typeface="Consolas" panose="020B0609020204030204" pitchFamily="49" charset="0"/>
              </a:rPr>
              <a:t>pygame.event.get</a:t>
            </a:r>
            <a:r>
              <a:rPr lang="sk-SK" sz="2400" b="1" dirty="0">
                <a:highlight>
                  <a:srgbClr val="FFFF00"/>
                </a:highlight>
                <a:latin typeface="Consolas" panose="020B0609020204030204" pitchFamily="49" charset="0"/>
              </a:rPr>
              <a:t>():</a:t>
            </a:r>
          </a:p>
          <a:p>
            <a:pPr marL="0" indent="0">
              <a:spcBef>
                <a:spcPts val="0"/>
              </a:spcBef>
              <a:buNone/>
            </a:pPr>
            <a:r>
              <a:rPr lang="sk-SK" sz="2400" b="1" dirty="0">
                <a:highlight>
                  <a:srgbClr val="FFFF00"/>
                </a:highlight>
                <a:latin typeface="Consolas" panose="020B0609020204030204" pitchFamily="49" charset="0"/>
              </a:rPr>
              <a:t>        </a:t>
            </a:r>
            <a:r>
              <a:rPr lang="sk-SK" sz="2400" b="1" dirty="0" err="1">
                <a:highlight>
                  <a:srgbClr val="FFFF00"/>
                </a:highlight>
                <a:latin typeface="Consolas" panose="020B0609020204030204" pitchFamily="49" charset="0"/>
              </a:rPr>
              <a:t>if</a:t>
            </a:r>
            <a:r>
              <a:rPr lang="sk-SK" sz="2400" b="1" dirty="0"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sk-SK" sz="2400" b="1" dirty="0" err="1">
                <a:highlight>
                  <a:srgbClr val="FFFF00"/>
                </a:highlight>
                <a:latin typeface="Consolas" panose="020B0609020204030204" pitchFamily="49" charset="0"/>
              </a:rPr>
              <a:t>event.type</a:t>
            </a:r>
            <a:r>
              <a:rPr lang="sk-SK" sz="2400" b="1" dirty="0">
                <a:highlight>
                  <a:srgbClr val="FFFF00"/>
                </a:highlight>
                <a:latin typeface="Consolas" panose="020B0609020204030204" pitchFamily="49" charset="0"/>
              </a:rPr>
              <a:t> == </a:t>
            </a:r>
            <a:r>
              <a:rPr lang="sk-SK" sz="2400" b="1" dirty="0" err="1">
                <a:highlight>
                  <a:srgbClr val="FFFF00"/>
                </a:highlight>
                <a:latin typeface="Consolas" panose="020B0609020204030204" pitchFamily="49" charset="0"/>
              </a:rPr>
              <a:t>pygame.QUIT</a:t>
            </a:r>
            <a:r>
              <a:rPr lang="sk-SK" sz="2400" b="1" dirty="0">
                <a:highlight>
                  <a:srgbClr val="FFFF00"/>
                </a:highlight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buNone/>
            </a:pPr>
            <a:r>
              <a:rPr lang="sk-SK" sz="2400" b="1" dirty="0">
                <a:highlight>
                  <a:srgbClr val="FFFF00"/>
                </a:highlight>
                <a:latin typeface="Consolas" panose="020B0609020204030204" pitchFamily="49" charset="0"/>
              </a:rPr>
              <a:t>            </a:t>
            </a:r>
            <a:r>
              <a:rPr lang="sk-SK" sz="2400" b="1" dirty="0" err="1">
                <a:highlight>
                  <a:srgbClr val="FFFF00"/>
                </a:highlight>
                <a:latin typeface="Consolas" panose="020B0609020204030204" pitchFamily="49" charset="0"/>
              </a:rPr>
              <a:t>pygame.quit</a:t>
            </a:r>
            <a:r>
              <a:rPr lang="sk-SK" sz="2400" b="1" dirty="0">
                <a:highlight>
                  <a:srgbClr val="FFFF00"/>
                </a:highlight>
                <a:latin typeface="Consolas" panose="020B0609020204030204" pitchFamily="49" charset="0"/>
              </a:rPr>
              <a:t>()</a:t>
            </a:r>
          </a:p>
          <a:p>
            <a:pPr marL="0" indent="0">
              <a:spcBef>
                <a:spcPts val="0"/>
              </a:spcBef>
              <a:buNone/>
            </a:pPr>
            <a:r>
              <a:rPr lang="sk-SK" sz="2400" b="1" dirty="0">
                <a:highlight>
                  <a:srgbClr val="FFFF00"/>
                </a:highlight>
                <a:latin typeface="Consolas" panose="020B0609020204030204" pitchFamily="49" charset="0"/>
              </a:rPr>
              <a:t>            </a:t>
            </a:r>
            <a:r>
              <a:rPr lang="sk-SK" sz="2400" b="1" dirty="0" err="1">
                <a:highlight>
                  <a:srgbClr val="FFFF00"/>
                </a:highlight>
                <a:latin typeface="Consolas" panose="020B0609020204030204" pitchFamily="49" charset="0"/>
              </a:rPr>
              <a:t>sys.exit</a:t>
            </a:r>
            <a:r>
              <a:rPr lang="sk-SK" sz="2400" b="1" dirty="0">
                <a:highlight>
                  <a:srgbClr val="FFFF00"/>
                </a:highlight>
                <a:latin typeface="Consolas" panose="020B0609020204030204" pitchFamily="49" charset="0"/>
              </a:rPr>
              <a:t>()</a:t>
            </a:r>
          </a:p>
          <a:p>
            <a:pPr marL="0" indent="0">
              <a:spcBef>
                <a:spcPts val="0"/>
              </a:spcBef>
              <a:buNone/>
            </a:pP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        ...</a:t>
            </a:r>
          </a:p>
          <a:p>
            <a:pPr marL="0" indent="0">
              <a:spcBef>
                <a:spcPts val="0"/>
              </a:spcBef>
              <a:buNone/>
            </a:pP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    </a:t>
            </a:r>
            <a:r>
              <a:rPr lang="sk-SK" sz="2400" i="1" dirty="0">
                <a:highlight>
                  <a:srgbClr val="FFFF00"/>
                </a:highlight>
                <a:latin typeface="Consolas" panose="020B0609020204030204" pitchFamily="49" charset="0"/>
              </a:rPr>
              <a:t># 2. Aktualizácia stavu hry, napr. pohyb objektov</a:t>
            </a:r>
          </a:p>
          <a:p>
            <a:pPr marL="0" indent="0">
              <a:spcBef>
                <a:spcPts val="0"/>
              </a:spcBef>
              <a:buNone/>
            </a:pP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    </a:t>
            </a:r>
            <a:r>
              <a:rPr lang="sk-SK" sz="2400" b="1" dirty="0">
                <a:highlight>
                  <a:srgbClr val="FFFF00"/>
                </a:highlight>
                <a:latin typeface="Consolas" panose="020B0609020204030204" pitchFamily="49" charset="0"/>
              </a:rPr>
              <a:t>update()</a:t>
            </a:r>
          </a:p>
          <a:p>
            <a:pPr marL="0" indent="0">
              <a:spcBef>
                <a:spcPts val="0"/>
              </a:spcBef>
              <a:buNone/>
            </a:pP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    </a:t>
            </a:r>
            <a:r>
              <a:rPr lang="sk-SK" sz="2400" i="1" dirty="0">
                <a:highlight>
                  <a:srgbClr val="FFFF00"/>
                </a:highlight>
                <a:latin typeface="Consolas" panose="020B0609020204030204" pitchFamily="49" charset="0"/>
              </a:rPr>
              <a:t># 3. Vyčistiť obraz</a:t>
            </a:r>
          </a:p>
          <a:p>
            <a:pPr marL="0" indent="0">
              <a:spcBef>
                <a:spcPts val="0"/>
              </a:spcBef>
              <a:buNone/>
            </a:pP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    </a:t>
            </a:r>
            <a:r>
              <a:rPr lang="sk-SK" sz="2400" b="1" dirty="0" err="1">
                <a:highlight>
                  <a:srgbClr val="FFFF00"/>
                </a:highlight>
                <a:latin typeface="Consolas" panose="020B0609020204030204" pitchFamily="49" charset="0"/>
              </a:rPr>
              <a:t>screen.fill</a:t>
            </a:r>
            <a:r>
              <a:rPr lang="sk-SK" sz="2400" b="1" dirty="0">
                <a:highlight>
                  <a:srgbClr val="FFFF00"/>
                </a:highlight>
                <a:latin typeface="Consolas" panose="020B0609020204030204" pitchFamily="49" charset="0"/>
              </a:rPr>
              <a:t>((0, 0, 0))</a:t>
            </a:r>
          </a:p>
          <a:p>
            <a:pPr marL="0" indent="0">
              <a:spcBef>
                <a:spcPts val="0"/>
              </a:spcBef>
              <a:buNone/>
            </a:pP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    </a:t>
            </a:r>
            <a:r>
              <a:rPr lang="sk-SK" sz="2400" i="1" dirty="0">
                <a:highlight>
                  <a:srgbClr val="FFFF00"/>
                </a:highlight>
                <a:latin typeface="Consolas" panose="020B0609020204030204" pitchFamily="49" charset="0"/>
              </a:rPr>
              <a:t># 4. Vykresliť tvary, text a obrázky</a:t>
            </a:r>
          </a:p>
          <a:p>
            <a:pPr marL="0" indent="0">
              <a:spcBef>
                <a:spcPts val="0"/>
              </a:spcBef>
              <a:buNone/>
            </a:pP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    </a:t>
            </a:r>
            <a:r>
              <a:rPr lang="sk-SK" sz="2400" b="1" dirty="0" err="1">
                <a:highlight>
                  <a:srgbClr val="FFFF00"/>
                </a:highlight>
                <a:latin typeface="Consolas" panose="020B0609020204030204" pitchFamily="49" charset="0"/>
              </a:rPr>
              <a:t>draw</a:t>
            </a:r>
            <a:r>
              <a:rPr lang="sk-SK" sz="2400" b="1" dirty="0">
                <a:highlight>
                  <a:srgbClr val="FFFF00"/>
                </a:highlight>
                <a:latin typeface="Consolas" panose="020B0609020204030204" pitchFamily="49" charset="0"/>
              </a:rPr>
              <a:t>()</a:t>
            </a:r>
          </a:p>
          <a:p>
            <a:pPr marL="0" indent="0">
              <a:spcBef>
                <a:spcPts val="0"/>
              </a:spcBef>
              <a:buNone/>
            </a:pP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    </a:t>
            </a:r>
            <a:r>
              <a:rPr lang="sk-SK" sz="2400" i="1" dirty="0">
                <a:highlight>
                  <a:srgbClr val="FFFF00"/>
                </a:highlight>
                <a:latin typeface="Consolas" panose="020B0609020204030204" pitchFamily="49" charset="0"/>
              </a:rPr>
              <a:t># 5. Zobraziť na obrazovku</a:t>
            </a:r>
          </a:p>
          <a:p>
            <a:pPr marL="0" indent="0">
              <a:spcBef>
                <a:spcPts val="0"/>
              </a:spcBef>
              <a:buNone/>
            </a:pP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    </a:t>
            </a:r>
            <a:r>
              <a:rPr lang="sk-SK" sz="2400" b="1" dirty="0" err="1">
                <a:highlight>
                  <a:srgbClr val="FFFF00"/>
                </a:highlight>
                <a:latin typeface="Consolas" panose="020B0609020204030204" pitchFamily="49" charset="0"/>
              </a:rPr>
              <a:t>pygame.display.flip</a:t>
            </a:r>
            <a:r>
              <a:rPr lang="sk-SK" sz="2400" b="1" dirty="0">
                <a:highlight>
                  <a:srgbClr val="FFFF00"/>
                </a:highlight>
                <a:latin typeface="Consolas" panose="020B0609020204030204" pitchFamily="49" charset="0"/>
              </a:rPr>
              <a:t>()</a:t>
            </a:r>
          </a:p>
          <a:p>
            <a:pPr marL="0" indent="0">
              <a:spcBef>
                <a:spcPts val="0"/>
              </a:spcBef>
              <a:buNone/>
            </a:pP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    </a:t>
            </a:r>
            <a:r>
              <a:rPr lang="sk-SK" sz="2400" i="1" dirty="0">
                <a:highlight>
                  <a:srgbClr val="FFFF00"/>
                </a:highlight>
                <a:latin typeface="Consolas" panose="020B0609020204030204" pitchFamily="49" charset="0"/>
              </a:rPr>
              <a:t># 6. Spomaliť na dané FPS</a:t>
            </a:r>
          </a:p>
          <a:p>
            <a:pPr marL="0" indent="0">
              <a:spcBef>
                <a:spcPts val="0"/>
              </a:spcBef>
              <a:buNone/>
            </a:pP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    </a:t>
            </a:r>
            <a:r>
              <a:rPr lang="sk-SK" sz="2400" b="1" dirty="0" err="1">
                <a:highlight>
                  <a:srgbClr val="FFFF00"/>
                </a:highlight>
                <a:latin typeface="Consolas" panose="020B0609020204030204" pitchFamily="49" charset="0"/>
              </a:rPr>
              <a:t>clock.tick</a:t>
            </a:r>
            <a:r>
              <a:rPr lang="sk-SK" sz="2400" b="1" dirty="0">
                <a:highlight>
                  <a:srgbClr val="FFFF00"/>
                </a:highlight>
                <a:latin typeface="Consolas" panose="020B0609020204030204" pitchFamily="49" charset="0"/>
              </a:rPr>
              <a:t>(60)</a:t>
            </a:r>
          </a:p>
        </p:txBody>
      </p:sp>
    </p:spTree>
    <p:extLst>
      <p:ext uri="{BB962C8B-B14F-4D97-AF65-F5344CB8AC3E}">
        <p14:creationId xmlns:p14="http://schemas.microsoft.com/office/powerpoint/2010/main" val="417281397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928589E-9A30-405C-1AE6-D74544921A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Zástupný objekt pre obsah 2">
            <a:extLst>
              <a:ext uri="{FF2B5EF4-FFF2-40B4-BE49-F238E27FC236}">
                <a16:creationId xmlns:a16="http://schemas.microsoft.com/office/drawing/2014/main" id="{28B13A24-55AD-2223-A93D-C16EF21D0E6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22239" y="1690688"/>
            <a:ext cx="9840249" cy="4903173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sk-SK" dirty="0"/>
              <a:t>Dnes si vytvoríme hru </a:t>
            </a:r>
            <a:r>
              <a:rPr lang="sk-SK" b="1" dirty="0" err="1"/>
              <a:t>Pong</a:t>
            </a:r>
            <a:r>
              <a:rPr lang="sk-SK" dirty="0"/>
              <a:t>. Základné vlastnosti:</a:t>
            </a:r>
          </a:p>
          <a:p>
            <a:r>
              <a:rPr lang="sk-SK" dirty="0"/>
              <a:t>hra pre dvoch hráčov</a:t>
            </a:r>
          </a:p>
          <a:p>
            <a:r>
              <a:rPr lang="sk-SK" dirty="0"/>
              <a:t>každý hráč ovláda dosku na kraji obrazovky, ľavom a pravom</a:t>
            </a:r>
          </a:p>
          <a:p>
            <a:r>
              <a:rPr lang="sk-SK" dirty="0"/>
              <a:t>hráč vie doskou pohybovať hore a dole</a:t>
            </a:r>
          </a:p>
          <a:p>
            <a:r>
              <a:rPr lang="sk-SK" dirty="0"/>
              <a:t>po obrazovke lieta lopta a odráža sa od hornej a dolnej steny a od dosiek</a:t>
            </a:r>
          </a:p>
          <a:p>
            <a:r>
              <a:rPr lang="sk-SK" dirty="0"/>
              <a:t>cieľom je dostať loptu za súperovu dosku, dať gól</a:t>
            </a:r>
          </a:p>
        </p:txBody>
      </p:sp>
      <p:sp>
        <p:nvSpPr>
          <p:cNvPr id="5" name="Nadpis 4">
            <a:extLst>
              <a:ext uri="{FF2B5EF4-FFF2-40B4-BE49-F238E27FC236}">
                <a16:creationId xmlns:a16="http://schemas.microsoft.com/office/drawing/2014/main" id="{C2780B4E-B486-2462-77DA-F8FBED9EF3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k-SK" dirty="0">
                <a:solidFill>
                  <a:prstClr val="black"/>
                </a:solidFill>
              </a:rPr>
              <a:t>Hra </a:t>
            </a:r>
            <a:r>
              <a:rPr lang="sk-SK" dirty="0" err="1">
                <a:solidFill>
                  <a:prstClr val="black"/>
                </a:solidFill>
              </a:rPr>
              <a:t>Pong</a:t>
            </a:r>
            <a:endParaRPr lang="sk-SK" dirty="0"/>
          </a:p>
        </p:txBody>
      </p:sp>
    </p:spTree>
    <p:extLst>
      <p:ext uri="{BB962C8B-B14F-4D97-AF65-F5344CB8AC3E}">
        <p14:creationId xmlns:p14="http://schemas.microsoft.com/office/powerpoint/2010/main" val="872727474"/>
      </p:ext>
    </p:extLst>
  </p:cSld>
  <p:clrMapOvr>
    <a:masterClrMapping/>
  </p:clrMapOvr>
</p:sld>
</file>

<file path=ppt/theme/theme1.xml><?xml version="1.0" encoding="utf-8"?>
<a:theme xmlns:a="http://schemas.openxmlformats.org/drawingml/2006/main" name="Motív Office">
  <a:themeElements>
    <a:clrScheme name="Motív 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Motív 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Motív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9340</TotalTime>
  <Words>582</Words>
  <Application>Microsoft Office PowerPoint</Application>
  <PresentationFormat>Širokouhlá</PresentationFormat>
  <Paragraphs>84</Paragraphs>
  <Slides>10</Slides>
  <Notes>0</Notes>
  <HiddenSlides>0</HiddenSlides>
  <MMClips>0</MMClips>
  <ScaleCrop>false</ScaleCrop>
  <HeadingPairs>
    <vt:vector size="6" baseType="variant">
      <vt:variant>
        <vt:lpstr>Použité písma</vt:lpstr>
      </vt:variant>
      <vt:variant>
        <vt:i4>4</vt:i4>
      </vt:variant>
      <vt:variant>
        <vt:lpstr>Motív</vt:lpstr>
      </vt:variant>
      <vt:variant>
        <vt:i4>1</vt:i4>
      </vt:variant>
      <vt:variant>
        <vt:lpstr>Nadpisy snímok</vt:lpstr>
      </vt:variant>
      <vt:variant>
        <vt:i4>10</vt:i4>
      </vt:variant>
    </vt:vector>
  </HeadingPairs>
  <TitlesOfParts>
    <vt:vector size="15" baseType="lpstr">
      <vt:lpstr>Aptos</vt:lpstr>
      <vt:lpstr>Aptos Display</vt:lpstr>
      <vt:lpstr>Arial</vt:lpstr>
      <vt:lpstr>Consolas</vt:lpstr>
      <vt:lpstr>Motív Office</vt:lpstr>
      <vt:lpstr>Objektovo orientované programovanie - pokročilí</vt:lpstr>
      <vt:lpstr>OPGP  Pokročilí 13 </vt:lpstr>
      <vt:lpstr>Pygame</vt:lpstr>
      <vt:lpstr>Pygame</vt:lpstr>
      <vt:lpstr>Farby</vt:lpstr>
      <vt:lpstr>Vykresľovanie</vt:lpstr>
      <vt:lpstr>Udalosti</vt:lpstr>
      <vt:lpstr>Hlavná herná slučka</vt:lpstr>
      <vt:lpstr>Prezentácia programu PowerPoint</vt:lpstr>
      <vt:lpstr>Hra Pong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Lenka Wagnerová</dc:creator>
  <cp:lastModifiedBy>Wagner Jozef Ing., PhD.</cp:lastModifiedBy>
  <cp:revision>38</cp:revision>
  <dcterms:created xsi:type="dcterms:W3CDTF">2025-09-05T09:09:34Z</dcterms:created>
  <dcterms:modified xsi:type="dcterms:W3CDTF">2025-12-09T12:03:55Z</dcterms:modified>
</cp:coreProperties>
</file>