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69" r:id="rId4"/>
    <p:sldId id="275" r:id="rId5"/>
    <p:sldId id="276" r:id="rId6"/>
    <p:sldId id="274" r:id="rId7"/>
    <p:sldId id="277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 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Iterácia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Rekurzia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Zásobník volaní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Iterácia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je proces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opakovania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určitej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operácie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pomocou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cyklov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V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Pythone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iteráciu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vykonávame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b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</a:b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pomocou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pl-PL" dirty="0" err="1">
                <a:solidFill>
                  <a:srgbClr val="C00000"/>
                </a:solidFill>
                <a:highlight>
                  <a:srgbClr val="00FFFF"/>
                </a:highlight>
              </a:rPr>
              <a:t>cyklov</a:t>
            </a:r>
            <a:r>
              <a:rPr lang="pl-PL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a </a:t>
            </a: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endParaRPr lang="sk-SK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faktorial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(n):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vysledok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i in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range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(1, n + 1):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vysledok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*= i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vysledok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Iterácia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E9C301-D34F-238D-961A-2DCE28BD6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5" name="Zástupný objekt pre obsah 4" descr="Obrázok, na ktorom je text, písmo, snímka obrazovky, dizajn">
            <a:extLst>
              <a:ext uri="{FF2B5EF4-FFF2-40B4-BE49-F238E27FC236}">
                <a16:creationId xmlns:a16="http://schemas.microsoft.com/office/drawing/2014/main" id="{2CD5D9AC-BF19-850E-85C8-194B985F7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321" y="0"/>
            <a:ext cx="8837358" cy="7069887"/>
          </a:xfrm>
        </p:spPr>
      </p:pic>
    </p:spTree>
    <p:extLst>
      <p:ext uri="{BB962C8B-B14F-4D97-AF65-F5344CB8AC3E}">
        <p14:creationId xmlns:p14="http://schemas.microsoft.com/office/powerpoint/2010/main" val="121193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3CF69-1D54-AB30-39F4-BF0CE1B3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DDAB658-B3A9-0EB3-7020-89800E887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316" y="1690688"/>
            <a:ext cx="10515600" cy="42176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 err="1">
                <a:solidFill>
                  <a:srgbClr val="C00000"/>
                </a:solidFill>
                <a:highlight>
                  <a:srgbClr val="00FFFF"/>
                </a:highlight>
              </a:rPr>
              <a:t>Rekurzia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je proces, pri ktorom funkcia volá samú seba.</a:t>
            </a:r>
          </a:p>
          <a:p>
            <a:pPr marL="0" indent="0">
              <a:buNone/>
            </a:pPr>
            <a:r>
              <a:rPr lang="sk-SK" dirty="0" err="1">
                <a:solidFill>
                  <a:srgbClr val="C00000"/>
                </a:solidFill>
                <a:highlight>
                  <a:srgbClr val="00FFFF"/>
                </a:highlight>
              </a:rPr>
              <a:t>Rekurzia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rozdeľuje problém na menšie </a:t>
            </a:r>
            <a:b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</a:br>
            <a:r>
              <a:rPr lang="sk-SK" dirty="0" err="1">
                <a:solidFill>
                  <a:srgbClr val="C00000"/>
                </a:solidFill>
                <a:highlight>
                  <a:srgbClr val="00FFFF"/>
                </a:highlight>
              </a:rPr>
              <a:t>podproblémy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rovnakého typu.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faktorial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(n):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n == 0: # Bázový prípad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n *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faktorial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(n - 1) # Rekurzívny prípad</a:t>
            </a:r>
          </a:p>
          <a:p>
            <a:pPr marL="0" indent="0"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3E76397-B796-0635-1C71-84C4638FA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solidFill>
                  <a:srgbClr val="C00000"/>
                </a:solidFill>
                <a:highlight>
                  <a:srgbClr val="00FFFF"/>
                </a:highlight>
              </a:rPr>
              <a:t>Rekurzia</a:t>
            </a:r>
            <a:endParaRPr lang="sk-SK" dirty="0">
              <a:solidFill>
                <a:srgbClr val="C0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621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1C6BC-8CE4-5091-1867-FE857B2C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87780BE-9169-2379-46A2-3BF94B846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430" y="1834849"/>
            <a:ext cx="8632370" cy="42176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Rekurzívna funkcia má dve základné časti</a:t>
            </a:r>
          </a:p>
          <a:p>
            <a:pPr lvl="1"/>
            <a:r>
              <a:rPr lang="sk-SK" sz="2800" b="1" dirty="0">
                <a:solidFill>
                  <a:srgbClr val="C00000"/>
                </a:solidFill>
                <a:highlight>
                  <a:srgbClr val="00FFFF"/>
                </a:highlight>
              </a:rPr>
              <a:t>základný prípad</a:t>
            </a:r>
            <a:r>
              <a:rPr lang="sk-SK" sz="2800" dirty="0">
                <a:solidFill>
                  <a:srgbClr val="C00000"/>
                </a:solidFill>
                <a:highlight>
                  <a:srgbClr val="00FFFF"/>
                </a:highlight>
              </a:rPr>
              <a:t> (base </a:t>
            </a:r>
            <a:r>
              <a:rPr lang="sk-SK" sz="2800" dirty="0" err="1">
                <a:solidFill>
                  <a:srgbClr val="C00000"/>
                </a:solidFill>
                <a:highlight>
                  <a:srgbClr val="00FFFF"/>
                </a:highlight>
              </a:rPr>
              <a:t>case</a:t>
            </a:r>
            <a:r>
              <a:rPr lang="sk-SK" sz="2800" dirty="0">
                <a:solidFill>
                  <a:srgbClr val="C00000"/>
                </a:solidFill>
                <a:highlight>
                  <a:srgbClr val="00FFFF"/>
                </a:highlight>
              </a:rPr>
              <a:t>) – </a:t>
            </a:r>
            <a:r>
              <a:rPr lang="sk-SK" sz="2800" dirty="0" err="1">
                <a:solidFill>
                  <a:srgbClr val="C00000"/>
                </a:solidFill>
                <a:highlight>
                  <a:srgbClr val="00FFFF"/>
                </a:highlight>
              </a:rPr>
              <a:t>rekurzia</a:t>
            </a:r>
            <a:r>
              <a:rPr lang="sk-SK" sz="2800" dirty="0">
                <a:solidFill>
                  <a:srgbClr val="C00000"/>
                </a:solidFill>
                <a:highlight>
                  <a:srgbClr val="00FFFF"/>
                </a:highlight>
              </a:rPr>
              <a:t> sa zastaví</a:t>
            </a:r>
          </a:p>
          <a:p>
            <a:pPr lvl="1"/>
            <a:r>
              <a:rPr lang="sk-SK" sz="2800" b="1" dirty="0">
                <a:solidFill>
                  <a:srgbClr val="C00000"/>
                </a:solidFill>
                <a:highlight>
                  <a:srgbClr val="00FFFF"/>
                </a:highlight>
              </a:rPr>
              <a:t>rekurzívny prípad </a:t>
            </a:r>
            <a:r>
              <a:rPr lang="sk-SK" sz="2800" dirty="0">
                <a:solidFill>
                  <a:srgbClr val="C00000"/>
                </a:solidFill>
                <a:highlight>
                  <a:srgbClr val="00FFFF"/>
                </a:highlight>
              </a:rPr>
              <a:t>(</a:t>
            </a:r>
            <a:r>
              <a:rPr lang="sk-SK" sz="2800" dirty="0" err="1">
                <a:solidFill>
                  <a:srgbClr val="C00000"/>
                </a:solidFill>
                <a:highlight>
                  <a:srgbClr val="00FFFF"/>
                </a:highlight>
              </a:rPr>
              <a:t>recursive</a:t>
            </a:r>
            <a:r>
              <a:rPr lang="sk-SK" sz="2800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sk-SK" sz="2800" dirty="0" err="1">
                <a:solidFill>
                  <a:srgbClr val="C00000"/>
                </a:solidFill>
                <a:highlight>
                  <a:srgbClr val="00FFFF"/>
                </a:highlight>
              </a:rPr>
              <a:t>case</a:t>
            </a:r>
            <a:r>
              <a:rPr lang="sk-SK" sz="2800" dirty="0">
                <a:solidFill>
                  <a:srgbClr val="C00000"/>
                </a:solidFill>
                <a:highlight>
                  <a:srgbClr val="00FFFF"/>
                </a:highlight>
              </a:rPr>
              <a:t>) – funkcia volá samú seba</a:t>
            </a:r>
          </a:p>
          <a:p>
            <a:pPr lvl="1"/>
            <a:endParaRPr lang="sk-SK" sz="2800" dirty="0"/>
          </a:p>
          <a:p>
            <a:pPr marL="0" indent="0">
              <a:buNone/>
            </a:pPr>
            <a:r>
              <a:rPr lang="sk-SK" dirty="0"/>
              <a:t>Ak nie je bázový prípad, funkcia pokračuje kým nezaplní pamäť počítača.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6B832B41-1646-C2AE-7C3B-566DA06F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Rekurzia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72257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624C7-DE10-0202-6AED-33DD7C593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6AEA1EA-8954-BF64-2553-4C175824E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430" y="1834849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Každý algoritmus v rekurzívnom tvare sa dá prepísať na tvar iteratívny.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Iteratívna verzia je obvykle efektívnejšia </a:t>
            </a:r>
            <a:r>
              <a:rPr lang="sk-SK" dirty="0"/>
              <a:t>- je rýchlejšia a zaberá menej pamäti.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C00000"/>
                </a:solidFill>
                <a:highlight>
                  <a:srgbClr val="00FFFF"/>
                </a:highlight>
              </a:rPr>
              <a:t>Rekurziu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používame hlavne kvôli jej elegancii </a:t>
            </a:r>
            <a:r>
              <a:rPr lang="sk-SK" dirty="0"/>
              <a:t>a jednoduchosti v niektorých prípadoch.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8E194F9-DFCC-C77F-4EA0-7FF04A61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Porovnanie </a:t>
            </a:r>
            <a:r>
              <a:rPr lang="sk-SK" dirty="0" err="1"/>
              <a:t>rekurzie</a:t>
            </a:r>
            <a:r>
              <a:rPr lang="sk-SK" dirty="0"/>
              <a:t> a iterácie</a:t>
            </a:r>
          </a:p>
        </p:txBody>
      </p:sp>
    </p:spTree>
    <p:extLst>
      <p:ext uri="{BB962C8B-B14F-4D97-AF65-F5344CB8AC3E}">
        <p14:creationId xmlns:p14="http://schemas.microsoft.com/office/powerpoint/2010/main" val="34493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E9854-7BB1-AC29-2179-19ADCC11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88BF84-583A-B599-3DF2-84A8B332D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430" y="1834849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Zásobník volaní </a:t>
            </a:r>
            <a:r>
              <a:rPr lang="sk-SK" i="1" dirty="0"/>
              <a:t>(</a:t>
            </a:r>
            <a:r>
              <a:rPr lang="sk-SK" i="1" dirty="0" err="1"/>
              <a:t>call</a:t>
            </a:r>
            <a:r>
              <a:rPr lang="sk-SK" i="1" dirty="0"/>
              <a:t> </a:t>
            </a:r>
            <a:r>
              <a:rPr lang="sk-SK" i="1" dirty="0" err="1"/>
              <a:t>stack</a:t>
            </a:r>
            <a:r>
              <a:rPr lang="sk-SK" i="1" dirty="0"/>
              <a:t>)</a:t>
            </a:r>
            <a:r>
              <a:rPr lang="sk-SK" dirty="0"/>
              <a:t> 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špeciálna LIFO pamäť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volanie funkcie vytvára nový rámec na zásobníku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/>
              <a:t>Rekurzia</a:t>
            </a:r>
            <a:r>
              <a:rPr lang="sk-SK" dirty="0"/>
              <a:t> pri veľkom počte volaní zaplní zásobník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C00000"/>
                </a:solidFill>
                <a:highlight>
                  <a:srgbClr val="00FFFF"/>
                </a:highlight>
              </a:rPr>
              <a:t>Python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má predvolený limit </a:t>
            </a:r>
            <a:r>
              <a:rPr lang="sk-SK" dirty="0" err="1">
                <a:solidFill>
                  <a:srgbClr val="C00000"/>
                </a:solidFill>
                <a:highlight>
                  <a:srgbClr val="00FFFF"/>
                </a:highlight>
              </a:rPr>
              <a:t>rekurzie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(1000 volaní)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mení sa pomocou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sys.setrecursionlimit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F9D039F-0514-709C-4530-56EB8CA5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Zásobník volaní</a:t>
            </a:r>
          </a:p>
        </p:txBody>
      </p:sp>
    </p:spTree>
    <p:extLst>
      <p:ext uri="{BB962C8B-B14F-4D97-AF65-F5344CB8AC3E}">
        <p14:creationId xmlns:p14="http://schemas.microsoft.com/office/powerpoint/2010/main" val="2958239331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374</TotalTime>
  <Words>258</Words>
  <Application>Microsoft Office PowerPoint</Application>
  <PresentationFormat>Širokouhlá</PresentationFormat>
  <Paragraphs>43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3</vt:lpstr>
      <vt:lpstr>Iterácia</vt:lpstr>
      <vt:lpstr>Prezentácia programu PowerPoint</vt:lpstr>
      <vt:lpstr>Rekurzia</vt:lpstr>
      <vt:lpstr>Rekurzia</vt:lpstr>
      <vt:lpstr>Porovnanie rekurzie a iterácie</vt:lpstr>
      <vt:lpstr>Zásobník volaní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15</cp:revision>
  <dcterms:created xsi:type="dcterms:W3CDTF">2025-09-05T09:09:34Z</dcterms:created>
  <dcterms:modified xsi:type="dcterms:W3CDTF">2026-09-15T20:38:20Z</dcterms:modified>
</cp:coreProperties>
</file>