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1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4. 11. 2025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10</a:t>
            </a:r>
            <a:br>
              <a:rPr lang="en-US" sz="4000" dirty="0"/>
            </a:br>
            <a:r>
              <a:rPr lang="en-US" sz="4000" dirty="0"/>
              <a:t>(2 </a:t>
            </a:r>
            <a:r>
              <a:rPr lang="sk-SK" sz="4000" dirty="0"/>
              <a:t>týždne</a:t>
            </a:r>
            <a:r>
              <a:rPr lang="en-US" sz="4000" dirty="0"/>
              <a:t>)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5264703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Súkromné</a:t>
            </a:r>
            <a:r>
              <a:rPr lang="en-US" dirty="0"/>
              <a:t> </a:t>
            </a:r>
            <a:r>
              <a:rPr lang="en-US" dirty="0" err="1"/>
              <a:t>atribúty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Vymazanie atribútov a metód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Špeciálne metódy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Variabilný počet argumentov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Práca s formátom JSON</a:t>
            </a:r>
            <a:br>
              <a:rPr lang="sk-SK" dirty="0"/>
            </a:b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Riešené pomocou dohody a konvencie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/>
              <a:t>Názov začínajúci s jedným </a:t>
            </a:r>
            <a:r>
              <a:rPr lang="sk-SK" dirty="0" err="1"/>
              <a:t>podčiarníkom</a:t>
            </a:r>
            <a:r>
              <a:rPr lang="sk-SK" dirty="0"/>
              <a:t> - interný atribút alebo metóda a nemá byť používaný mimo triedy.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meno, vek):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._vek = vek       # interný podľa dohody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vek(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._vek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o = Osoba("Eva", 25)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o._vek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 # Dá sa k nemu dostať, ale nemalo by sa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Súkromné atribúty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3543F-7EB0-2776-E718-8A879EB19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F554B-0241-F81D-A0DF-0EB31990A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názvy začínajúce s dvoma </a:t>
            </a:r>
            <a:r>
              <a:rPr lang="sk-SK" dirty="0" err="1"/>
              <a:t>podčiarníkmi</a:t>
            </a:r>
            <a:r>
              <a:rPr lang="sk-SK" dirty="0"/>
              <a:t> sa používajú pre súkromné atribúty a metódy.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 err="1"/>
              <a:t>Python</a:t>
            </a:r>
            <a:r>
              <a:rPr lang="sk-SK" dirty="0"/>
              <a:t> vykoná špeciálne premenovanie (anglicky </a:t>
            </a:r>
            <a:r>
              <a:rPr lang="sk-SK" b="1" dirty="0" err="1"/>
              <a:t>name</a:t>
            </a:r>
            <a:r>
              <a:rPr lang="sk-SK" b="1" dirty="0"/>
              <a:t> </a:t>
            </a:r>
            <a:r>
              <a:rPr lang="sk-SK" b="1" dirty="0" err="1"/>
              <a:t>mangling</a:t>
            </a:r>
            <a:r>
              <a:rPr lang="sk-SK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meno, vek):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.__vek = vek    # súkromný s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manglingom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meno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zobraz(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.__vek)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o = Osoba("Eva", 25)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o.zobraz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        # funguje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o.__vek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AttributeError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E64CADF-C682-0256-AB1D-7C90308C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Súkromné atribúty</a:t>
            </a:r>
          </a:p>
        </p:txBody>
      </p:sp>
    </p:spTree>
    <p:extLst>
      <p:ext uri="{BB962C8B-B14F-4D97-AF65-F5344CB8AC3E}">
        <p14:creationId xmlns:p14="http://schemas.microsoft.com/office/powerpoint/2010/main" val="406160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6E077-7E1D-3C08-FB6B-13141FD6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624F04-DED5-0940-DB24-391E9C2A1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Pomocou príkazu del sa dajú vymazať atribúty, metódy alebo objekty.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p.vek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  # 30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del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p.vek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# vymazanie atribútu vek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Osoba.druh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 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Clovek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del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Osoba.druh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# vymazanie triedneho atribútu druh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p.privitanie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      # Ahoj, ja som Fero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del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Osoba.privitanie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# Vymazanie metódy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privitanie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5F7E574-183B-1724-005B-A714154DD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Vymazanie atribútov a metód</a:t>
            </a:r>
          </a:p>
        </p:txBody>
      </p:sp>
    </p:spTree>
    <p:extLst>
      <p:ext uri="{BB962C8B-B14F-4D97-AF65-F5344CB8AC3E}">
        <p14:creationId xmlns:p14="http://schemas.microsoft.com/office/powerpoint/2010/main" val="2829714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2F547-3B33-62B4-FCE4-262DE1F5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BFA099F-6991-86A5-8A63-EC56C22A1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Využitie vymazania atribútov a metód</a:t>
            </a:r>
          </a:p>
          <a:p>
            <a:pPr lvl="1"/>
            <a:r>
              <a:rPr lang="sk-SK" sz="2800" dirty="0"/>
              <a:t>Uvoľnenie pamäti</a:t>
            </a:r>
          </a:p>
          <a:p>
            <a:pPr lvl="1"/>
            <a:r>
              <a:rPr lang="sk-SK" sz="2800" dirty="0"/>
              <a:t>Dynamická zmena správania triedy</a:t>
            </a:r>
          </a:p>
          <a:p>
            <a:pPr lvl="1"/>
            <a:r>
              <a:rPr lang="sk-SK" sz="2800" dirty="0"/>
              <a:t>Pokročilé techniky zapuzdrenia</a:t>
            </a:r>
          </a:p>
          <a:p>
            <a:pPr lvl="1"/>
            <a:r>
              <a:rPr lang="sk-SK" sz="2800" dirty="0"/>
              <a:t>Odstránenie testovacieho kódu a dát</a:t>
            </a:r>
          </a:p>
          <a:p>
            <a:pPr lvl="1"/>
            <a:r>
              <a:rPr lang="sk-SK" sz="2800" dirty="0" err="1"/>
              <a:t>Metaprogramovanie</a:t>
            </a: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4F05A61-1263-AF7E-CB3D-DEA67DBC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Vymazanie atribútov a metód</a:t>
            </a:r>
          </a:p>
        </p:txBody>
      </p:sp>
    </p:spTree>
    <p:extLst>
      <p:ext uri="{BB962C8B-B14F-4D97-AF65-F5344CB8AC3E}">
        <p14:creationId xmlns:p14="http://schemas.microsoft.com/office/powerpoint/2010/main" val="159247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D1578-4AB4-A2CD-8C72-102E35500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6CFAC4-64D3-74AB-77FF-7D6A9500A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431561" cy="4903173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p = Osoba("Fero", 30)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it-IT" sz="2400" dirty="0">
                <a:highlight>
                  <a:srgbClr val="FFFF00"/>
                </a:highlight>
                <a:latin typeface="Consolas" panose="020B0609020204030204" pitchFamily="49" charset="0"/>
              </a:rPr>
              <a:t>del p;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sk-SK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Objekt sa uvoľní z pamäti ak na neho neukazuje žiadna premenná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k-SK" dirty="0"/>
              <a:t>Tesne pred vymazaním sa zavolá špeciálna metóda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__del__</a:t>
            </a:r>
          </a:p>
          <a:p>
            <a:pPr marL="0" lvl="0" indent="0">
              <a:spcBef>
                <a:spcPts val="1200"/>
              </a:spcBef>
              <a:buNone/>
              <a:defRPr/>
            </a:pPr>
            <a:r>
              <a:rPr lang="sk-SK" dirty="0"/>
              <a:t>Metóda, ktorá sa volá tesne pred vymazaním sa volá </a:t>
            </a:r>
            <a:r>
              <a:rPr lang="sk-SK" b="1" dirty="0" err="1"/>
              <a:t>deštruktor</a:t>
            </a:r>
            <a:endParaRPr lang="sk-SK" b="1" dirty="0"/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Demo: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__del__(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Deštruktor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sa zavolal!")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d = Demo()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del d  # alebo keď skončí program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F4B9C07-FC0E-9804-B448-3F592E28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Vymazanie objektu</a:t>
            </a:r>
          </a:p>
        </p:txBody>
      </p:sp>
    </p:spTree>
    <p:extLst>
      <p:ext uri="{BB962C8B-B14F-4D97-AF65-F5344CB8AC3E}">
        <p14:creationId xmlns:p14="http://schemas.microsoft.com/office/powerpoint/2010/main" val="313291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66DAA-A7AD-8A14-23BC-9B0839DB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EE68CC9-CFC6-F4AB-E823-3AB79B7F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39" y="1589702"/>
            <a:ext cx="10919241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Ako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/>
              <a:t>, ale vráti technicky presnú reprezentáciu objektu, ideálne tak, aby sa z nej dal spätne vytvoriť rovnaký objekt.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Metóda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repr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/>
              <a:t> sa zavolá pri volaní funkcie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repr</a:t>
            </a:r>
            <a:r>
              <a:rPr lang="sk-SK" dirty="0"/>
              <a:t>. Spätné vytvorenie objektu z textu je možné pomocou funkcie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eval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repr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f"Osoba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(meno={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self.meno!r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}, vek={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self.vek!r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})"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o = Osoba("Eva", 30)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repr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(o)) # Osoba(meno='Eva', vek=30)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eval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repr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(o))  # vytvorenie objektu z textovej reprezentácie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E282DE0-D7CE-7ACD-25DA-CFDBF0EF9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Dunder</a:t>
            </a:r>
            <a:r>
              <a:rPr lang="sk-SK" dirty="0"/>
              <a:t> metóda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repr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239024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401DB-3EBF-7D66-24E0-306CFAFC4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33604A9-8C1C-B485-9FE5-3C923066D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83" y="1589702"/>
            <a:ext cx="11083833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eq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sk-SK" dirty="0"/>
              <a:t> sa zavolá pri porovnaní objektov pomocou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==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Ak ju nemáme, </a:t>
            </a:r>
            <a:r>
              <a:rPr lang="sk-SK" dirty="0" err="1"/>
              <a:t>Python</a:t>
            </a:r>
            <a:r>
              <a:rPr lang="sk-SK" dirty="0"/>
              <a:t> bude porovnávať podľa identity.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Ak porovnať nevieme, napr. argument je iného typu, vrátime hodnotu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NotImplemented</a:t>
            </a:r>
            <a:r>
              <a:rPr lang="sk-SK" dirty="0"/>
              <a:t>. </a:t>
            </a:r>
            <a:r>
              <a:rPr lang="sk-SK" dirty="0" err="1"/>
              <a:t>Python</a:t>
            </a:r>
            <a:r>
              <a:rPr lang="sk-SK" dirty="0"/>
              <a:t> následne skúsi porovnať iným spôsobom.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def __eq__(self, other):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if not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isinstance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(other, Osoba):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return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NotImplemented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return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other.meno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and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self.vek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other.vek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/>
              <a:t>Aritmetické a relačné špeciálne metódy: </a:t>
            </a:r>
            <a:br>
              <a:rPr lang="sk-SK" dirty="0"/>
            </a:b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__add__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__sub__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mul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lt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en-US" dirty="0"/>
              <a:t>,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gt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__</a:t>
            </a:r>
            <a:r>
              <a:rPr lang="en-US" dirty="0"/>
              <a:t>, ...</a:t>
            </a:r>
            <a:endParaRPr lang="sk-SK" dirty="0"/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44633CF4-2765-BC1E-D305-CC1DED24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Dunder</a:t>
            </a:r>
            <a:r>
              <a:rPr lang="sk-SK" dirty="0"/>
              <a:t> metóda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__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eq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__</a:t>
            </a:r>
          </a:p>
        </p:txBody>
      </p:sp>
    </p:spTree>
    <p:extLst>
      <p:ext uri="{BB962C8B-B14F-4D97-AF65-F5344CB8AC3E}">
        <p14:creationId xmlns:p14="http://schemas.microsoft.com/office/powerpoint/2010/main" val="305341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99C62-94A9-275F-4AE4-F8BC241BC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B40A1A-C1ED-5C26-9643-CD144459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1589702"/>
            <a:ext cx="11272156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Premenlivý počet pozičných argumentov - 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*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600" dirty="0"/>
              <a:t> - argumenty budú v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tuple</a:t>
            </a: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sucet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(*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)  #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tuple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všetkých argumentov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sum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args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sucet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(1, 2, 3))  # → 6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sucet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(10, 20))   # → 30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18C493F-5328-BA2C-5BFB-FD8A9EB26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Variabilný počet argumentov</a:t>
            </a:r>
          </a:p>
        </p:txBody>
      </p:sp>
    </p:spTree>
    <p:extLst>
      <p:ext uri="{BB962C8B-B14F-4D97-AF65-F5344CB8AC3E}">
        <p14:creationId xmlns:p14="http://schemas.microsoft.com/office/powerpoint/2010/main" val="1689015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4DD66-B4B1-AEBD-9535-197F754A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6B32471-9145-F4BB-BE9C-FB92DA94C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1589702"/>
            <a:ext cx="11272156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Premenlivý počet kľúčových argumentov - 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**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600" dirty="0"/>
              <a:t> - argumenty budú v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dict</a:t>
            </a: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pozdrav(**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meno, vek in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kwargs.items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():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(f"{meno} má {vek} rokov")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pozdrav(Jozef=25, Anna=30)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# Output: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# Jozef má 25 rokov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# Anna má 30 rokov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E0252879-5CAF-16B6-524B-CCFB56F7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Variabilný počet argumentov</a:t>
            </a:r>
          </a:p>
        </p:txBody>
      </p:sp>
    </p:spTree>
    <p:extLst>
      <p:ext uri="{BB962C8B-B14F-4D97-AF65-F5344CB8AC3E}">
        <p14:creationId xmlns:p14="http://schemas.microsoft.com/office/powerpoint/2010/main" val="2973792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58142-621B-DB20-A9B7-29C9EFB5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A2D6378-2D54-ACA3-92AB-1C0D1A083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1589702"/>
            <a:ext cx="11272156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Do argumentov funkcií môžeme rozbaliť hodnoty so zoznamu/</a:t>
            </a:r>
            <a:r>
              <a:rPr lang="sk-SK" sz="2600" dirty="0" err="1"/>
              <a:t>tuple</a:t>
            </a:r>
            <a:r>
              <a:rPr lang="sk-SK" sz="2600" dirty="0"/>
              <a:t> alebo aj celého slovníka (</a:t>
            </a:r>
            <a:r>
              <a:rPr lang="sk-SK" sz="2600" dirty="0" err="1"/>
              <a:t>dict</a:t>
            </a:r>
            <a:r>
              <a:rPr lang="sk-SK" sz="2600" dirty="0"/>
              <a:t>).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Pre rozbaľovanie použijeme rovnaký symbol ako pri deklarácií </a:t>
            </a:r>
            <a:r>
              <a:rPr lang="sk-SK" sz="2600" dirty="0" err="1"/>
              <a:t>varargs</a:t>
            </a:r>
            <a:r>
              <a:rPr lang="sk-SK" sz="2600" dirty="0"/>
              <a:t> v metóde (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*</a:t>
            </a:r>
            <a:r>
              <a:rPr lang="sk-SK" sz="2600" dirty="0"/>
              <a:t>, 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**</a:t>
            </a:r>
            <a:r>
              <a:rPr lang="sk-SK" sz="26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(x, y, z):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x + y + 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nums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[1, 2, 3]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(*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nums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))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rozbali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tuple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/list →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{"x": 10, "y": 20, "z": 5}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add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(**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))  #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rozbali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dict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→ 35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3406A00F-2B54-A77C-5BBF-B79C2EC8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Rozbalenie pri volaní funkcie</a:t>
            </a:r>
          </a:p>
        </p:txBody>
      </p:sp>
    </p:spTree>
    <p:extLst>
      <p:ext uri="{BB962C8B-B14F-4D97-AF65-F5344CB8AC3E}">
        <p14:creationId xmlns:p14="http://schemas.microsoft.com/office/powerpoint/2010/main" val="4256004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375E2-3C3C-5987-3908-83FFFF32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22C4402-358D-F694-F511-3CE0660F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89702"/>
            <a:ext cx="11347703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JSON je jednoduchý formát pre štruktúrované dáta, čitateľný pre ľudí a jednoducho spracovateľný počítačom.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Populárny dátový formát hojne používaný vo webových službách a aplikáciách.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sz="2600" dirty="0"/>
              <a:t>Podporuje </a:t>
            </a:r>
            <a:r>
              <a:rPr lang="sk-SK" sz="2600" b="1" dirty="0"/>
              <a:t>čísla</a:t>
            </a:r>
            <a:r>
              <a:rPr lang="sk-SK" sz="2600" dirty="0"/>
              <a:t>, </a:t>
            </a:r>
            <a:r>
              <a:rPr lang="sk-SK" sz="2600" b="1" dirty="0"/>
              <a:t>reťazce,</a:t>
            </a:r>
            <a:r>
              <a:rPr lang="sk-SK" sz="2600" dirty="0"/>
              <a:t> </a:t>
            </a:r>
            <a:r>
              <a:rPr lang="sk-SK" sz="2600" b="1" dirty="0"/>
              <a:t>boolean</a:t>
            </a:r>
            <a:r>
              <a:rPr lang="sk-SK" sz="2600" dirty="0"/>
              <a:t> a 2 štruktúry: </a:t>
            </a:r>
            <a:r>
              <a:rPr lang="sk-SK" sz="2600" b="1" dirty="0"/>
              <a:t>pole</a:t>
            </a:r>
            <a:r>
              <a:rPr lang="sk-SK" sz="2600" dirty="0"/>
              <a:t> (ako list) a </a:t>
            </a:r>
            <a:r>
              <a:rPr lang="sk-SK" sz="2600" b="1" dirty="0"/>
              <a:t>objekt</a:t>
            </a:r>
            <a:r>
              <a:rPr lang="sk-SK" sz="2600" dirty="0"/>
              <a:t> (</a:t>
            </a:r>
            <a:r>
              <a:rPr lang="sk-SK" sz="2600" dirty="0" err="1"/>
              <a:t>dict</a:t>
            </a:r>
            <a:r>
              <a:rPr lang="sk-SK" sz="2600" dirty="0"/>
              <a:t>)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"meno": "Jozef",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"vek": 25,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"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":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  "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znamky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": </a:t>
            </a:r>
            <a:r>
              <a:rPr lang="en-US" sz="2600" dirty="0">
                <a:highlight>
                  <a:srgbClr val="FFFF00"/>
                </a:highlight>
                <a:latin typeface="Consolas" panose="020B0609020204030204" pitchFamily="49" charset="0"/>
              </a:rPr>
              <a:t>[</a:t>
            </a: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1, 2, 1, 3</a:t>
            </a:r>
            <a:r>
              <a:rPr lang="en-US" sz="2600" dirty="0">
                <a:highlight>
                  <a:srgbClr val="FFFF00"/>
                </a:highlight>
                <a:latin typeface="Consolas" panose="020B0609020204030204" pitchFamily="49" charset="0"/>
              </a:rPr>
              <a:t>]</a:t>
            </a: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6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1AC6160-FD73-2BC2-0921-9F2E50BD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JSON (JavaScript </a:t>
            </a:r>
            <a:r>
              <a:rPr lang="sk-SK" dirty="0" err="1"/>
              <a:t>Object</a:t>
            </a:r>
            <a:r>
              <a:rPr lang="sk-SK" dirty="0"/>
              <a:t> </a:t>
            </a:r>
            <a:r>
              <a:rPr lang="sk-SK" dirty="0" err="1"/>
              <a:t>Notation</a:t>
            </a:r>
            <a:r>
              <a:rPr lang="sk-S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345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6DE95-748B-D6C3-1B30-1D4CE0170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236A12-DD99-1860-EF92-F645202D7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89702"/>
            <a:ext cx="11347703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Metóda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json.loads</a:t>
            </a:r>
            <a:r>
              <a:rPr lang="sk-SK" dirty="0"/>
              <a:t> načíta JSON z reťazca,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json.load</a:t>
            </a:r>
            <a:r>
              <a:rPr lang="sk-SK" dirty="0"/>
              <a:t> so súboru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Pre zápis dát do JSON sa používajú metódy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json.dump</a:t>
            </a:r>
            <a:r>
              <a:rPr lang="sk-SK" dirty="0"/>
              <a:t> a </a:t>
            </a:r>
            <a:r>
              <a:rPr lang="sk-SK" sz="2600" dirty="0" err="1">
                <a:highlight>
                  <a:srgbClr val="FFFF00"/>
                </a:highlight>
                <a:latin typeface="Consolas" panose="020B0609020204030204" pitchFamily="49" charset="0"/>
              </a:rPr>
              <a:t>json.dumps</a:t>
            </a:r>
            <a:endParaRPr lang="sk-SK" sz="26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import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json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'{"meno": "Jozef", "vek": 25,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# Konverzia textu na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Python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objekt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dict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list, atď.)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json.loads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["meno"])  # → Jozef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8316858B-86E1-3A5B-A5FF-1FD6F8088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JSON (JavaScript </a:t>
            </a:r>
            <a:r>
              <a:rPr lang="sk-SK" dirty="0" err="1"/>
              <a:t>Object</a:t>
            </a:r>
            <a:r>
              <a:rPr lang="sk-SK" dirty="0"/>
              <a:t> </a:t>
            </a:r>
            <a:r>
              <a:rPr lang="sk-SK" dirty="0" err="1"/>
              <a:t>Notation</a:t>
            </a:r>
            <a:r>
              <a:rPr lang="sk-SK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6983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0DA89-C7B1-F826-80D3-E7768455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0D7693E-26FD-D533-7AF8-1B4835705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89702"/>
            <a:ext cx="11347703" cy="490317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__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init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__(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meno, vek,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meno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self.vek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vek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self.student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@classmethod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def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from_json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cls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json_string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json.loads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json_string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cls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(**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data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osoba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Osoba.from_json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('{"meno": "Jozef", "vek": 25, 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student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":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}')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CEA8B0A-762A-A00D-5231-B5770DC7A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Načítanie objektu z JSON dát</a:t>
            </a:r>
          </a:p>
        </p:txBody>
      </p:sp>
    </p:spTree>
    <p:extLst>
      <p:ext uri="{BB962C8B-B14F-4D97-AF65-F5344CB8AC3E}">
        <p14:creationId xmlns:p14="http://schemas.microsoft.com/office/powerpoint/2010/main" val="4121744905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6883</TotalTime>
  <Words>1117</Words>
  <Application>Microsoft Office PowerPoint</Application>
  <PresentationFormat>Širokouhlá</PresentationFormat>
  <Paragraphs>157</Paragraphs>
  <Slides>15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10 (2 týždne)</vt:lpstr>
      <vt:lpstr>Súkromné atribúty</vt:lpstr>
      <vt:lpstr>Súkromné atribúty</vt:lpstr>
      <vt:lpstr>Vymazanie atribútov a metód</vt:lpstr>
      <vt:lpstr>Vymazanie atribútov a metód</vt:lpstr>
      <vt:lpstr>Vymazanie objektu</vt:lpstr>
      <vt:lpstr>Dunder metóda __repr__</vt:lpstr>
      <vt:lpstr>Dunder metóda __eq__</vt:lpstr>
      <vt:lpstr>Variabilný počet argumentov</vt:lpstr>
      <vt:lpstr>Variabilný počet argumentov</vt:lpstr>
      <vt:lpstr>Rozbalenie pri volaní funkcie</vt:lpstr>
      <vt:lpstr>JSON (JavaScript Object Notation)</vt:lpstr>
      <vt:lpstr>JSON (JavaScript Object Notation)</vt:lpstr>
      <vt:lpstr>Načítanie objektu z JSON dát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27</cp:revision>
  <dcterms:created xsi:type="dcterms:W3CDTF">2025-09-05T09:09:34Z</dcterms:created>
  <dcterms:modified xsi:type="dcterms:W3CDTF">2025-11-08T17:41:44Z</dcterms:modified>
</cp:coreProperties>
</file>