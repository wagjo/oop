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86" r:id="rId4"/>
    <p:sldId id="287" r:id="rId5"/>
    <p:sldId id="298" r:id="rId6"/>
    <p:sldId id="299" r:id="rId7"/>
    <p:sldId id="300" r:id="rId8"/>
    <p:sldId id="301" r:id="rId9"/>
    <p:sldId id="302" r:id="rId10"/>
    <p:sldId id="304" r:id="rId11"/>
    <p:sldId id="303" r:id="rId12"/>
    <p:sldId id="30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24. 1. 2026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24. 1. 2026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24. 1. 2026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24. 1. 2026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24. 1. 2026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24. 1. 2026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24. 1. 2026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</a:t>
            </a:r>
            <a:r>
              <a:rPr lang="en-US" sz="4000" dirty="0"/>
              <a:t>18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5870448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Records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Chyby pri kompilácii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Chyby pri behu aplikácie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42C44-59E7-C8F0-1590-CED16FCC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47628F-FCF0-D006-5EEC-0A3BE32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Records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E8006-664C-5DF5-91F6-29AED5E4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186416" cy="498007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sz="3000" dirty="0" err="1"/>
              <a:t>Record</a:t>
            </a:r>
            <a:r>
              <a:rPr lang="sk-SK" sz="3000" dirty="0"/>
              <a:t> je špeciálny typ triedy určený na nesenie dát (</a:t>
            </a:r>
            <a:r>
              <a:rPr lang="sk-SK" sz="3000" dirty="0" err="1"/>
              <a:t>data</a:t>
            </a:r>
            <a:r>
              <a:rPr lang="sk-SK" sz="3000" dirty="0"/>
              <a:t> </a:t>
            </a:r>
            <a:r>
              <a:rPr lang="sk-SK" sz="3000" dirty="0" err="1"/>
              <a:t>carrier</a:t>
            </a:r>
            <a:r>
              <a:rPr lang="sk-SK" sz="3000" dirty="0"/>
              <a:t>)</a:t>
            </a:r>
            <a:endParaRPr lang="en-US" sz="3000" dirty="0"/>
          </a:p>
          <a:p>
            <a:pPr marL="0" indent="0">
              <a:lnSpc>
                <a:spcPct val="100000"/>
              </a:lnSpc>
              <a:buNone/>
            </a:pPr>
            <a:r>
              <a:rPr lang="sk-SK" sz="30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30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0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record</a:t>
            </a:r>
            <a:r>
              <a:rPr lang="sk-SK" sz="3000" dirty="0">
                <a:highlight>
                  <a:srgbClr val="FFFF00"/>
                </a:highlight>
                <a:latin typeface="Consolas" panose="020B0609020204030204" pitchFamily="49" charset="0"/>
              </a:rPr>
              <a:t> Osoba(</a:t>
            </a:r>
            <a:r>
              <a:rPr lang="sk-SK" sz="30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3000" dirty="0">
                <a:highlight>
                  <a:srgbClr val="FFFF00"/>
                </a:highlight>
                <a:latin typeface="Consolas" panose="020B0609020204030204" pitchFamily="49" charset="0"/>
              </a:rPr>
              <a:t> meno, </a:t>
            </a:r>
            <a:r>
              <a:rPr lang="sk-SK" sz="30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3000" dirty="0">
                <a:highlight>
                  <a:srgbClr val="FFFF00"/>
                </a:highlight>
                <a:latin typeface="Consolas" panose="020B0609020204030204" pitchFamily="49" charset="0"/>
              </a:rPr>
              <a:t> priezvisko, Pohlavie </a:t>
            </a:r>
            <a:r>
              <a:rPr lang="sk-SK" sz="3000" dirty="0" err="1">
                <a:highlight>
                  <a:srgbClr val="FFFF00"/>
                </a:highlight>
                <a:latin typeface="Consolas" panose="020B0609020204030204" pitchFamily="49" charset="0"/>
              </a:rPr>
              <a:t>pohlavie</a:t>
            </a:r>
            <a:r>
              <a:rPr lang="sk-SK" sz="30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3000" dirty="0" err="1">
                <a:highlight>
                  <a:srgbClr val="FFFF00"/>
                </a:highlight>
                <a:latin typeface="Consolas" panose="020B0609020204030204" pitchFamily="49" charset="0"/>
              </a:rPr>
              <a:t>LocalDate</a:t>
            </a:r>
            <a:r>
              <a:rPr lang="sk-SK" sz="30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000" dirty="0" err="1">
                <a:highlight>
                  <a:srgbClr val="FFFF00"/>
                </a:highlight>
                <a:latin typeface="Consolas" panose="020B0609020204030204" pitchFamily="49" charset="0"/>
              </a:rPr>
              <a:t>datumNarodenia</a:t>
            </a:r>
            <a:r>
              <a:rPr lang="sk-SK" sz="3000" dirty="0">
                <a:highlight>
                  <a:srgbClr val="FFFF00"/>
                </a:highlight>
                <a:latin typeface="Consolas" panose="020B0609020204030204" pitchFamily="49" charset="0"/>
              </a:rPr>
              <a:t>) {}</a:t>
            </a:r>
            <a:endParaRPr lang="en-US" sz="30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sz="3000" dirty="0" err="1"/>
              <a:t>Records</a:t>
            </a:r>
            <a:r>
              <a:rPr lang="sk-SK" sz="3000" dirty="0"/>
              <a:t> odstraňuje prebytočný kód (anglicky </a:t>
            </a:r>
            <a:r>
              <a:rPr lang="sk-SK" sz="3000" dirty="0" err="1"/>
              <a:t>boilerplate</a:t>
            </a:r>
            <a:r>
              <a:rPr lang="sk-SK" sz="3000" dirty="0"/>
              <a:t>), prináša jednoduchosť a zvyšujú spoľahlivosť kódu. </a:t>
            </a:r>
            <a:r>
              <a:rPr lang="sk-SK" sz="3000" dirty="0" err="1">
                <a:highlight>
                  <a:srgbClr val="FFFF00"/>
                </a:highlight>
                <a:latin typeface="Consolas" panose="020B0609020204030204" pitchFamily="49" charset="0"/>
              </a:rPr>
              <a:t>record</a:t>
            </a:r>
            <a:r>
              <a:rPr lang="sk-SK" sz="3000" dirty="0"/>
              <a:t> automaticky generuje:</a:t>
            </a:r>
          </a:p>
          <a:p>
            <a:pPr lvl="1"/>
            <a:r>
              <a:rPr lang="sk-SK" sz="3000" dirty="0" err="1"/>
              <a:t>private</a:t>
            </a:r>
            <a:r>
              <a:rPr lang="sk-SK" sz="3000" dirty="0"/>
              <a:t> </a:t>
            </a:r>
            <a:r>
              <a:rPr lang="sk-SK" sz="3000" dirty="0" err="1"/>
              <a:t>final</a:t>
            </a:r>
            <a:r>
              <a:rPr lang="sk-SK" sz="3000" dirty="0"/>
              <a:t> atribúty</a:t>
            </a:r>
          </a:p>
          <a:p>
            <a:pPr lvl="1"/>
            <a:r>
              <a:rPr lang="sk-SK" sz="3000" dirty="0"/>
              <a:t>parametrický konštruktor</a:t>
            </a:r>
          </a:p>
          <a:p>
            <a:pPr lvl="1"/>
            <a:r>
              <a:rPr lang="sk-SK" sz="3000" dirty="0" err="1"/>
              <a:t>gettre</a:t>
            </a:r>
            <a:r>
              <a:rPr lang="sk-SK" sz="3000" dirty="0"/>
              <a:t> (bez get prefixu)</a:t>
            </a:r>
          </a:p>
          <a:p>
            <a:pPr lvl="1"/>
            <a:r>
              <a:rPr lang="sk-SK" sz="3000" dirty="0"/>
              <a:t>metódy </a:t>
            </a:r>
            <a:r>
              <a:rPr lang="sk-SK" sz="3000" dirty="0" err="1">
                <a:highlight>
                  <a:srgbClr val="FFFF00"/>
                </a:highlight>
                <a:latin typeface="Consolas" panose="020B0609020204030204" pitchFamily="49" charset="0"/>
              </a:rPr>
              <a:t>equals</a:t>
            </a:r>
            <a:r>
              <a:rPr lang="sk-SK" sz="30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3000" dirty="0"/>
              <a:t>, </a:t>
            </a:r>
            <a:r>
              <a:rPr lang="sk-SK" sz="3000" dirty="0" err="1">
                <a:highlight>
                  <a:srgbClr val="FFFF00"/>
                </a:highlight>
                <a:latin typeface="Consolas" panose="020B0609020204030204" pitchFamily="49" charset="0"/>
              </a:rPr>
              <a:t>hashCode</a:t>
            </a:r>
            <a:r>
              <a:rPr lang="sk-SK" sz="30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3000" dirty="0"/>
              <a:t> a </a:t>
            </a:r>
            <a:r>
              <a:rPr lang="sk-SK" sz="3000" dirty="0" err="1">
                <a:highlight>
                  <a:srgbClr val="FFFF00"/>
                </a:highlight>
                <a:latin typeface="Consolas" panose="020B0609020204030204" pitchFamily="49" charset="0"/>
              </a:rPr>
              <a:t>toString</a:t>
            </a:r>
            <a:r>
              <a:rPr lang="sk-SK" sz="30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41786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580D0-B9D9-74F5-88D1-B0C7686F7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1C3258-7EE6-025D-A0E9-E4FE7EA22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669"/>
            <a:ext cx="10515600" cy="55841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Trieda</a:t>
            </a:r>
            <a:r>
              <a:rPr lang="en-US" dirty="0"/>
              <a:t> </a:t>
            </a:r>
            <a:r>
              <a:rPr lang="en-US" dirty="0" err="1"/>
              <a:t>vygenerovan</a:t>
            </a:r>
            <a:r>
              <a:rPr lang="sk-SK" dirty="0"/>
              <a:t>á z </a:t>
            </a:r>
            <a:r>
              <a:rPr lang="sk-SK" dirty="0" err="1"/>
              <a:t>Recordu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CA75339-A71A-3322-1B57-1A1065A9C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95528"/>
            <a:ext cx="11512296" cy="5916802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Osoba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java.lang.Record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meno;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priezvisko;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Pohlavie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pohlavie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LocalDate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datumNarodenia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SimpleOsoba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meno,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priezvisko, Pohlavie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pohlavie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LocalDate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datumNarodenia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this.meno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meno;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this.priezvisko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priezvisko;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this.pohlavie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pohlavie;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this.datumNarodenia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datumNarodenia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meno() {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meno;}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priezvisko() {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priezvisko;}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Pohlavie pohlavie() {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pohlavie;}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LocalDate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datumNarodenia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datumNarodenia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@Override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boolean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equals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(Osoba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other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this.meno.equals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other.meno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&amp;&amp;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this.priezvisko.equals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other.priezvisko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&amp;&amp;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this.pohlavie.equals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other.pohlavie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&amp;&amp;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this.datumNarodenia.equals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other.datumNarodenia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hashCode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java.util.Objects.hash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(meno, priezvisko, pohlavie,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datumNarodenia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toString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"...výpis hodnôt";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88784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ADD74-59A1-5BDE-00FB-834B05FEB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52C587-F5E5-704F-8233-0B444EFF9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Records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208D8DE-3674-C952-15D2-F7DC7D0A0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186416" cy="4980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 err="1"/>
              <a:t>Recordy</a:t>
            </a:r>
            <a:r>
              <a:rPr lang="sk-SK" dirty="0"/>
              <a:t> sú nemenné:</a:t>
            </a:r>
          </a:p>
          <a:p>
            <a:pPr lvl="1"/>
            <a:r>
              <a:rPr lang="sk-SK" sz="2800" dirty="0"/>
              <a:t>všetky polia sú 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/>
            <a:r>
              <a:rPr lang="sk-SK" sz="2800" dirty="0"/>
              <a:t>neexistujú </a:t>
            </a:r>
            <a:r>
              <a:rPr lang="sk-SK" sz="2800" dirty="0" err="1"/>
              <a:t>settre</a:t>
            </a:r>
            <a:endParaRPr lang="sk-SK" sz="2800" dirty="0"/>
          </a:p>
          <a:p>
            <a:pPr lvl="1"/>
            <a:r>
              <a:rPr lang="sk-SK" sz="2800" dirty="0"/>
              <a:t>stav objektu sa po vytvorení nemení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 err="1"/>
              <a:t>Recordy</a:t>
            </a:r>
            <a:r>
              <a:rPr lang="sk-SK" dirty="0"/>
              <a:t> sa nededia:</a:t>
            </a:r>
          </a:p>
          <a:p>
            <a:pPr lvl="1"/>
            <a:r>
              <a:rPr lang="sk-SK" sz="2800" dirty="0" err="1"/>
              <a:t>record</a:t>
            </a:r>
            <a:r>
              <a:rPr lang="sk-SK" sz="2800" dirty="0"/>
              <a:t> je definovaný ako 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/>
            <a:r>
              <a:rPr lang="sk-SK" sz="2800" dirty="0" err="1"/>
              <a:t>record</a:t>
            </a:r>
            <a:r>
              <a:rPr lang="sk-SK" sz="2800" dirty="0"/>
              <a:t> dedí iba z triedy 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java.lang.Record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/>
            <a:r>
              <a:rPr lang="sk-SK" sz="2800" dirty="0" err="1"/>
              <a:t>record</a:t>
            </a:r>
            <a:r>
              <a:rPr lang="sk-SK" sz="2800" dirty="0"/>
              <a:t> ale môže implementovať akékoľvek rozhrania</a:t>
            </a:r>
          </a:p>
        </p:txBody>
      </p:sp>
    </p:spTree>
    <p:extLst>
      <p:ext uri="{BB962C8B-B14F-4D97-AF65-F5344CB8AC3E}">
        <p14:creationId xmlns:p14="http://schemas.microsoft.com/office/powerpoint/2010/main" val="1450367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33695-BA66-22F7-2929-65CF28E30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789593-3749-644F-4B5D-CA821545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Records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3B24259-F67D-4B3C-9777-523BDDC4A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389888"/>
            <a:ext cx="10762488" cy="51755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sz="2400" dirty="0"/>
              <a:t>Do </a:t>
            </a:r>
            <a:r>
              <a:rPr lang="sk-SK" sz="2400" dirty="0" err="1"/>
              <a:t>recordov</a:t>
            </a:r>
            <a:r>
              <a:rPr lang="sk-SK" sz="2400" dirty="0"/>
              <a:t> môžete pridávať vlastné metódy a statické atribúty. </a:t>
            </a:r>
          </a:p>
          <a:p>
            <a:pPr marL="0" indent="0">
              <a:buNone/>
            </a:pPr>
            <a:r>
              <a:rPr lang="sk-SK" sz="2400" dirty="0"/>
              <a:t>Podporujú tiež vlastný konštruktor v tzv. kompaktom formáte, kedy nemusíme písať argumenty konštruktora:</a:t>
            </a:r>
          </a:p>
          <a:p>
            <a:pPr marL="0" indent="0">
              <a:buNone/>
            </a:pPr>
            <a:endParaRPr lang="sk-SK" sz="2400" dirty="0"/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record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Interval(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od,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do)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// kompaktný konštruktor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Interval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(od &gt; do)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throw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IllegalArgumentException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("od je &gt; ako do");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dlzka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do - od + 1;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265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68118-E8AF-AA2B-4123-667DF9F43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DCC671-EDDE-09F2-9184-AB3BFE59D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Records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04D3379-A37A-92FB-BF8F-F9C6F22D3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9888"/>
            <a:ext cx="11012424" cy="51755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 err="1"/>
              <a:t>Recordy</a:t>
            </a:r>
            <a:r>
              <a:rPr lang="sk-SK" dirty="0"/>
              <a:t> dobre spolupracujú s knižnicou </a:t>
            </a:r>
            <a:r>
              <a:rPr lang="sk-SK" dirty="0" err="1"/>
              <a:t>Jackson</a:t>
            </a:r>
            <a:r>
              <a:rPr lang="sk-SK" dirty="0"/>
              <a:t>, ktorá umožňuje načítať hodnoty z JSON alebo CSV súborov priamo do </a:t>
            </a:r>
            <a:r>
              <a:rPr lang="sk-SK" dirty="0" err="1"/>
              <a:t>recordov</a:t>
            </a:r>
            <a:r>
              <a:rPr lang="sk-SK" dirty="0"/>
              <a:t>. </a:t>
            </a:r>
          </a:p>
          <a:p>
            <a:pPr marL="0" indent="0">
              <a:buNone/>
            </a:pPr>
            <a:endParaRPr lang="sk-SK" sz="2400" dirty="0"/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@JsonPropertyOrder({"meno", "priezvisko", "pohlavie"})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record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RecordOsoba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(@JsonProperty("meno")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meno,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@JsonProperty("priezvisko")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priezvisko,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@JsonProperty("pohlavie") Pohlavie pohlavie) {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toString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meno + " " + priezvisko;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2996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2A79D2-E558-A8F3-B9D9-FD3E16CBE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878C81-43B8-85A3-CE10-B21C23FC2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Chyby pri kompilácii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8021CB3-B437-C307-CC13-31503B6F9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9888"/>
            <a:ext cx="10774680" cy="51755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Veľké množstvo chýb nám dokáže odhaliť kompilátor a teda prídeme na nich ešte pred tým, ako sa program spustí.</a:t>
            </a:r>
          </a:p>
          <a:p>
            <a:pPr marL="0" indent="0">
              <a:buNone/>
            </a:pPr>
            <a:r>
              <a:rPr lang="sk-SK" dirty="0"/>
              <a:t>Najčastejším zdrojom týchto chýb je kopírovanie kódu z webových stránok alebo z asistentov umelej inteligencie.</a:t>
            </a:r>
          </a:p>
          <a:p>
            <a:pPr marL="0" indent="0">
              <a:buNone/>
            </a:pPr>
            <a:r>
              <a:rPr lang="sk-SK" dirty="0"/>
              <a:t>Automatické formátovanie kódu (</a:t>
            </a:r>
            <a:r>
              <a:rPr lang="sk-SK" i="1" dirty="0" err="1"/>
              <a:t>Code-Reformat</a:t>
            </a:r>
            <a:r>
              <a:rPr lang="sk-SK" i="1" dirty="0"/>
              <a:t> </a:t>
            </a:r>
            <a:r>
              <a:rPr lang="sk-SK" i="1" dirty="0" err="1"/>
              <a:t>Code</a:t>
            </a:r>
            <a:r>
              <a:rPr lang="sk-SK" dirty="0"/>
              <a:t>) pomocou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Ctrl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-Alt-L</a:t>
            </a:r>
            <a:r>
              <a:rPr lang="sk-SK" dirty="0"/>
              <a:t> nám pomôže nájsť chybu.</a:t>
            </a:r>
          </a:p>
          <a:p>
            <a:pPr marL="0" indent="0">
              <a:buNone/>
            </a:pPr>
            <a:r>
              <a:rPr lang="sk-SK" dirty="0"/>
              <a:t>Typické kompilačné chyby:</a:t>
            </a:r>
          </a:p>
          <a:p>
            <a:pPr lvl="1"/>
            <a:r>
              <a:rPr lang="sk-SK" i="1" dirty="0" err="1"/>
              <a:t>cannot</a:t>
            </a:r>
            <a:r>
              <a:rPr lang="sk-SK" i="1" dirty="0"/>
              <a:t> </a:t>
            </a:r>
            <a:r>
              <a:rPr lang="sk-SK" i="1" dirty="0" err="1"/>
              <a:t>find</a:t>
            </a:r>
            <a:r>
              <a:rPr lang="sk-SK" i="1" dirty="0"/>
              <a:t> symbol </a:t>
            </a:r>
            <a:r>
              <a:rPr lang="sk-SK" dirty="0"/>
              <a:t>- Chýba import triedy alebo sme v názve urobili preklep</a:t>
            </a:r>
          </a:p>
          <a:p>
            <a:pPr lvl="1"/>
            <a:r>
              <a:rPr lang="sk-SK" i="1" dirty="0" err="1"/>
              <a:t>class</a:t>
            </a:r>
            <a:r>
              <a:rPr lang="sk-SK" i="1" dirty="0"/>
              <a:t>, interface, </a:t>
            </a:r>
            <a:r>
              <a:rPr lang="sk-SK" i="1" dirty="0" err="1"/>
              <a:t>enum</a:t>
            </a:r>
            <a:r>
              <a:rPr lang="sk-SK" i="1" dirty="0"/>
              <a:t>, or </a:t>
            </a:r>
            <a:r>
              <a:rPr lang="sk-SK" i="1" dirty="0" err="1"/>
              <a:t>record</a:t>
            </a:r>
            <a:r>
              <a:rPr lang="sk-SK" i="1" dirty="0"/>
              <a:t> </a:t>
            </a:r>
            <a:r>
              <a:rPr lang="sk-SK" i="1" dirty="0" err="1"/>
              <a:t>expected</a:t>
            </a:r>
            <a:r>
              <a:rPr lang="sk-SK" i="1" dirty="0"/>
              <a:t> </a:t>
            </a:r>
            <a:r>
              <a:rPr lang="sk-SK" dirty="0"/>
              <a:t>- Máme niekde zátvorku navyše</a:t>
            </a:r>
          </a:p>
          <a:p>
            <a:pPr lvl="1"/>
            <a:r>
              <a:rPr lang="sk-SK" i="1" dirty="0" err="1"/>
              <a:t>reached</a:t>
            </a:r>
            <a:r>
              <a:rPr lang="sk-SK" i="1" dirty="0"/>
              <a:t> end of </a:t>
            </a:r>
            <a:r>
              <a:rPr lang="sk-SK" i="1" dirty="0" err="1"/>
              <a:t>file</a:t>
            </a:r>
            <a:r>
              <a:rPr lang="sk-SK" i="1" dirty="0"/>
              <a:t> </a:t>
            </a:r>
            <a:r>
              <a:rPr lang="sk-SK" i="1" dirty="0" err="1"/>
              <a:t>while</a:t>
            </a:r>
            <a:r>
              <a:rPr lang="sk-SK" i="1" dirty="0"/>
              <a:t> </a:t>
            </a:r>
            <a:r>
              <a:rPr lang="sk-SK" i="1" dirty="0" err="1"/>
              <a:t>parsing</a:t>
            </a:r>
            <a:r>
              <a:rPr lang="sk-SK" i="1" dirty="0"/>
              <a:t> </a:t>
            </a:r>
            <a:r>
              <a:rPr lang="sk-SK" dirty="0"/>
              <a:t>- Niekde nám zátvorka chýba</a:t>
            </a:r>
          </a:p>
          <a:p>
            <a:pPr lvl="1"/>
            <a:r>
              <a:rPr lang="sk-SK" i="1" dirty="0" err="1"/>
              <a:t>illegal</a:t>
            </a:r>
            <a:r>
              <a:rPr lang="sk-SK" i="1" dirty="0"/>
              <a:t> </a:t>
            </a:r>
            <a:r>
              <a:rPr lang="sk-SK" i="1" dirty="0" err="1"/>
              <a:t>start</a:t>
            </a:r>
            <a:r>
              <a:rPr lang="sk-SK" i="1" dirty="0"/>
              <a:t> of </a:t>
            </a:r>
            <a:r>
              <a:rPr lang="sk-SK" i="1" dirty="0" err="1"/>
              <a:t>expression</a:t>
            </a:r>
            <a:r>
              <a:rPr lang="sk-SK" i="1" dirty="0"/>
              <a:t> </a:t>
            </a:r>
            <a:r>
              <a:rPr lang="sk-SK" dirty="0"/>
              <a:t>- Chýbajúca zátvorka</a:t>
            </a:r>
          </a:p>
        </p:txBody>
      </p:sp>
    </p:spTree>
    <p:extLst>
      <p:ext uri="{BB962C8B-B14F-4D97-AF65-F5344CB8AC3E}">
        <p14:creationId xmlns:p14="http://schemas.microsoft.com/office/powerpoint/2010/main" val="1223354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C2A9A7-6C35-B68A-9D07-23FB79B44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97A3E9-B87A-E784-1EB7-753EA94CD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Chyby pri behu aplikácie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BB6EB73-0D95-D4DF-F692-E0AB7EB3B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76" y="1389888"/>
            <a:ext cx="11173968" cy="51755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Pri vyhodení výnimky program vypíše </a:t>
            </a:r>
            <a:r>
              <a:rPr lang="sk-SK" b="1" dirty="0" err="1"/>
              <a:t>stacktrace</a:t>
            </a:r>
            <a:endParaRPr lang="sk-SK" b="1" dirty="0"/>
          </a:p>
          <a:p>
            <a:pPr marL="0" indent="0">
              <a:buNone/>
            </a:pPr>
            <a:r>
              <a:rPr lang="sk-SK" b="1" dirty="0" err="1"/>
              <a:t>Stacktrace</a:t>
            </a:r>
            <a:r>
              <a:rPr lang="sk-SK" dirty="0"/>
              <a:t> je výpis volaní metód, pomocou ktorého vieme nájsť zdroj chyby, teda metódu, ktorá vyhodila výnimku</a:t>
            </a:r>
          </a:p>
          <a:p>
            <a:pPr marL="0" indent="0">
              <a:buNone/>
            </a:pPr>
            <a:r>
              <a:rPr lang="sk-SK" dirty="0"/>
              <a:t>Medzi najčastejšie výnimky počas behu programu patria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NullPointerException</a:t>
            </a:r>
            <a:r>
              <a:rPr lang="sk-SK" dirty="0"/>
              <a:t> 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ClassCastException</a:t>
            </a:r>
            <a:r>
              <a:rPr lang="sk-SK" dirty="0"/>
              <a:t>.</a:t>
            </a:r>
          </a:p>
          <a:p>
            <a:pPr marL="0" indent="0">
              <a:buNone/>
            </a:pPr>
            <a:r>
              <a:rPr lang="sk-SK" dirty="0"/>
              <a:t>V dokumentácii sú uvedené výnimky, ktoré metóda môže vyhodiť.</a:t>
            </a:r>
          </a:p>
          <a:p>
            <a:pPr marL="0" indent="0">
              <a:buNone/>
            </a:pPr>
            <a:r>
              <a:rPr lang="sk-SK" dirty="0"/>
              <a:t>Hľadanie príčine v </a:t>
            </a:r>
            <a:r>
              <a:rPr lang="sk-SK" dirty="0" err="1"/>
              <a:t>stacktrace</a:t>
            </a:r>
            <a:endParaRPr lang="sk-SK" dirty="0"/>
          </a:p>
          <a:p>
            <a:pPr lvl="1"/>
            <a:r>
              <a:rPr lang="sk-SK" dirty="0"/>
              <a:t>riadky, ktoré sú z našich tried (Osoba.java)</a:t>
            </a:r>
          </a:p>
          <a:p>
            <a:pPr lvl="1"/>
            <a:r>
              <a:rPr lang="sk-SK" dirty="0"/>
              <a:t>prvé riadky začínajúce s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at</a:t>
            </a:r>
          </a:p>
          <a:p>
            <a:pPr lvl="1"/>
            <a:r>
              <a:rPr lang="sk-SK" dirty="0"/>
              <a:t>skutočná </a:t>
            </a:r>
            <a:r>
              <a:rPr lang="sk-SK" dirty="0" err="1"/>
              <a:t>príčína</a:t>
            </a:r>
            <a:r>
              <a:rPr lang="sk-SK" dirty="0"/>
              <a:t> je často v sekcii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Caused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by</a:t>
            </a:r>
            <a:r>
              <a:rPr lang="sk-SK" dirty="0"/>
              <a:t>, ktorá obsahuje výpis vnorenej výnimky</a:t>
            </a:r>
          </a:p>
        </p:txBody>
      </p:sp>
    </p:spTree>
    <p:extLst>
      <p:ext uri="{BB962C8B-B14F-4D97-AF65-F5344CB8AC3E}">
        <p14:creationId xmlns:p14="http://schemas.microsoft.com/office/powerpoint/2010/main" val="4181000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AA07B-5292-75E1-D5B7-CB4D87F98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4F695F-BB4A-CA76-92AF-A4C5C3FFC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64" y="64325"/>
            <a:ext cx="10515600" cy="685483"/>
          </a:xfrm>
        </p:spPr>
        <p:txBody>
          <a:bodyPr>
            <a:normAutofit fontScale="90000"/>
          </a:bodyPr>
          <a:lstStyle/>
          <a:p>
            <a:r>
              <a:rPr lang="sk-SK" dirty="0" err="1"/>
              <a:t>Stacktrace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AEC6CB5-A82B-2C51-A8A7-36DB7EBA2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" y="612648"/>
            <a:ext cx="11914632" cy="595274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Exception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in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thread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"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"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com.fasterxml.jackson.databind.JsonMappingException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Cannot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invoke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"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String.toUpperCase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()"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because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"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this.priezvisko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"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is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null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through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reference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chain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java.util.ArrayList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[0]-&gt;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sk.spse.jackson.Osoba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["priezvisko"])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   at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com.jackson.databind.JsonMappingException.wrapWithPath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(JsonMappingException.java:400)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   at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com.jackson.databind.JsonMappingException.wrapWithPath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(JsonMappingException.java:359)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   at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com.jackson.databind.ser.std.StdSerializer.wrapAndThrow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(StdSerializer.java:324)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   at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com.jackson.databind.ser.std.BeanSerializerBase.serializeFields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(BeanSerializerBase.java:765)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   at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com.jackson.databind.ser.BeanSerializer.serialize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(BeanSerializer.java:183)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   at com.jackson.databind.ser.IndexedListSerializer.serializeContents(IndexedListSerializer.java:119)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   at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com.jackson.databind.ser.impl.IndexedListSerializer.serialize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(IndexedListSerializer.java:79)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   at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com.jackson.databind.ser.impl.IndexedListSerializer.serialize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(IndexedListSerializer.java:18)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   at com.jackson.databind.ser.DefaultSerializerProvider._serialize(DefaultSerializerProvider.java:503)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   at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com.jackson.databind.ser.serializeValue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(DefaultSerializerProvider.java:342)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   at com.jackson.databind.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ObjectMapper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._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writeValueAndClose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(ObjectMapper.java:4926)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   at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com.jackson.databind.ObjectMapper.writeValue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(ObjectMapper.java:4088)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   at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sk.spse.jackson.Json.main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(Json.java:42)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Caused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by: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java.lang.NullPointerException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Cannot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invoke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"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String.toUpperCase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()"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because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"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this.priezvisko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"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null</a:t>
            </a:r>
            <a:endParaRPr lang="sk-SK" sz="2400" b="1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at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sk.spse.jackson.Osoba.getPriezvisko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(Osoba.java:50)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   at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java.base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jdk.internal.reflect.invoke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(DirectMethodHandleAccessor.java:103)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   at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java.base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java.lang.reflect.Method.invoke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(Method.java:580)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   at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com.fasterxml.jackson.databind.ser.serializeAsField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(BeanPropertyWriter.java:688)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   at </a:t>
            </a:r>
            <a:r>
              <a:rPr lang="sk-SK" sz="1600" dirty="0" err="1">
                <a:highlight>
                  <a:srgbClr val="FFFF00"/>
                </a:highlight>
                <a:latin typeface="Consolas" panose="020B0609020204030204" pitchFamily="49" charset="0"/>
              </a:rPr>
              <a:t>com.fasterxml.jackson.databind.ser.std.serializeFields</a:t>
            </a: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(BeanSerializerBase.java:760)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1600" dirty="0">
                <a:highlight>
                  <a:srgbClr val="FFFF00"/>
                </a:highlight>
                <a:latin typeface="Consolas" panose="020B0609020204030204" pitchFamily="49" charset="0"/>
              </a:rPr>
              <a:t>    ... 9 more</a:t>
            </a:r>
          </a:p>
        </p:txBody>
      </p:sp>
    </p:spTree>
    <p:extLst>
      <p:ext uri="{BB962C8B-B14F-4D97-AF65-F5344CB8AC3E}">
        <p14:creationId xmlns:p14="http://schemas.microsoft.com/office/powerpoint/2010/main" val="1119422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DA08C-E20C-EFE9-18AA-F5F73B335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C21385-41D0-ECD0-C909-8A48D3FAF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Chyby pri behu aplikácie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E935964-0A4A-798B-6AE0-8583333A1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76" y="1481328"/>
            <a:ext cx="9784080" cy="50840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Niekedy nevyhodí výnimku, ale aj tak nefunguje správne, nereaguje podľa očakávaní, alebo nevyprodukuje požadovaný výstup</a:t>
            </a:r>
          </a:p>
          <a:p>
            <a:pPr marL="0" indent="0">
              <a:buNone/>
            </a:pPr>
            <a:r>
              <a:rPr lang="sk-SK" dirty="0"/>
              <a:t>Vtedy sa odporúča použiť </a:t>
            </a:r>
            <a:r>
              <a:rPr lang="sk-SK" dirty="0" err="1"/>
              <a:t>debugovacie</a:t>
            </a:r>
            <a:r>
              <a:rPr lang="sk-SK" dirty="0"/>
              <a:t> nástroje IDE, alebo pridať do kódu stručný výpis pomocou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/>
              <a:t> na tie miesta, kde tušíme chybu.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76611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29912-C93D-BBBA-BC6B-64DB1292F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60C94C-EC34-654C-0DAF-2D494A6C1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Debugovanie</a:t>
            </a:r>
            <a:r>
              <a:rPr lang="sk-SK" dirty="0"/>
              <a:t> v IDEA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3CED33A-3AF2-C275-C48E-FDADED78B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76" y="1481328"/>
            <a:ext cx="11439144" cy="50840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 err="1"/>
              <a:t>Debug</a:t>
            </a:r>
            <a:r>
              <a:rPr lang="sk-SK" dirty="0"/>
              <a:t> režim  – spustenie programu pod kontrolou </a:t>
            </a:r>
            <a:r>
              <a:rPr lang="sk-SK" dirty="0" err="1"/>
              <a:t>debuggeru</a:t>
            </a:r>
            <a:r>
              <a:rPr lang="sk-SK" dirty="0"/>
              <a:t> (</a:t>
            </a:r>
            <a:r>
              <a:rPr lang="sk-SK" dirty="0" err="1"/>
              <a:t>Shift</a:t>
            </a:r>
            <a:r>
              <a:rPr lang="sk-SK" dirty="0"/>
              <a:t> + F9)</a:t>
            </a:r>
          </a:p>
          <a:p>
            <a:pPr marL="0" indent="0">
              <a:buNone/>
            </a:pPr>
            <a:r>
              <a:rPr lang="sk-SK" dirty="0" err="1"/>
              <a:t>Breakpointy</a:t>
            </a:r>
            <a:r>
              <a:rPr lang="sk-SK" dirty="0"/>
              <a:t> – zastavenie programu na riadku kódu</a:t>
            </a:r>
          </a:p>
          <a:p>
            <a:pPr marL="0" indent="0">
              <a:buNone/>
            </a:pPr>
            <a:r>
              <a:rPr lang="sk-SK" dirty="0"/>
              <a:t>Ovládanie behu programu</a:t>
            </a:r>
          </a:p>
          <a:p>
            <a:pPr lvl="1"/>
            <a:r>
              <a:rPr lang="sk-SK" dirty="0"/>
              <a:t>F8 – Step Over (vykoná riadok)</a:t>
            </a:r>
          </a:p>
          <a:p>
            <a:pPr lvl="1"/>
            <a:r>
              <a:rPr lang="sk-SK" dirty="0"/>
              <a:t>F7 – Step </a:t>
            </a:r>
            <a:r>
              <a:rPr lang="sk-SK" dirty="0" err="1"/>
              <a:t>Into</a:t>
            </a:r>
            <a:r>
              <a:rPr lang="sk-SK" dirty="0"/>
              <a:t> (vojde do metódy)</a:t>
            </a:r>
          </a:p>
          <a:p>
            <a:pPr lvl="1"/>
            <a:r>
              <a:rPr lang="sk-SK" dirty="0"/>
              <a:t>F9 – </a:t>
            </a:r>
            <a:r>
              <a:rPr lang="sk-SK" dirty="0" err="1"/>
              <a:t>Resume</a:t>
            </a:r>
            <a:r>
              <a:rPr lang="sk-SK" dirty="0"/>
              <a:t> (pokračuje)</a:t>
            </a:r>
          </a:p>
          <a:p>
            <a:pPr marL="0" indent="0">
              <a:buNone/>
            </a:pPr>
            <a:r>
              <a:rPr lang="sk-SK" dirty="0" err="1"/>
              <a:t>Variables</a:t>
            </a:r>
            <a:r>
              <a:rPr lang="sk-SK" dirty="0"/>
              <a:t> panel – aktuálne hodnoty premenných</a:t>
            </a:r>
          </a:p>
          <a:p>
            <a:pPr marL="0" indent="0">
              <a:buNone/>
            </a:pPr>
            <a:r>
              <a:rPr lang="sk-SK" dirty="0" err="1"/>
              <a:t>Watches</a:t>
            </a:r>
            <a:r>
              <a:rPr lang="sk-SK" dirty="0"/>
              <a:t> / </a:t>
            </a:r>
            <a:r>
              <a:rPr lang="sk-SK" dirty="0" err="1"/>
              <a:t>Evaluate</a:t>
            </a:r>
            <a:r>
              <a:rPr lang="sk-SK" dirty="0"/>
              <a:t> </a:t>
            </a:r>
            <a:r>
              <a:rPr lang="sk-SK" dirty="0" err="1"/>
              <a:t>Expression</a:t>
            </a:r>
            <a:r>
              <a:rPr lang="sk-SK" dirty="0"/>
              <a:t> (Alt + F8) – sledovanie výrazov a metód</a:t>
            </a:r>
          </a:p>
          <a:p>
            <a:pPr marL="0" indent="0">
              <a:buNone/>
            </a:pPr>
            <a:r>
              <a:rPr lang="sk-SK" dirty="0" err="1"/>
              <a:t>Call</a:t>
            </a:r>
            <a:r>
              <a:rPr lang="sk-SK" dirty="0"/>
              <a:t> </a:t>
            </a:r>
            <a:r>
              <a:rPr lang="sk-SK" dirty="0" err="1"/>
              <a:t>Stack</a:t>
            </a:r>
            <a:r>
              <a:rPr lang="sk-SK" dirty="0"/>
              <a:t> – poradie volaných metód</a:t>
            </a:r>
          </a:p>
          <a:p>
            <a:pPr marL="0" indent="0">
              <a:buNone/>
            </a:pPr>
            <a:r>
              <a:rPr lang="sk-SK" dirty="0"/>
              <a:t>Break on </a:t>
            </a:r>
            <a:r>
              <a:rPr lang="sk-SK" dirty="0" err="1"/>
              <a:t>Exception</a:t>
            </a:r>
            <a:r>
              <a:rPr lang="sk-SK" dirty="0"/>
              <a:t> – zastaví program v mieste vzniku chyby</a:t>
            </a:r>
          </a:p>
        </p:txBody>
      </p:sp>
    </p:spTree>
    <p:extLst>
      <p:ext uri="{BB962C8B-B14F-4D97-AF65-F5344CB8AC3E}">
        <p14:creationId xmlns:p14="http://schemas.microsoft.com/office/powerpoint/2010/main" val="325173840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9009</TotalTime>
  <Words>1298</Words>
  <Application>Microsoft Office PowerPoint</Application>
  <PresentationFormat>Širokouhlá</PresentationFormat>
  <Paragraphs>137</Paragraphs>
  <Slides>12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18</vt:lpstr>
      <vt:lpstr>Records</vt:lpstr>
      <vt:lpstr>Trieda vygenerovaná z Recordu</vt:lpstr>
      <vt:lpstr>Records</vt:lpstr>
      <vt:lpstr>Records</vt:lpstr>
      <vt:lpstr>Records</vt:lpstr>
      <vt:lpstr>Chyby pri kompilácii</vt:lpstr>
      <vt:lpstr>Chyby pri behu aplikácie</vt:lpstr>
      <vt:lpstr>Stacktrace</vt:lpstr>
      <vt:lpstr>Chyby pri behu aplikácie</vt:lpstr>
      <vt:lpstr>Debugovanie v IDEA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71</cp:revision>
  <dcterms:created xsi:type="dcterms:W3CDTF">2025-09-05T09:09:34Z</dcterms:created>
  <dcterms:modified xsi:type="dcterms:W3CDTF">2026-01-24T11:23:34Z</dcterms:modified>
</cp:coreProperties>
</file>