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2">
  <p:sldMasterIdLst>
    <p:sldMasterId id="2147483696" r:id="rId1"/>
  </p:sldMasterIdLst>
  <p:sldIdLst>
    <p:sldId id="266" r:id="rId2"/>
    <p:sldId id="257" r:id="rId3"/>
    <p:sldId id="269" r:id="rId4"/>
    <p:sldId id="303" r:id="rId5"/>
    <p:sldId id="288" r:id="rId6"/>
    <p:sldId id="304" r:id="rId7"/>
    <p:sldId id="305" r:id="rId8"/>
    <p:sldId id="306" r:id="rId9"/>
    <p:sldId id="307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á sním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sk-SK"/>
              <a:t>Kliknutím upravte štýl predlohy podnadpisu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5. 6. 2026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7114912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5. 6. 2026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0979669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Hlavička sekc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5. 6. 2026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5574200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5. 6. 2026</a:t>
            </a:fld>
            <a:endParaRPr lang="sk-S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898179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5. 6. 2026</a:t>
            </a:fld>
            <a:endParaRPr lang="sk-SK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6863701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Len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5. 6. 2026</a:t>
            </a:fld>
            <a:endParaRPr lang="sk-SK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40546845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5. 6. 2026</a:t>
            </a:fld>
            <a:endParaRPr lang="sk-SK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6977434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5. 6. 2026</a:t>
            </a:fld>
            <a:endParaRPr lang="sk-S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5430396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ok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sk-SK"/>
              <a:t>Kliknutím na ikonu pridáte obrázok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5. 6. 2026</a:t>
            </a:fld>
            <a:endParaRPr lang="sk-S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7196638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z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5. 6. 2026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5936366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Z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5. 6. 2026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4058759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052495-8BC8-4CFB-94B1-B0429F101A0D}" type="datetimeFigureOut">
              <a:rPr lang="sk-SK" smtClean="0"/>
              <a:t>5. 6. 2026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5725244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oop.wagjo.com/" TargetMode="Externa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oracle.com/en/java/javase/24/docs/api/java.sql/java/sql/package-summary.html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4026A73-1F7F-49F2-B319-8CA3B3D532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1732" y="321733"/>
            <a:ext cx="11546828" cy="6214534"/>
          </a:xfrm>
          <a:custGeom>
            <a:avLst/>
            <a:gdLst>
              <a:gd name="connsiteX0" fmla="*/ 0 w 11546828"/>
              <a:gd name="connsiteY0" fmla="*/ 0 h 6214534"/>
              <a:gd name="connsiteX1" fmla="*/ 7965430 w 11546828"/>
              <a:gd name="connsiteY1" fmla="*/ 0 h 6214534"/>
              <a:gd name="connsiteX2" fmla="*/ 7965430 w 11546828"/>
              <a:gd name="connsiteY2" fmla="*/ 1786 h 6214534"/>
              <a:gd name="connsiteX3" fmla="*/ 11546828 w 11546828"/>
              <a:gd name="connsiteY3" fmla="*/ 1786 h 6214534"/>
              <a:gd name="connsiteX4" fmla="*/ 11546828 w 11546828"/>
              <a:gd name="connsiteY4" fmla="*/ 2866740 h 6214534"/>
              <a:gd name="connsiteX5" fmla="*/ 11225095 w 11546828"/>
              <a:gd name="connsiteY5" fmla="*/ 3179536 h 6214534"/>
              <a:gd name="connsiteX6" fmla="*/ 11225095 w 11546828"/>
              <a:gd name="connsiteY6" fmla="*/ 301542 h 6214534"/>
              <a:gd name="connsiteX7" fmla="*/ 320042 w 11546828"/>
              <a:gd name="connsiteY7" fmla="*/ 301542 h 6214534"/>
              <a:gd name="connsiteX8" fmla="*/ 320042 w 11546828"/>
              <a:gd name="connsiteY8" fmla="*/ 5909424 h 6214534"/>
              <a:gd name="connsiteX9" fmla="*/ 8417210 w 11546828"/>
              <a:gd name="connsiteY9" fmla="*/ 5909424 h 6214534"/>
              <a:gd name="connsiteX10" fmla="*/ 8103383 w 11546828"/>
              <a:gd name="connsiteY10" fmla="*/ 6214534 h 6214534"/>
              <a:gd name="connsiteX11" fmla="*/ 7222929 w 11546828"/>
              <a:gd name="connsiteY11" fmla="*/ 6214534 h 6214534"/>
              <a:gd name="connsiteX12" fmla="*/ 7222929 w 11546828"/>
              <a:gd name="connsiteY12" fmla="*/ 6212748 h 6214534"/>
              <a:gd name="connsiteX13" fmla="*/ 0 w 11546828"/>
              <a:gd name="connsiteY13" fmla="*/ 6212748 h 6214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1546828" h="6214534">
                <a:moveTo>
                  <a:pt x="0" y="0"/>
                </a:moveTo>
                <a:lnTo>
                  <a:pt x="7965430" y="0"/>
                </a:lnTo>
                <a:lnTo>
                  <a:pt x="7965430" y="1786"/>
                </a:lnTo>
                <a:lnTo>
                  <a:pt x="11546828" y="1786"/>
                </a:lnTo>
                <a:lnTo>
                  <a:pt x="11546828" y="2866740"/>
                </a:lnTo>
                <a:lnTo>
                  <a:pt x="11225095" y="3179536"/>
                </a:lnTo>
                <a:lnTo>
                  <a:pt x="11225095" y="301542"/>
                </a:lnTo>
                <a:lnTo>
                  <a:pt x="320042" y="301542"/>
                </a:lnTo>
                <a:lnTo>
                  <a:pt x="320042" y="5909424"/>
                </a:lnTo>
                <a:lnTo>
                  <a:pt x="8417210" y="5909424"/>
                </a:lnTo>
                <a:lnTo>
                  <a:pt x="8103383" y="6214534"/>
                </a:lnTo>
                <a:lnTo>
                  <a:pt x="7222929" y="6214534"/>
                </a:lnTo>
                <a:lnTo>
                  <a:pt x="7222929" y="6212748"/>
                </a:lnTo>
                <a:lnTo>
                  <a:pt x="0" y="6212748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Right Triangle 11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8E144086-9642-901A-F3D2-FA2652CA9A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6899" y="1188637"/>
            <a:ext cx="3291839" cy="4480726"/>
          </a:xfrm>
        </p:spPr>
        <p:txBody>
          <a:bodyPr>
            <a:normAutofit/>
          </a:bodyPr>
          <a:lstStyle/>
          <a:p>
            <a:pPr algn="r"/>
            <a:r>
              <a:rPr lang="sk-SK" sz="4000" dirty="0"/>
              <a:t>Objektovo orientované programovanie</a:t>
            </a:r>
            <a:endParaRPr lang="sk-SK" sz="4000" i="1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8685716B-C55C-CDF8-4632-389CB907CA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8928" y="1338729"/>
            <a:ext cx="4795584" cy="4180542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endParaRPr lang="sk-SK" dirty="0"/>
          </a:p>
          <a:p>
            <a:pPr marL="0" indent="0">
              <a:buNone/>
            </a:pPr>
            <a:r>
              <a:rPr lang="sk-SK" dirty="0"/>
              <a:t>Učiteľ: </a:t>
            </a:r>
            <a:br>
              <a:rPr lang="sk-SK" dirty="0"/>
            </a:br>
            <a:r>
              <a:rPr lang="sk-SK" b="1" dirty="0"/>
              <a:t>Ing. Jozef Wagner PhD.</a:t>
            </a:r>
          </a:p>
          <a:p>
            <a:pPr marL="0" indent="0">
              <a:buNone/>
            </a:pPr>
            <a:endParaRPr lang="sk-SK" b="1" dirty="0"/>
          </a:p>
          <a:p>
            <a:pPr marL="0" indent="0">
              <a:buNone/>
            </a:pPr>
            <a:r>
              <a:rPr lang="sk-SK" dirty="0"/>
              <a:t>Učebnica: </a:t>
            </a:r>
            <a:br>
              <a:rPr lang="sk-SK" dirty="0"/>
            </a:br>
            <a:r>
              <a:rPr lang="sk-SK" dirty="0">
                <a:hlinkClick r:id="rId2"/>
              </a:rPr>
              <a:t>https://oop.wagjo.com/</a:t>
            </a:r>
            <a:r>
              <a:rPr lang="sk-SK" dirty="0"/>
              <a:t> </a:t>
            </a:r>
          </a:p>
          <a:p>
            <a:pPr marL="0" indent="0">
              <a:buNone/>
            </a:pPr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25174436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4026A73-1F7F-49F2-B319-8CA3B3D532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1732" y="321733"/>
            <a:ext cx="11546828" cy="6214534"/>
          </a:xfrm>
          <a:custGeom>
            <a:avLst/>
            <a:gdLst>
              <a:gd name="connsiteX0" fmla="*/ 0 w 11546828"/>
              <a:gd name="connsiteY0" fmla="*/ 0 h 6214534"/>
              <a:gd name="connsiteX1" fmla="*/ 7965430 w 11546828"/>
              <a:gd name="connsiteY1" fmla="*/ 0 h 6214534"/>
              <a:gd name="connsiteX2" fmla="*/ 7965430 w 11546828"/>
              <a:gd name="connsiteY2" fmla="*/ 1786 h 6214534"/>
              <a:gd name="connsiteX3" fmla="*/ 11546828 w 11546828"/>
              <a:gd name="connsiteY3" fmla="*/ 1786 h 6214534"/>
              <a:gd name="connsiteX4" fmla="*/ 11546828 w 11546828"/>
              <a:gd name="connsiteY4" fmla="*/ 2866740 h 6214534"/>
              <a:gd name="connsiteX5" fmla="*/ 11225095 w 11546828"/>
              <a:gd name="connsiteY5" fmla="*/ 3179536 h 6214534"/>
              <a:gd name="connsiteX6" fmla="*/ 11225095 w 11546828"/>
              <a:gd name="connsiteY6" fmla="*/ 301542 h 6214534"/>
              <a:gd name="connsiteX7" fmla="*/ 320042 w 11546828"/>
              <a:gd name="connsiteY7" fmla="*/ 301542 h 6214534"/>
              <a:gd name="connsiteX8" fmla="*/ 320042 w 11546828"/>
              <a:gd name="connsiteY8" fmla="*/ 5909424 h 6214534"/>
              <a:gd name="connsiteX9" fmla="*/ 8417210 w 11546828"/>
              <a:gd name="connsiteY9" fmla="*/ 5909424 h 6214534"/>
              <a:gd name="connsiteX10" fmla="*/ 8103383 w 11546828"/>
              <a:gd name="connsiteY10" fmla="*/ 6214534 h 6214534"/>
              <a:gd name="connsiteX11" fmla="*/ 7222929 w 11546828"/>
              <a:gd name="connsiteY11" fmla="*/ 6214534 h 6214534"/>
              <a:gd name="connsiteX12" fmla="*/ 7222929 w 11546828"/>
              <a:gd name="connsiteY12" fmla="*/ 6212748 h 6214534"/>
              <a:gd name="connsiteX13" fmla="*/ 0 w 11546828"/>
              <a:gd name="connsiteY13" fmla="*/ 6212748 h 6214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1546828" h="6214534">
                <a:moveTo>
                  <a:pt x="0" y="0"/>
                </a:moveTo>
                <a:lnTo>
                  <a:pt x="7965430" y="0"/>
                </a:lnTo>
                <a:lnTo>
                  <a:pt x="7965430" y="1786"/>
                </a:lnTo>
                <a:lnTo>
                  <a:pt x="11546828" y="1786"/>
                </a:lnTo>
                <a:lnTo>
                  <a:pt x="11546828" y="2866740"/>
                </a:lnTo>
                <a:lnTo>
                  <a:pt x="11225095" y="3179536"/>
                </a:lnTo>
                <a:lnTo>
                  <a:pt x="11225095" y="301542"/>
                </a:lnTo>
                <a:lnTo>
                  <a:pt x="320042" y="301542"/>
                </a:lnTo>
                <a:lnTo>
                  <a:pt x="320042" y="5909424"/>
                </a:lnTo>
                <a:lnTo>
                  <a:pt x="8417210" y="5909424"/>
                </a:lnTo>
                <a:lnTo>
                  <a:pt x="8103383" y="6214534"/>
                </a:lnTo>
                <a:lnTo>
                  <a:pt x="7222929" y="6214534"/>
                </a:lnTo>
                <a:lnTo>
                  <a:pt x="7222929" y="6212748"/>
                </a:lnTo>
                <a:lnTo>
                  <a:pt x="0" y="6212748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Right Triangle 11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B3680000-8E97-7BCD-0373-6D09E72013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6900" y="1188637"/>
            <a:ext cx="3141430" cy="4480726"/>
          </a:xfrm>
        </p:spPr>
        <p:txBody>
          <a:bodyPr>
            <a:normAutofit/>
          </a:bodyPr>
          <a:lstStyle/>
          <a:p>
            <a:pPr algn="r"/>
            <a:r>
              <a:rPr lang="sk-SK" sz="4000" dirty="0"/>
              <a:t>OPG</a:t>
            </a:r>
            <a:br>
              <a:rPr lang="sk-SK" sz="4000" dirty="0"/>
            </a:br>
            <a:r>
              <a:rPr lang="sk-SK" sz="4000" dirty="0"/>
              <a:t>Cvičenie 1</a:t>
            </a:r>
            <a:r>
              <a:rPr lang="en-US" sz="4000" dirty="0"/>
              <a:t>9</a:t>
            </a:r>
            <a:endParaRPr lang="sk-SK" sz="4000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19A88E58-5472-E350-E606-D7A492AB52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8928" y="1338729"/>
            <a:ext cx="4795584" cy="4180542"/>
          </a:xfrm>
        </p:spPr>
        <p:txBody>
          <a:bodyPr anchor="ctr">
            <a:no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sk-SK" dirty="0"/>
              <a:t>Práca s databázami</a:t>
            </a:r>
          </a:p>
          <a:p>
            <a:pPr marL="514350" indent="-514350">
              <a:buFont typeface="+mj-lt"/>
              <a:buAutoNum type="arabicPeriod"/>
            </a:pPr>
            <a:r>
              <a:rPr lang="sk-SK" dirty="0"/>
              <a:t>JDBC</a:t>
            </a:r>
          </a:p>
          <a:p>
            <a:pPr marL="514350" indent="-514350">
              <a:buFont typeface="+mj-lt"/>
              <a:buAutoNum type="arabicPeriod"/>
            </a:pPr>
            <a:r>
              <a:rPr lang="sk-SK" dirty="0" err="1"/>
              <a:t>SQLite</a:t>
            </a:r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29912883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85B952C-DEB0-F05A-6099-A8BDC351D5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EA1B4840-2877-41AB-3F4C-3F6D130D50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4742" y="1571414"/>
            <a:ext cx="9995205" cy="4729437"/>
          </a:xfrm>
        </p:spPr>
        <p:txBody>
          <a:bodyPr>
            <a:noAutofit/>
          </a:bodyPr>
          <a:lstStyle/>
          <a:p>
            <a:pPr marL="0" indent="0">
              <a:spcBef>
                <a:spcPts val="1200"/>
              </a:spcBef>
              <a:buNone/>
            </a:pPr>
            <a:r>
              <a:rPr lang="sk-SK" dirty="0"/>
              <a:t>Java proces pripojenia a komunikácie s databázou zjednotila do jedného API s názvom JDBC (Java </a:t>
            </a:r>
            <a:r>
              <a:rPr lang="sk-SK" dirty="0" err="1"/>
              <a:t>Database</a:t>
            </a:r>
            <a:r>
              <a:rPr lang="sk-SK" dirty="0"/>
              <a:t> </a:t>
            </a:r>
            <a:r>
              <a:rPr lang="sk-SK" dirty="0" err="1"/>
              <a:t>Connectivity</a:t>
            </a:r>
            <a:r>
              <a:rPr lang="sk-SK" dirty="0"/>
              <a:t>).</a:t>
            </a:r>
          </a:p>
          <a:p>
            <a:pPr marL="0" indent="0">
              <a:spcBef>
                <a:spcPts val="1200"/>
              </a:spcBef>
              <a:buNone/>
            </a:pPr>
            <a:endParaRPr lang="sk-SK" dirty="0"/>
          </a:p>
          <a:p>
            <a:pPr marL="0" indent="0">
              <a:spcBef>
                <a:spcPts val="1200"/>
              </a:spcBef>
              <a:buNone/>
            </a:pPr>
            <a:r>
              <a:rPr lang="sk-SK" dirty="0"/>
              <a:t>JDBC je poskytovaná v rámci JDK, takže na jej použitie nie je potrebné inštalovať žiadnu knižnicu.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sk-SK" dirty="0"/>
              <a:t>Hlavné triedy a rozhrania JDBC sú v balíku </a:t>
            </a:r>
            <a:r>
              <a:rPr lang="sk-SK" dirty="0" err="1">
                <a:hlinkClick r:id="rId2"/>
              </a:rPr>
              <a:t>java.sql</a:t>
            </a:r>
            <a:endParaRPr lang="sk-SK" dirty="0"/>
          </a:p>
          <a:p>
            <a:pPr marL="0" indent="0">
              <a:spcBef>
                <a:spcPts val="1200"/>
              </a:spcBef>
              <a:buNone/>
            </a:pPr>
            <a:r>
              <a:rPr lang="sk-SK" dirty="0"/>
              <a:t>Pomocou týchto tried vieme nadviazať spojenie s databázou a vykonať základné SQL príkazy</a:t>
            </a:r>
          </a:p>
          <a:p>
            <a:pPr marL="0" indent="0">
              <a:spcBef>
                <a:spcPts val="1200"/>
              </a:spcBef>
              <a:buNone/>
            </a:pPr>
            <a:endParaRPr lang="sk-SK" sz="2800" dirty="0">
              <a:highlight>
                <a:srgbClr val="FFFF00"/>
              </a:highlight>
              <a:latin typeface="Consolas" panose="020B0609020204030204" pitchFamily="49" charset="0"/>
            </a:endParaRPr>
          </a:p>
        </p:txBody>
      </p:sp>
      <p:sp>
        <p:nvSpPr>
          <p:cNvPr id="5" name="Nadpis 4">
            <a:extLst>
              <a:ext uri="{FF2B5EF4-FFF2-40B4-BE49-F238E27FC236}">
                <a16:creationId xmlns:a16="http://schemas.microsoft.com/office/drawing/2014/main" id="{0916E66A-BCC7-CD34-6629-ED8AD7BB94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JDBC</a:t>
            </a:r>
          </a:p>
        </p:txBody>
      </p:sp>
    </p:spTree>
    <p:extLst>
      <p:ext uri="{BB962C8B-B14F-4D97-AF65-F5344CB8AC3E}">
        <p14:creationId xmlns:p14="http://schemas.microsoft.com/office/powerpoint/2010/main" val="7045398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FA17F16-C480-5D4A-AFAB-1EBF901F17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Zástupný objekt pre obsah 7">
            <a:extLst>
              <a:ext uri="{FF2B5EF4-FFF2-40B4-BE49-F238E27FC236}">
                <a16:creationId xmlns:a16="http://schemas.microsoft.com/office/drawing/2014/main" id="{D155AE59-2163-2656-C156-0FCEF52DD93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82816938"/>
              </p:ext>
            </p:extLst>
          </p:nvPr>
        </p:nvGraphicFramePr>
        <p:xfrm>
          <a:off x="472273" y="463449"/>
          <a:ext cx="10771832" cy="5753385"/>
        </p:xfrm>
        <a:graphic>
          <a:graphicData uri="http://schemas.openxmlformats.org/drawingml/2006/table">
            <a:tbl>
              <a:tblPr/>
              <a:tblGrid>
                <a:gridCol w="3949002">
                  <a:extLst>
                    <a:ext uri="{9D8B030D-6E8A-4147-A177-3AD203B41FA5}">
                      <a16:colId xmlns:a16="http://schemas.microsoft.com/office/drawing/2014/main" val="3540046406"/>
                    </a:ext>
                  </a:extLst>
                </a:gridCol>
                <a:gridCol w="6822830">
                  <a:extLst>
                    <a:ext uri="{9D8B030D-6E8A-4147-A177-3AD203B41FA5}">
                      <a16:colId xmlns:a16="http://schemas.microsoft.com/office/drawing/2014/main" val="1250870102"/>
                    </a:ext>
                  </a:extLst>
                </a:gridCol>
              </a:tblGrid>
              <a:tr h="639265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sk-SK" sz="2800" kern="1200" dirty="0" err="1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DriverManager</a:t>
                      </a:r>
                      <a:endParaRPr lang="sk-SK" sz="2800" kern="12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marL="69069" marR="69069" marT="34534" marB="34534">
                    <a:lnL w="6965" cap="flat" cmpd="sng" algn="ctr">
                      <a:solidFill>
                        <a:srgbClr val="904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65" cap="flat" cmpd="sng" algn="ctr">
                      <a:solidFill>
                        <a:srgbClr val="903E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65" cap="flat" cmpd="sng" algn="ctr">
                      <a:solidFill>
                        <a:srgbClr val="904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65" cap="flat" cmpd="sng" algn="ctr">
                      <a:solidFill>
                        <a:srgbClr val="303E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sk-SK" sz="2800" b="0" dirty="0">
                          <a:effectLst/>
                        </a:rPr>
                        <a:t>Získanie </a:t>
                      </a:r>
                      <a:r>
                        <a:rPr lang="sk-SK" sz="280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Connection</a:t>
                      </a:r>
                    </a:p>
                  </a:txBody>
                  <a:tcPr marL="69069" marR="69069" marT="34534" marB="34534">
                    <a:lnL w="6965" cap="flat" cmpd="sng" algn="ctr">
                      <a:solidFill>
                        <a:srgbClr val="903E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65" cap="flat" cmpd="sng" algn="ctr">
                      <a:solidFill>
                        <a:srgbClr val="903E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65" cap="flat" cmpd="sng" algn="ctr">
                      <a:solidFill>
                        <a:srgbClr val="903E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65" cap="flat" cmpd="sng" algn="ctr">
                      <a:solidFill>
                        <a:srgbClr val="A04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1532520"/>
                  </a:ext>
                </a:extLst>
              </a:tr>
              <a:tr h="913236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sk-SK" sz="280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Connection</a:t>
                      </a:r>
                    </a:p>
                  </a:txBody>
                  <a:tcPr marL="69069" marR="69069" marT="34534" marB="34534">
                    <a:lnL w="6965" cap="flat" cmpd="sng" algn="ctr">
                      <a:solidFill>
                        <a:srgbClr val="303E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65" cap="flat" cmpd="sng" algn="ctr">
                      <a:solidFill>
                        <a:srgbClr val="A04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65" cap="flat" cmpd="sng" algn="ctr">
                      <a:solidFill>
                        <a:srgbClr val="303E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65" cap="flat" cmpd="sng" algn="ctr">
                      <a:solidFill>
                        <a:srgbClr val="A04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sk-SK" sz="2800" b="0">
                          <a:effectLst/>
                        </a:rPr>
                        <a:t>Spojenie s databázou + transakcie</a:t>
                      </a:r>
                    </a:p>
                  </a:txBody>
                  <a:tcPr marL="69069" marR="69069" marT="34534" marB="34534">
                    <a:lnL w="6965" cap="flat" cmpd="sng" algn="ctr">
                      <a:solidFill>
                        <a:srgbClr val="A04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65" cap="flat" cmpd="sng" algn="ctr">
                      <a:solidFill>
                        <a:srgbClr val="A04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65" cap="flat" cmpd="sng" algn="ctr">
                      <a:solidFill>
                        <a:srgbClr val="A04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65" cap="flat" cmpd="sng" algn="ctr">
                      <a:solidFill>
                        <a:srgbClr val="2051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9909770"/>
                  </a:ext>
                </a:extLst>
              </a:tr>
              <a:tr h="1187206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sk-SK" sz="2800" kern="1200" dirty="0" err="1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Statement</a:t>
                      </a:r>
                      <a:endParaRPr lang="sk-SK" sz="2800" kern="12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marL="69069" marR="69069" marT="34534" marB="34534">
                    <a:lnL w="6965" cap="flat" cmpd="sng" algn="ctr">
                      <a:solidFill>
                        <a:srgbClr val="A04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65" cap="flat" cmpd="sng" algn="ctr">
                      <a:solidFill>
                        <a:srgbClr val="2051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65" cap="flat" cmpd="sng" algn="ctr">
                      <a:solidFill>
                        <a:srgbClr val="A049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65" cap="flat" cmpd="sng" algn="ctr">
                      <a:solidFill>
                        <a:srgbClr val="B05A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sk-SK" sz="2800" b="0" dirty="0">
                          <a:effectLst/>
                        </a:rPr>
                        <a:t>Jednoduché SQL (riziko SQL </a:t>
                      </a:r>
                      <a:r>
                        <a:rPr lang="sk-SK" sz="2800" b="0" dirty="0" err="1">
                          <a:effectLst/>
                        </a:rPr>
                        <a:t>injection</a:t>
                      </a:r>
                      <a:r>
                        <a:rPr lang="sk-SK" sz="2800" b="0" dirty="0">
                          <a:effectLst/>
                        </a:rPr>
                        <a:t>)</a:t>
                      </a:r>
                    </a:p>
                  </a:txBody>
                  <a:tcPr marL="69069" marR="69069" marT="34534" marB="34534">
                    <a:lnL w="6965" cap="flat" cmpd="sng" algn="ctr">
                      <a:solidFill>
                        <a:srgbClr val="2051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65" cap="flat" cmpd="sng" algn="ctr">
                      <a:solidFill>
                        <a:srgbClr val="2051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65" cap="flat" cmpd="sng" algn="ctr">
                      <a:solidFill>
                        <a:srgbClr val="2051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65" cap="flat" cmpd="sng" algn="ctr">
                      <a:solidFill>
                        <a:srgbClr val="508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2411055"/>
                  </a:ext>
                </a:extLst>
              </a:tr>
              <a:tr h="1187206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sk-SK" sz="2800" kern="1200" dirty="0" err="1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PreparedStatement</a:t>
                      </a:r>
                      <a:endParaRPr lang="sk-SK" sz="2800" kern="12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marL="69069" marR="69069" marT="34534" marB="34534">
                    <a:lnL w="6965" cap="flat" cmpd="sng" algn="ctr">
                      <a:solidFill>
                        <a:srgbClr val="B05A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65" cap="flat" cmpd="sng" algn="ctr">
                      <a:solidFill>
                        <a:srgbClr val="508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65" cap="flat" cmpd="sng" algn="ctr">
                      <a:solidFill>
                        <a:srgbClr val="B05A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65" cap="flat" cmpd="sng" algn="ctr">
                      <a:solidFill>
                        <a:srgbClr val="508D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sk-SK" sz="2800" b="0" dirty="0">
                          <a:effectLst/>
                        </a:rPr>
                        <a:t>Bezpečné </a:t>
                      </a:r>
                      <a:r>
                        <a:rPr lang="sk-SK" sz="2800" b="0" dirty="0" err="1">
                          <a:effectLst/>
                        </a:rPr>
                        <a:t>parametrizované</a:t>
                      </a:r>
                      <a:r>
                        <a:rPr lang="sk-SK" sz="2800" b="0" dirty="0">
                          <a:effectLst/>
                        </a:rPr>
                        <a:t> dotazy (</a:t>
                      </a:r>
                      <a:r>
                        <a:rPr lang="sk-SK" sz="2800" b="0" dirty="0">
                          <a:solidFill>
                            <a:srgbClr val="36464E"/>
                          </a:solidFill>
                          <a:effectLst/>
                          <a:latin typeface="Roboto Mono" panose="00000009000000000000" pitchFamily="49" charset="0"/>
                        </a:rPr>
                        <a:t>?</a:t>
                      </a:r>
                      <a:r>
                        <a:rPr lang="sk-SK" sz="2800" b="0" dirty="0">
                          <a:effectLst/>
                        </a:rPr>
                        <a:t>)</a:t>
                      </a:r>
                    </a:p>
                  </a:txBody>
                  <a:tcPr marL="69069" marR="69069" marT="34534" marB="34534">
                    <a:lnL w="6965" cap="flat" cmpd="sng" algn="ctr">
                      <a:solidFill>
                        <a:srgbClr val="508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65" cap="flat" cmpd="sng" algn="ctr">
                      <a:solidFill>
                        <a:srgbClr val="508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65" cap="flat" cmpd="sng" algn="ctr">
                      <a:solidFill>
                        <a:srgbClr val="508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65" cap="flat" cmpd="sng" algn="ctr">
                      <a:solidFill>
                        <a:srgbClr val="E087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5340394"/>
                  </a:ext>
                </a:extLst>
              </a:tr>
              <a:tr h="913236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sk-SK" sz="2800" kern="1200" dirty="0" err="1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ResultSet</a:t>
                      </a:r>
                      <a:endParaRPr lang="sk-SK" sz="2800" kern="12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marL="69069" marR="69069" marT="34534" marB="34534">
                    <a:lnL w="6965" cap="flat" cmpd="sng" algn="ctr">
                      <a:solidFill>
                        <a:srgbClr val="508D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65" cap="flat" cmpd="sng" algn="ctr">
                      <a:solidFill>
                        <a:srgbClr val="E087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65" cap="flat" cmpd="sng" algn="ctr">
                      <a:solidFill>
                        <a:srgbClr val="508D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65" cap="flat" cmpd="sng" algn="ctr">
                      <a:solidFill>
                        <a:srgbClr val="408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pt-BR" sz="2800" b="0" dirty="0">
                          <a:effectLst/>
                        </a:rPr>
                        <a:t>Výsledok </a:t>
                      </a:r>
                      <a:r>
                        <a:rPr lang="pt-BR" sz="280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SELECT</a:t>
                      </a:r>
                      <a:r>
                        <a:rPr lang="sk-SK" sz="280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u</a:t>
                      </a:r>
                      <a:r>
                        <a:rPr lang="pt-BR" sz="2800" b="0" dirty="0">
                          <a:effectLst/>
                        </a:rPr>
                        <a:t> (iterácia ako cursor)</a:t>
                      </a:r>
                    </a:p>
                  </a:txBody>
                  <a:tcPr marL="69069" marR="69069" marT="34534" marB="34534">
                    <a:lnL w="6965" cap="flat" cmpd="sng" algn="ctr">
                      <a:solidFill>
                        <a:srgbClr val="E087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65" cap="flat" cmpd="sng" algn="ctr">
                      <a:solidFill>
                        <a:srgbClr val="E087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65" cap="flat" cmpd="sng" algn="ctr">
                      <a:solidFill>
                        <a:srgbClr val="E087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65" cap="flat" cmpd="sng" algn="ctr">
                      <a:solidFill>
                        <a:srgbClr val="1097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4165475"/>
                  </a:ext>
                </a:extLst>
              </a:tr>
              <a:tr h="913236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sk-SK" sz="2800" kern="1200" dirty="0" err="1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SQLException</a:t>
                      </a:r>
                      <a:endParaRPr lang="sk-SK" sz="2800" kern="12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marL="69069" marR="69069" marT="34534" marB="34534">
                    <a:lnL w="6965" cap="flat" cmpd="sng" algn="ctr">
                      <a:solidFill>
                        <a:srgbClr val="408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65" cap="flat" cmpd="sng" algn="ctr">
                      <a:solidFill>
                        <a:srgbClr val="1097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65" cap="flat" cmpd="sng" algn="ctr">
                      <a:solidFill>
                        <a:srgbClr val="408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65" cap="flat" cmpd="sng" algn="ctr">
                      <a:solidFill>
                        <a:srgbClr val="408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sk-SK" sz="2800" b="0" dirty="0">
                          <a:effectLst/>
                        </a:rPr>
                        <a:t>Výnimka pri chybe databázy</a:t>
                      </a:r>
                    </a:p>
                  </a:txBody>
                  <a:tcPr marL="69069" marR="69069" marT="34534" marB="34534">
                    <a:lnL w="6965" cap="flat" cmpd="sng" algn="ctr">
                      <a:solidFill>
                        <a:srgbClr val="1097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65" cap="flat" cmpd="sng" algn="ctr">
                      <a:solidFill>
                        <a:srgbClr val="1097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65" cap="flat" cmpd="sng" algn="ctr">
                      <a:solidFill>
                        <a:srgbClr val="1097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65" cap="flat" cmpd="sng" algn="ctr">
                      <a:solidFill>
                        <a:srgbClr val="1097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43839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008329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1152F34-B1B4-06C7-0405-A9071C7816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2108DB80-F28D-64AD-5CA4-F47029C9B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5303" y="1571414"/>
            <a:ext cx="11434915" cy="4729437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String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url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= "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jdbc:sqlite:library.db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";</a:t>
            </a:r>
          </a:p>
          <a:p>
            <a:pPr marL="0" indent="0">
              <a:spcBef>
                <a:spcPts val="0"/>
              </a:spcBef>
              <a:buNone/>
            </a:pPr>
            <a:endParaRPr lang="sk-SK" sz="2400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try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(Connection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conn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=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DriverManager.getConnection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url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PreparedStatement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ps =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conn.prepareStatement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    "INSERT INTO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books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(title,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author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,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published_year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) VALUES (?, ?, ?)")) {</a:t>
            </a:r>
          </a:p>
          <a:p>
            <a:pPr marL="0" indent="0">
              <a:spcBef>
                <a:spcPts val="0"/>
              </a:spcBef>
              <a:buNone/>
            </a:pPr>
            <a:endParaRPr lang="sk-SK" sz="2400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ps.setString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(1, "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Effective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Java");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ps.setString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(2, "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Joshua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Bloch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");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ps.setInt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(3, 2018);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ps.executeUpdate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();</a:t>
            </a:r>
          </a:p>
          <a:p>
            <a:pPr marL="0" indent="0">
              <a:spcBef>
                <a:spcPts val="0"/>
              </a:spcBef>
              <a:buNone/>
            </a:pPr>
            <a:endParaRPr lang="sk-SK" sz="2400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}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catch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(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SQLException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e)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e.printStackTrace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5" name="Nadpis 4">
            <a:extLst>
              <a:ext uri="{FF2B5EF4-FFF2-40B4-BE49-F238E27FC236}">
                <a16:creationId xmlns:a16="http://schemas.microsoft.com/office/drawing/2014/main" id="{A457F096-91A9-0A7D-8334-9ADF2A4083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Príklad vloženia údajov do existujúcej tabuľky</a:t>
            </a:r>
          </a:p>
        </p:txBody>
      </p:sp>
    </p:spTree>
    <p:extLst>
      <p:ext uri="{BB962C8B-B14F-4D97-AF65-F5344CB8AC3E}">
        <p14:creationId xmlns:p14="http://schemas.microsoft.com/office/powerpoint/2010/main" val="39954621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FE955BC-8255-3CAA-F924-1106E9D3A6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82DC2237-450E-07D4-01B9-4C98443C3A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4742" y="1571414"/>
            <a:ext cx="9995205" cy="4729437"/>
          </a:xfrm>
        </p:spPr>
        <p:txBody>
          <a:bodyPr>
            <a:noAutofit/>
          </a:bodyPr>
          <a:lstStyle/>
          <a:p>
            <a:r>
              <a:rPr lang="sk-SK" dirty="0"/>
              <a:t>Príkazy, ktoré menia databázu (CREATE, INSERT, UPDATE, DELETE) sa realizujú pomocou 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executeUpdate</a:t>
            </a:r>
            <a:endParaRPr lang="sk-SK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r>
              <a:rPr lang="sk-SK" dirty="0"/>
              <a:t>Príkazy, ktoré načítavajú dáta, sa realizujú pomocou 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executeQuery</a:t>
            </a:r>
            <a:endParaRPr lang="sk-SK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spcBef>
                <a:spcPts val="1200"/>
              </a:spcBef>
              <a:buNone/>
            </a:pPr>
            <a:endParaRPr lang="sk-SK" sz="2800" dirty="0">
              <a:highlight>
                <a:srgbClr val="FFFF00"/>
              </a:highlight>
              <a:latin typeface="Consolas" panose="020B0609020204030204" pitchFamily="49" charset="0"/>
            </a:endParaRPr>
          </a:p>
        </p:txBody>
      </p:sp>
      <p:sp>
        <p:nvSpPr>
          <p:cNvPr id="5" name="Nadpis 4">
            <a:extLst>
              <a:ext uri="{FF2B5EF4-FFF2-40B4-BE49-F238E27FC236}">
                <a16:creationId xmlns:a16="http://schemas.microsoft.com/office/drawing/2014/main" id="{48C3423C-723D-1866-AD23-C8063E4B70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JDBC</a:t>
            </a:r>
          </a:p>
        </p:txBody>
      </p:sp>
    </p:spTree>
    <p:extLst>
      <p:ext uri="{BB962C8B-B14F-4D97-AF65-F5344CB8AC3E}">
        <p14:creationId xmlns:p14="http://schemas.microsoft.com/office/powerpoint/2010/main" val="31863155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8CD30AC-145F-229E-A6C0-580B7B5FF2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1E3D6746-6C03-7794-F823-C7F0BDC853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148" y="185067"/>
            <a:ext cx="11434915" cy="6058417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public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List&lt;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Book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&gt;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findAllBooks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()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List&lt;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Book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&gt;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books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= new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ArrayList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&lt;&gt;();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String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sql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="SELECT title,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author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,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published_year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FROM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books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";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try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(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    Connection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conn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=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DriverManager.getConnection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(URL);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Statement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stmt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=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conn.createStatement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ResultSet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rs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=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stmt.executeQuery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sql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)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)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while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(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rs.next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())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    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books.add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(new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Book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        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rs.getString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("title"),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        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rs.getString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("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author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"),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        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rs.getInt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("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published_year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")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        ));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    }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}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catch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(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SQLException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e)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e.printStackTrace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}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return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books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6851983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B619908-1BC2-4EC4-AE56-00F4949CDA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56E2B261-0DDF-C0EC-C173-B5399B8E4D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4742" y="1571414"/>
            <a:ext cx="9995205" cy="4729437"/>
          </a:xfrm>
        </p:spPr>
        <p:txBody>
          <a:bodyPr>
            <a:noAutofit/>
          </a:bodyPr>
          <a:lstStyle/>
          <a:p>
            <a:r>
              <a:rPr lang="sk-SK" b="1" dirty="0"/>
              <a:t>Vždy</a:t>
            </a:r>
            <a:r>
              <a:rPr lang="sk-SK" dirty="0"/>
              <a:t> používajte </a:t>
            </a:r>
            <a:r>
              <a:rPr lang="sk-SK" dirty="0" err="1"/>
              <a:t>try-with-resources</a:t>
            </a:r>
            <a:r>
              <a:rPr lang="sk-SK" dirty="0"/>
              <a:t> (od Java 7)</a:t>
            </a:r>
          </a:p>
          <a:p>
            <a:r>
              <a:rPr lang="sk-SK" b="1" dirty="0"/>
              <a:t>Vždy</a:t>
            </a:r>
            <a:r>
              <a:rPr lang="sk-SK" dirty="0"/>
              <a:t> používajte 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PreparedStatement</a:t>
            </a:r>
            <a:r>
              <a:rPr lang="sk-SK" dirty="0"/>
              <a:t> pri vstupe od používateľa</a:t>
            </a:r>
          </a:p>
          <a:p>
            <a:r>
              <a:rPr lang="sk-SK" dirty="0"/>
              <a:t>Obyčajný 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Statement</a:t>
            </a:r>
            <a:r>
              <a:rPr lang="sk-SK" dirty="0"/>
              <a:t> používajte len na statické DDL (CREATE TABLE)</a:t>
            </a:r>
          </a:p>
          <a:p>
            <a:r>
              <a:rPr lang="sk-SK" dirty="0"/>
              <a:t>Mapovanie 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ResultSet</a:t>
            </a:r>
            <a:r>
              <a:rPr lang="sk-SK" dirty="0"/>
              <a:t> na objekty sa robí ručne, alebo sa použije ORM)</a:t>
            </a:r>
          </a:p>
          <a:p>
            <a:pPr marL="0" indent="0">
              <a:spcBef>
                <a:spcPts val="1200"/>
              </a:spcBef>
              <a:buNone/>
            </a:pPr>
            <a:endParaRPr lang="sk-SK" sz="2800" dirty="0">
              <a:highlight>
                <a:srgbClr val="FFFF00"/>
              </a:highlight>
              <a:latin typeface="Consolas" panose="020B0609020204030204" pitchFamily="49" charset="0"/>
            </a:endParaRPr>
          </a:p>
        </p:txBody>
      </p:sp>
      <p:sp>
        <p:nvSpPr>
          <p:cNvPr id="5" name="Nadpis 4">
            <a:extLst>
              <a:ext uri="{FF2B5EF4-FFF2-40B4-BE49-F238E27FC236}">
                <a16:creationId xmlns:a16="http://schemas.microsoft.com/office/drawing/2014/main" id="{C59B1FE4-7EE6-2C6F-0FEB-4C748B80E6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k-SK" dirty="0"/>
              <a:t>Dôležité pravidlá</a:t>
            </a:r>
          </a:p>
        </p:txBody>
      </p:sp>
    </p:spTree>
    <p:extLst>
      <p:ext uri="{BB962C8B-B14F-4D97-AF65-F5344CB8AC3E}">
        <p14:creationId xmlns:p14="http://schemas.microsoft.com/office/powerpoint/2010/main" val="24375282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E62589-4F6D-E249-DFDE-586D2AE940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BCC456E2-91AA-6B75-0799-2D660B2222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1948" y="1571414"/>
            <a:ext cx="11326762" cy="472943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sk-SK" dirty="0"/>
              <a:t>Celá </a:t>
            </a:r>
            <a:r>
              <a:rPr lang="sk-SK" dirty="0" err="1"/>
              <a:t>SQLite</a:t>
            </a:r>
            <a:r>
              <a:rPr lang="sk-SK" dirty="0"/>
              <a:t> databáza sa ukladá do jedného súboru na disku</a:t>
            </a:r>
          </a:p>
          <a:p>
            <a:pPr marL="0" indent="0">
              <a:buNone/>
            </a:pPr>
            <a:r>
              <a:rPr lang="sk-SK" dirty="0"/>
              <a:t>funguje priamo z vašej aplikácie a nie je potrebná žiadna inštalácia a konfigurácia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sk-SK" dirty="0"/>
              <a:t>Na základe umiestnenia súboru si potom vytvoríte JDBC URL. Príklady:</a:t>
            </a:r>
          </a:p>
          <a:p>
            <a:pPr lvl="1">
              <a:lnSpc>
                <a:spcPct val="100000"/>
              </a:lnSpc>
            </a:pPr>
            <a:r>
              <a:rPr lang="sk-SK" sz="2800" dirty="0"/>
              <a:t>Súbor: </a:t>
            </a:r>
            <a:r>
              <a:rPr lang="sk-SK" sz="2800" dirty="0" err="1">
                <a:highlight>
                  <a:srgbClr val="FFFF00"/>
                </a:highlight>
                <a:latin typeface="Consolas" panose="020B0609020204030204" pitchFamily="49" charset="0"/>
              </a:rPr>
              <a:t>jdbc:sqlite:library.db</a:t>
            </a:r>
            <a:endParaRPr lang="sk-SK" sz="2800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lvl="1">
              <a:lnSpc>
                <a:spcPct val="100000"/>
              </a:lnSpc>
            </a:pPr>
            <a:r>
              <a:rPr lang="sk-SK" sz="2800" dirty="0"/>
              <a:t>In-</a:t>
            </a:r>
            <a:r>
              <a:rPr lang="sk-SK" sz="2800" dirty="0" err="1"/>
              <a:t>memory</a:t>
            </a:r>
            <a:r>
              <a:rPr lang="sk-SK" sz="2800" dirty="0"/>
              <a:t> </a:t>
            </a:r>
            <a:r>
              <a:rPr lang="sk-SK" sz="2800" dirty="0" err="1"/>
              <a:t>only</a:t>
            </a:r>
            <a:r>
              <a:rPr lang="sk-SK" sz="2800" dirty="0"/>
              <a:t> (ideálne pre testy): </a:t>
            </a:r>
            <a:r>
              <a:rPr lang="sk-SK" sz="2800" dirty="0" err="1">
                <a:highlight>
                  <a:srgbClr val="FFFF00"/>
                </a:highlight>
                <a:latin typeface="Consolas" panose="020B0609020204030204" pitchFamily="49" charset="0"/>
              </a:rPr>
              <a:t>jdbc:sqlite</a:t>
            </a:r>
            <a:r>
              <a:rPr lang="sk-SK" sz="2800" dirty="0">
                <a:highlight>
                  <a:srgbClr val="FFFF00"/>
                </a:highlight>
                <a:latin typeface="Consolas" panose="020B0609020204030204" pitchFamily="49" charset="0"/>
              </a:rPr>
              <a:t>::</a:t>
            </a:r>
            <a:r>
              <a:rPr lang="sk-SK" sz="2800" dirty="0" err="1">
                <a:highlight>
                  <a:srgbClr val="FFFF00"/>
                </a:highlight>
                <a:latin typeface="Consolas" panose="020B0609020204030204" pitchFamily="49" charset="0"/>
              </a:rPr>
              <a:t>memory</a:t>
            </a:r>
            <a:r>
              <a:rPr lang="sk-SK" sz="2800" dirty="0">
                <a:highlight>
                  <a:srgbClr val="FFFF00"/>
                </a:highlight>
                <a:latin typeface="Consolas" panose="020B0609020204030204" pitchFamily="49" charset="0"/>
              </a:rPr>
              <a:t>:</a:t>
            </a:r>
          </a:p>
          <a:p>
            <a:pPr lvl="1">
              <a:lnSpc>
                <a:spcPct val="100000"/>
              </a:lnSpc>
            </a:pPr>
            <a:r>
              <a:rPr lang="sk-SK" sz="2800" dirty="0" err="1"/>
              <a:t>Read-only</a:t>
            </a:r>
            <a:r>
              <a:rPr lang="sk-SK" sz="2800" dirty="0"/>
              <a:t>: </a:t>
            </a:r>
            <a:r>
              <a:rPr lang="sk-SK" sz="2800" dirty="0" err="1">
                <a:highlight>
                  <a:srgbClr val="FFFF00"/>
                </a:highlight>
                <a:latin typeface="Consolas" panose="020B0609020204030204" pitchFamily="49" charset="0"/>
              </a:rPr>
              <a:t>jdbc:sqlite:file:library.db?mode</a:t>
            </a:r>
            <a:r>
              <a:rPr lang="sk-SK" sz="2800" dirty="0">
                <a:highlight>
                  <a:srgbClr val="FFFF00"/>
                </a:highlight>
                <a:latin typeface="Consolas" panose="020B0609020204030204" pitchFamily="49" charset="0"/>
              </a:rPr>
              <a:t>=</a:t>
            </a:r>
            <a:r>
              <a:rPr lang="sk-SK" sz="2800" dirty="0" err="1">
                <a:highlight>
                  <a:srgbClr val="FFFF00"/>
                </a:highlight>
                <a:latin typeface="Consolas" panose="020B0609020204030204" pitchFamily="49" charset="0"/>
              </a:rPr>
              <a:t>ro</a:t>
            </a:r>
            <a:endParaRPr lang="sk-SK" sz="2800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sk-SK" dirty="0">
              <a:highlight>
                <a:srgbClr val="FFFF00"/>
              </a:highlight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sk-SK" sz="2800" dirty="0"/>
              <a:t>IDEA plugin </a:t>
            </a:r>
            <a:r>
              <a:rPr lang="sk-SK" sz="2800" b="1" dirty="0" err="1"/>
              <a:t>Database</a:t>
            </a:r>
            <a:r>
              <a:rPr lang="sk-SK" sz="2800" b="1" dirty="0"/>
              <a:t> </a:t>
            </a:r>
            <a:r>
              <a:rPr lang="sk-SK" sz="2800" b="1" dirty="0" err="1"/>
              <a:t>Tools</a:t>
            </a:r>
            <a:r>
              <a:rPr lang="sk-SK" sz="2800" b="1" dirty="0"/>
              <a:t> and SQL</a:t>
            </a:r>
          </a:p>
          <a:p>
            <a:pPr marL="0" indent="0">
              <a:buNone/>
            </a:pPr>
            <a:endParaRPr lang="sk-SK" sz="2800" dirty="0">
              <a:highlight>
                <a:srgbClr val="FFFF00"/>
              </a:highlight>
              <a:latin typeface="Consolas" panose="020B0609020204030204" pitchFamily="49" charset="0"/>
            </a:endParaRPr>
          </a:p>
        </p:txBody>
      </p:sp>
      <p:sp>
        <p:nvSpPr>
          <p:cNvPr id="5" name="Nadpis 4">
            <a:extLst>
              <a:ext uri="{FF2B5EF4-FFF2-40B4-BE49-F238E27FC236}">
                <a16:creationId xmlns:a16="http://schemas.microsoft.com/office/drawing/2014/main" id="{C3D6D1FE-10DE-22D6-0074-C9E24DE4EE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k-SK" dirty="0" err="1"/>
              <a:t>SQLite</a:t>
            </a:r>
            <a:r>
              <a:rPr lang="sk-SK" dirty="0"/>
              <a:t>  </a:t>
            </a:r>
            <a:r>
              <a:rPr lang="sk-SK" sz="3600" dirty="0">
                <a:highlight>
                  <a:srgbClr val="FFFF00"/>
                </a:highlight>
                <a:latin typeface="Consolas" panose="020B0609020204030204" pitchFamily="49" charset="0"/>
                <a:ea typeface="+mn-ea"/>
                <a:cs typeface="+mn-cs"/>
              </a:rPr>
              <a:t>org.xerial:sqlite-jdbc:3.53.1.0</a:t>
            </a:r>
          </a:p>
        </p:txBody>
      </p:sp>
    </p:spTree>
    <p:extLst>
      <p:ext uri="{BB962C8B-B14F-4D97-AF65-F5344CB8AC3E}">
        <p14:creationId xmlns:p14="http://schemas.microsoft.com/office/powerpoint/2010/main" val="2463551943"/>
      </p:ext>
    </p:extLst>
  </p:cSld>
  <p:clrMapOvr>
    <a:masterClrMapping/>
  </p:clrMapOvr>
</p:sld>
</file>

<file path=ppt/theme/theme1.xml><?xml version="1.0" encoding="utf-8"?>
<a:theme xmlns:a="http://schemas.openxmlformats.org/drawingml/2006/main" name="Motív Office">
  <a:themeElements>
    <a:clrScheme name="Motív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Motív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Motív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1237</TotalTime>
  <Words>522</Words>
  <Application>Microsoft Office PowerPoint</Application>
  <PresentationFormat>Širokouhlá</PresentationFormat>
  <Paragraphs>79</Paragraphs>
  <Slides>9</Slides>
  <Notes>0</Notes>
  <HiddenSlides>0</HiddenSlides>
  <MMClips>0</MMClips>
  <ScaleCrop>false</ScaleCrop>
  <HeadingPairs>
    <vt:vector size="6" baseType="variant">
      <vt:variant>
        <vt:lpstr>Použité písma</vt:lpstr>
      </vt:variant>
      <vt:variant>
        <vt:i4>5</vt:i4>
      </vt:variant>
      <vt:variant>
        <vt:lpstr>Motív</vt:lpstr>
      </vt:variant>
      <vt:variant>
        <vt:i4>1</vt:i4>
      </vt:variant>
      <vt:variant>
        <vt:lpstr>Nadpisy snímok</vt:lpstr>
      </vt:variant>
      <vt:variant>
        <vt:i4>9</vt:i4>
      </vt:variant>
    </vt:vector>
  </HeadingPairs>
  <TitlesOfParts>
    <vt:vector size="15" baseType="lpstr">
      <vt:lpstr>Aptos</vt:lpstr>
      <vt:lpstr>Aptos Display</vt:lpstr>
      <vt:lpstr>Arial</vt:lpstr>
      <vt:lpstr>Consolas</vt:lpstr>
      <vt:lpstr>Roboto Mono</vt:lpstr>
      <vt:lpstr>Motív Office</vt:lpstr>
      <vt:lpstr>Objektovo orientované programovanie</vt:lpstr>
      <vt:lpstr>OPG Cvičenie 19</vt:lpstr>
      <vt:lpstr>JDBC</vt:lpstr>
      <vt:lpstr>Prezentácia programu PowerPoint</vt:lpstr>
      <vt:lpstr>Príklad vloženia údajov do existujúcej tabuľky</vt:lpstr>
      <vt:lpstr>JDBC</vt:lpstr>
      <vt:lpstr>Prezentácia programu PowerPoint</vt:lpstr>
      <vt:lpstr>Dôležité pravidlá</vt:lpstr>
      <vt:lpstr>SQLite  org.xerial:sqlite-jdbc:3.53.1.0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Lenka Wagnerová</dc:creator>
  <cp:lastModifiedBy>Wagner Jozef Ing., PhD.</cp:lastModifiedBy>
  <cp:revision>37</cp:revision>
  <dcterms:created xsi:type="dcterms:W3CDTF">2025-09-05T09:09:34Z</dcterms:created>
  <dcterms:modified xsi:type="dcterms:W3CDTF">2026-06-05T17:08:42Z</dcterms:modified>
</cp:coreProperties>
</file>