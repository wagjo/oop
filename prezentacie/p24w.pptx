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696" r:id="rId1"/>
  </p:sldMasterIdLst>
  <p:sldIdLst>
    <p:sldId id="266" r:id="rId2"/>
    <p:sldId id="257" r:id="rId3"/>
    <p:sldId id="283" r:id="rId4"/>
    <p:sldId id="296" r:id="rId5"/>
    <p:sldId id="297" r:id="rId6"/>
    <p:sldId id="291" r:id="rId7"/>
    <p:sldId id="292" r:id="rId8"/>
    <p:sldId id="298" r:id="rId9"/>
    <p:sldId id="299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á sním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k-SK"/>
              <a:t>Kliknutím upravte štýl predlohy podnadpisu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14. 4. 2026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7114912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14. 4. 2026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0979669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Hlavička sekc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14. 4. 2026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5574200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14. 4. 2026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898179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14. 4. 2026</a:t>
            </a:fld>
            <a:endParaRPr lang="sk-S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6863701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Len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14. 4. 2026</a:t>
            </a:fld>
            <a:endParaRPr lang="sk-S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0546845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14. 4. 2026</a:t>
            </a:fld>
            <a:endParaRPr lang="sk-S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6977434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14. 4. 2026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5430396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ok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sk-SK"/>
              <a:t>Kliknutím na ikonu pridáte obrázok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14. 4. 2026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7196638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z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14. 4. 2026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5936366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Z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14. 4. 2026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405875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052495-8BC8-4CFB-94B1-B0429F101A0D}" type="datetimeFigureOut">
              <a:rPr lang="sk-SK" smtClean="0"/>
              <a:t>14. 4. 2026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5725244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oop.wagjo.com/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4026A73-1F7F-49F2-B319-8CA3B3D53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8E144086-9642-901A-F3D2-FA2652CA9A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6899" y="1188637"/>
            <a:ext cx="3291839" cy="4480726"/>
          </a:xfrm>
        </p:spPr>
        <p:txBody>
          <a:bodyPr>
            <a:normAutofit/>
          </a:bodyPr>
          <a:lstStyle/>
          <a:p>
            <a:pPr algn="r"/>
            <a:r>
              <a:rPr lang="sk-SK" sz="4000" dirty="0"/>
              <a:t>Objektovo orientované programovanie</a:t>
            </a:r>
            <a:br>
              <a:rPr lang="en-US" sz="4000" dirty="0"/>
            </a:br>
            <a:r>
              <a:rPr lang="en-US" sz="4000" dirty="0"/>
              <a:t>- </a:t>
            </a:r>
            <a:r>
              <a:rPr lang="en-US" sz="4000" i="1" dirty="0" err="1"/>
              <a:t>pokro</a:t>
            </a:r>
            <a:r>
              <a:rPr lang="sk-SK" sz="4000" i="1" dirty="0" err="1"/>
              <a:t>čilí</a:t>
            </a:r>
            <a:endParaRPr lang="sk-SK" sz="4000" i="1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8685716B-C55C-CDF8-4632-389CB907CA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8928" y="1338729"/>
            <a:ext cx="4795584" cy="4180542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sk-SK" dirty="0"/>
          </a:p>
          <a:p>
            <a:pPr marL="0" indent="0">
              <a:buNone/>
            </a:pPr>
            <a:r>
              <a:rPr lang="sk-SK" dirty="0"/>
              <a:t>Učiteľ: </a:t>
            </a:r>
            <a:br>
              <a:rPr lang="sk-SK" dirty="0"/>
            </a:br>
            <a:r>
              <a:rPr lang="sk-SK" b="1" dirty="0"/>
              <a:t>Ing. Jozef Wagner</a:t>
            </a:r>
            <a:r>
              <a:rPr lang="en-US" b="1" dirty="0"/>
              <a:t>,</a:t>
            </a:r>
            <a:r>
              <a:rPr lang="sk-SK" b="1" dirty="0"/>
              <a:t> PhD.</a:t>
            </a:r>
          </a:p>
          <a:p>
            <a:pPr marL="0" indent="0">
              <a:buNone/>
            </a:pPr>
            <a:endParaRPr lang="sk-SK" b="1" dirty="0"/>
          </a:p>
          <a:p>
            <a:pPr marL="0" indent="0">
              <a:buNone/>
            </a:pPr>
            <a:r>
              <a:rPr lang="sk-SK" dirty="0"/>
              <a:t>Učebnica: </a:t>
            </a:r>
            <a:br>
              <a:rPr lang="sk-SK" dirty="0"/>
            </a:br>
            <a:r>
              <a:rPr lang="sk-SK" dirty="0">
                <a:hlinkClick r:id="rId2"/>
              </a:rPr>
              <a:t>https://oop.wagjo.com/</a:t>
            </a:r>
            <a:r>
              <a:rPr lang="sk-SK" dirty="0"/>
              <a:t> </a:t>
            </a:r>
          </a:p>
          <a:p>
            <a:pPr marL="0" indent="0">
              <a:buNone/>
            </a:pP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25174436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4026A73-1F7F-49F2-B319-8CA3B3D53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B3680000-8E97-7BCD-0373-6D09E7201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6900" y="1188637"/>
            <a:ext cx="3141430" cy="4480726"/>
          </a:xfrm>
        </p:spPr>
        <p:txBody>
          <a:bodyPr>
            <a:normAutofit/>
          </a:bodyPr>
          <a:lstStyle/>
          <a:p>
            <a:pPr algn="r"/>
            <a:r>
              <a:rPr lang="sk-SK" sz="4000" dirty="0"/>
              <a:t>OPGP  Pokročilí</a:t>
            </a:r>
            <a:r>
              <a:rPr lang="en-US" sz="4000" dirty="0"/>
              <a:t> </a:t>
            </a:r>
            <a:r>
              <a:rPr lang="sk-SK" sz="4000" dirty="0"/>
              <a:t>2</a:t>
            </a:r>
            <a:r>
              <a:rPr lang="en-US" sz="4000" dirty="0"/>
              <a:t>4</a:t>
            </a:r>
            <a:br>
              <a:rPr lang="en-US" sz="4000" dirty="0"/>
            </a:br>
            <a:endParaRPr lang="sk-SK" sz="4000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19A88E58-5472-E350-E606-D7A492AB52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8927" y="1338729"/>
            <a:ext cx="6482802" cy="4180542"/>
          </a:xfrm>
        </p:spPr>
        <p:txBody>
          <a:bodyPr anchor="ctr">
            <a:no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URL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Routovanie</a:t>
            </a:r>
            <a:endParaRPr lang="sk-SK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Flask</a:t>
            </a: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29912883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F34094-F190-314F-5CCB-9E270F9DD1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53E8B18F-B5AD-1DC8-F63B-8510FD478B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130" y="1610468"/>
            <a:ext cx="11300411" cy="469222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dirty="0"/>
              <a:t>Uniform Resource Locator - </a:t>
            </a:r>
            <a:r>
              <a:rPr lang="en-US" dirty="0" err="1"/>
              <a:t>webová</a:t>
            </a:r>
            <a:r>
              <a:rPr lang="en-US" dirty="0"/>
              <a:t> </a:t>
            </a:r>
            <a:r>
              <a:rPr lang="en-US" dirty="0" err="1"/>
              <a:t>adresa</a:t>
            </a:r>
            <a:endParaRPr lang="sk-SK" dirty="0"/>
          </a:p>
          <a:p>
            <a:pPr marL="0" indent="0">
              <a:buNone/>
            </a:pPr>
            <a:r>
              <a:rPr lang="sk-SK" dirty="0"/>
              <a:t>Má presne definovanú štruktúru podľa štandardu RFC 3986.</a:t>
            </a:r>
          </a:p>
          <a:p>
            <a:pPr marL="0" indent="0">
              <a:buNone/>
            </a:pPr>
            <a:r>
              <a:rPr lang="sk-SK" dirty="0"/>
              <a:t>URL určuje</a:t>
            </a:r>
            <a:r>
              <a:rPr lang="en-US" dirty="0"/>
              <a:t>:</a:t>
            </a:r>
          </a:p>
          <a:p>
            <a:pPr lvl="1"/>
            <a:r>
              <a:rPr lang="sk-SK" sz="2800" b="1" dirty="0"/>
              <a:t>kde</a:t>
            </a:r>
            <a:r>
              <a:rPr lang="sk-SK" sz="2800" dirty="0"/>
              <a:t> sa zdroj nachádza</a:t>
            </a:r>
            <a:endParaRPr lang="en-US" sz="2800" dirty="0"/>
          </a:p>
          <a:p>
            <a:pPr lvl="1"/>
            <a:r>
              <a:rPr lang="sk-SK" sz="2800" b="1" dirty="0"/>
              <a:t>ako</a:t>
            </a:r>
            <a:r>
              <a:rPr lang="sk-SK" sz="2800" dirty="0"/>
              <a:t> sa k nemu dostať</a:t>
            </a:r>
          </a:p>
          <a:p>
            <a:pPr marL="0" indent="0">
              <a:buNone/>
            </a:pPr>
            <a:endParaRPr lang="en-US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http://www.example.com/blog/2025/04/</a:t>
            </a: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</a:rPr>
              <a:t>post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?id=15&amp;prev=true#uvod</a:t>
            </a:r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A9C42A5D-33AB-425B-E11E-FCC779504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URL</a:t>
            </a: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8860499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DA4C77-D4FA-AEFE-29C9-1B3F6D90C5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3D03ED2E-35F9-FF9D-39A5-02C75EA52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130" y="1610468"/>
            <a:ext cx="11300411" cy="469222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schéma://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používateľ:heslo@host:port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/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cesta?query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=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parametre#fragment</a:t>
            </a:r>
            <a:endParaRPr lang="en-US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endParaRPr lang="en-US" sz="2400" dirty="0"/>
          </a:p>
          <a:p>
            <a:r>
              <a:rPr lang="sk-SK" sz="2400" b="1" dirty="0"/>
              <a:t>Schéma </a:t>
            </a:r>
            <a:r>
              <a:rPr lang="sk-SK" sz="2400" dirty="0"/>
              <a:t>- Protokol (http, </a:t>
            </a:r>
            <a:r>
              <a:rPr lang="sk-SK" sz="2400" dirty="0" err="1"/>
              <a:t>https</a:t>
            </a:r>
            <a:r>
              <a:rPr lang="sk-SK" sz="2400" dirty="0"/>
              <a:t>, ftp, </a:t>
            </a:r>
            <a:r>
              <a:rPr lang="sk-SK" sz="2400" dirty="0" err="1"/>
              <a:t>file</a:t>
            </a:r>
            <a:r>
              <a:rPr lang="sk-SK" sz="2400" dirty="0"/>
              <a:t>, ...)</a:t>
            </a:r>
          </a:p>
          <a:p>
            <a:r>
              <a:rPr lang="sk-SK" sz="2400" b="1" dirty="0"/>
              <a:t>Používateľ</a:t>
            </a:r>
            <a:r>
              <a:rPr lang="sk-SK" sz="2400" dirty="0"/>
              <a:t> - používateľské meno a heslo, tzv. </a:t>
            </a:r>
            <a:r>
              <a:rPr lang="sk-SK" sz="2400" dirty="0" err="1"/>
              <a:t>Authority</a:t>
            </a:r>
            <a:r>
              <a:rPr lang="sk-SK" sz="2400" dirty="0"/>
              <a:t>, obe voliteľné</a:t>
            </a:r>
          </a:p>
          <a:p>
            <a:r>
              <a:rPr lang="sk-SK" sz="2400" b="1" dirty="0" err="1"/>
              <a:t>Host</a:t>
            </a:r>
            <a:r>
              <a:rPr lang="sk-SK" sz="2400" dirty="0"/>
              <a:t> - Doména alebo IP adresa</a:t>
            </a:r>
          </a:p>
          <a:p>
            <a:r>
              <a:rPr lang="sk-SK" sz="2400" b="1" dirty="0"/>
              <a:t>Port</a:t>
            </a:r>
            <a:r>
              <a:rPr lang="sk-SK" sz="2400" dirty="0"/>
              <a:t> - Voliteľný port</a:t>
            </a:r>
          </a:p>
          <a:p>
            <a:r>
              <a:rPr lang="sk-SK" sz="2400" b="1" dirty="0" err="1"/>
              <a:t>Path</a:t>
            </a:r>
            <a:r>
              <a:rPr lang="sk-SK" sz="2400" dirty="0"/>
              <a:t> - Cesta k zdroju</a:t>
            </a:r>
          </a:p>
          <a:p>
            <a:r>
              <a:rPr lang="sk-SK" sz="2400" b="1" dirty="0" err="1"/>
              <a:t>Query</a:t>
            </a:r>
            <a:r>
              <a:rPr lang="sk-SK" sz="2400" b="1" dirty="0"/>
              <a:t> </a:t>
            </a:r>
            <a:r>
              <a:rPr lang="sk-SK" sz="2400" b="1" dirty="0" err="1"/>
              <a:t>string</a:t>
            </a:r>
            <a:r>
              <a:rPr lang="sk-SK" sz="2400" dirty="0"/>
              <a:t> - Parametre požiadavky (</a:t>
            </a:r>
            <a:r>
              <a:rPr lang="sk-SK" sz="2400" dirty="0" err="1"/>
              <a:t>key</a:t>
            </a:r>
            <a:r>
              <a:rPr lang="sk-SK" sz="2400" dirty="0"/>
              <a:t>=</a:t>
            </a:r>
            <a:r>
              <a:rPr lang="sk-SK" sz="2400" dirty="0" err="1"/>
              <a:t>value</a:t>
            </a:r>
            <a:r>
              <a:rPr lang="sk-SK" sz="2400" dirty="0"/>
              <a:t> páry oddelené znakom &amp;)</a:t>
            </a:r>
          </a:p>
          <a:p>
            <a:r>
              <a:rPr lang="sk-SK" sz="2400" b="1" dirty="0"/>
              <a:t>Fragment</a:t>
            </a:r>
            <a:r>
              <a:rPr lang="sk-SK" sz="2400" dirty="0"/>
              <a:t> - Umiestnenie (</a:t>
            </a:r>
            <a:r>
              <a:rPr lang="sk-SK" sz="2400" dirty="0" err="1"/>
              <a:t>anchor</a:t>
            </a:r>
            <a:r>
              <a:rPr lang="sk-SK" sz="2400" dirty="0"/>
              <a:t>) na stránke (spracováva sa v prehliadači, server ho zvyčajne nedostane)</a:t>
            </a:r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5E7DDDA0-F925-58CD-E94D-AF11F139A9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URL</a:t>
            </a: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27447562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D3C6FF-EAAA-8F5D-FCE5-8AD5B4D6D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CA69772B-C869-1B58-4745-3FE95F28B4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130" y="1610468"/>
            <a:ext cx="11300411" cy="469222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sk-SK" dirty="0"/>
              <a:t>Kódovanie zakázaných znakov v URL - pomocou reťazca 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%XX</a:t>
            </a:r>
          </a:p>
          <a:p>
            <a:pPr marL="0" indent="0">
              <a:buNone/>
            </a:pPr>
            <a:endParaRPr lang="sk-SK" dirty="0"/>
          </a:p>
          <a:p>
            <a:pPr marL="0" indent="0">
              <a:buNone/>
            </a:pPr>
            <a:r>
              <a:rPr lang="en-US" dirty="0" err="1"/>
              <a:t>Pr</a:t>
            </a:r>
            <a:r>
              <a:rPr lang="sk-SK" dirty="0" err="1"/>
              <a:t>íklady</a:t>
            </a:r>
            <a:r>
              <a:rPr lang="sk-SK" dirty="0"/>
              <a:t>:</a:t>
            </a:r>
          </a:p>
          <a:p>
            <a:pPr lvl="1"/>
            <a:r>
              <a:rPr lang="sk-SK" sz="2800" dirty="0"/>
              <a:t>medzera </a:t>
            </a:r>
            <a:r>
              <a:rPr lang="sk-SK" sz="2800" dirty="0">
                <a:highlight>
                  <a:srgbClr val="FFFF00"/>
                </a:highlight>
                <a:latin typeface="Consolas" panose="020B0609020204030204" pitchFamily="49" charset="0"/>
              </a:rPr>
              <a:t>%20</a:t>
            </a:r>
            <a:endParaRPr lang="en-US" sz="28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lvl="1"/>
            <a:r>
              <a:rPr lang="sk-SK" sz="2800" dirty="0" err="1"/>
              <a:t>lomítko</a:t>
            </a:r>
            <a:r>
              <a:rPr lang="sk-SK" sz="2800" dirty="0"/>
              <a:t> / </a:t>
            </a:r>
            <a:r>
              <a:rPr lang="sk-SK" sz="2800" dirty="0">
                <a:highlight>
                  <a:srgbClr val="FFFF00"/>
                </a:highlight>
                <a:latin typeface="Consolas" panose="020B0609020204030204" pitchFamily="49" charset="0"/>
              </a:rPr>
              <a:t>%2F</a:t>
            </a:r>
            <a:endParaRPr lang="en-US" sz="28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lvl="1"/>
            <a:r>
              <a:rPr lang="sk-SK" sz="2800" dirty="0"/>
              <a:t>písmeno é </a:t>
            </a:r>
            <a:r>
              <a:rPr lang="sk-SK" sz="2800" dirty="0">
                <a:highlight>
                  <a:srgbClr val="FFFF00"/>
                </a:highlight>
                <a:latin typeface="Consolas" panose="020B0609020204030204" pitchFamily="49" charset="0"/>
              </a:rPr>
              <a:t>%C3%A9</a:t>
            </a:r>
            <a:endParaRPr lang="en-US" sz="28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lvl="1"/>
            <a:r>
              <a:rPr lang="sk-SK" sz="2800" dirty="0"/>
              <a:t>percento % </a:t>
            </a:r>
            <a:r>
              <a:rPr lang="sk-SK" sz="2800" dirty="0">
                <a:highlight>
                  <a:srgbClr val="FFFF00"/>
                </a:highlight>
                <a:latin typeface="Consolas" panose="020B0609020204030204" pitchFamily="49" charset="0"/>
              </a:rPr>
              <a:t>%25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sk-SK" dirty="0"/>
              <a:t>na kódovanie nesmieme zabudnúť hlavne pri </a:t>
            </a:r>
            <a:r>
              <a:rPr lang="sk-SK" dirty="0" err="1"/>
              <a:t>query</a:t>
            </a:r>
            <a:r>
              <a:rPr lang="sk-SK" dirty="0"/>
              <a:t> parametroch a ceste</a:t>
            </a:r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0B9E340E-7402-D0B7-FF6B-9CC4D72E87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Percent encoding</a:t>
            </a: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8030023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C40011-1A79-5D21-D938-7D2DA257EB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42E4E895-5A37-463D-CD65-1A11B79E84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130" y="1610468"/>
            <a:ext cx="11300411" cy="469222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sk-SK" dirty="0"/>
              <a:t>Modul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urllib.parse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dirty="0"/>
              <a:t>- </a:t>
            </a:r>
            <a:r>
              <a:rPr lang="sk-SK" dirty="0" err="1"/>
              <a:t>parsovanie</a:t>
            </a:r>
            <a:r>
              <a:rPr lang="sk-SK" dirty="0"/>
              <a:t> URL</a:t>
            </a:r>
          </a:p>
          <a:p>
            <a:pPr lvl="1"/>
            <a:r>
              <a:rPr lang="sk-SK" sz="2800" dirty="0" err="1">
                <a:highlight>
                  <a:srgbClr val="FFFF00"/>
                </a:highlight>
                <a:latin typeface="Consolas" panose="020B0609020204030204" pitchFamily="49" charset="0"/>
              </a:rPr>
              <a:t>urlparse</a:t>
            </a:r>
            <a:r>
              <a:rPr lang="sk-SK" sz="2800" dirty="0">
                <a:highlight>
                  <a:srgbClr val="FFFF00"/>
                </a:highlight>
                <a:latin typeface="Consolas" panose="020B0609020204030204" pitchFamily="49" charset="0"/>
              </a:rPr>
              <a:t>()</a:t>
            </a:r>
            <a:r>
              <a:rPr lang="sk-SK" sz="2800" dirty="0"/>
              <a:t> - rozdelí URL do jednotlivých častí</a:t>
            </a:r>
          </a:p>
          <a:p>
            <a:pPr lvl="1"/>
            <a:r>
              <a:rPr lang="sk-SK" sz="2800" dirty="0" err="1">
                <a:highlight>
                  <a:srgbClr val="FFFF00"/>
                </a:highlight>
                <a:latin typeface="Consolas" panose="020B0609020204030204" pitchFamily="49" charset="0"/>
              </a:rPr>
              <a:t>parse_qs</a:t>
            </a:r>
            <a:r>
              <a:rPr lang="sk-SK" sz="2800" dirty="0">
                <a:highlight>
                  <a:srgbClr val="FFFF00"/>
                </a:highlight>
                <a:latin typeface="Consolas" panose="020B0609020204030204" pitchFamily="49" charset="0"/>
              </a:rPr>
              <a:t>()</a:t>
            </a:r>
            <a:r>
              <a:rPr lang="sk-SK" sz="2800" dirty="0"/>
              <a:t> - vytvorí z </a:t>
            </a:r>
            <a:r>
              <a:rPr lang="sk-SK" sz="2800" dirty="0" err="1"/>
              <a:t>query</a:t>
            </a:r>
            <a:r>
              <a:rPr lang="sk-SK" sz="2800" dirty="0"/>
              <a:t> </a:t>
            </a:r>
            <a:r>
              <a:rPr lang="sk-SK" sz="2800" dirty="0" err="1"/>
              <a:t>stringu</a:t>
            </a:r>
            <a:r>
              <a:rPr lang="sk-SK" sz="2800" dirty="0"/>
              <a:t> slovník s hodnotami</a:t>
            </a:r>
          </a:p>
          <a:p>
            <a:pPr lvl="1"/>
            <a:r>
              <a:rPr lang="sk-SK" sz="2800" dirty="0" err="1">
                <a:highlight>
                  <a:srgbClr val="FFFF00"/>
                </a:highlight>
                <a:latin typeface="Consolas" panose="020B0609020204030204" pitchFamily="49" charset="0"/>
              </a:rPr>
              <a:t>quote</a:t>
            </a:r>
            <a:r>
              <a:rPr lang="sk-SK" sz="2800" dirty="0">
                <a:highlight>
                  <a:srgbClr val="FFFF00"/>
                </a:highlight>
                <a:latin typeface="Consolas" panose="020B0609020204030204" pitchFamily="49" charset="0"/>
              </a:rPr>
              <a:t>()</a:t>
            </a:r>
            <a:r>
              <a:rPr lang="sk-SK" sz="2800" dirty="0"/>
              <a:t> / </a:t>
            </a:r>
            <a:r>
              <a:rPr lang="sk-SK" sz="2800" dirty="0" err="1">
                <a:highlight>
                  <a:srgbClr val="FFFF00"/>
                </a:highlight>
                <a:latin typeface="Consolas" panose="020B0609020204030204" pitchFamily="49" charset="0"/>
              </a:rPr>
              <a:t>unquote</a:t>
            </a:r>
            <a:r>
              <a:rPr lang="sk-SK" sz="2800" dirty="0">
                <a:highlight>
                  <a:srgbClr val="FFFF00"/>
                </a:highlight>
                <a:latin typeface="Consolas" panose="020B0609020204030204" pitchFamily="49" charset="0"/>
              </a:rPr>
              <a:t>()</a:t>
            </a:r>
            <a:r>
              <a:rPr lang="sk-SK" sz="2800" dirty="0"/>
              <a:t> - percent kódovanie znakov</a:t>
            </a:r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714B897C-55D6-64AC-7426-70E30A11A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 err="1"/>
              <a:t>Parsovanie</a:t>
            </a:r>
            <a:r>
              <a:rPr lang="sk-SK" dirty="0"/>
              <a:t> URL v </a:t>
            </a:r>
            <a:r>
              <a:rPr lang="sk-SK" dirty="0" err="1"/>
              <a:t>Pythone</a:t>
            </a: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22354141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7BA4BA-CE6A-F75D-B43D-0489493F0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40707F7D-DCE7-4D63-125A-5D1CBB35BE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130" y="1610468"/>
            <a:ext cx="11300411" cy="469222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pl-PL" dirty="0"/>
              <a:t>Mapovanie HTTP požiadavky na konkrétny zdroj</a:t>
            </a:r>
          </a:p>
          <a:p>
            <a:pPr marL="0" indent="0">
              <a:buNone/>
            </a:pPr>
            <a:r>
              <a:rPr lang="pl-PL" dirty="0"/>
              <a:t>Routuje sa podľa:</a:t>
            </a:r>
          </a:p>
          <a:p>
            <a:pPr lvl="1"/>
            <a:r>
              <a:rPr lang="sk-SK" sz="2800" dirty="0"/>
              <a:t>Cesta v URL (anglicky URL </a:t>
            </a:r>
            <a:r>
              <a:rPr lang="sk-SK" sz="2800" dirty="0" err="1"/>
              <a:t>path</a:t>
            </a:r>
            <a:r>
              <a:rPr lang="sk-SK" sz="2800" dirty="0"/>
              <a:t>)</a:t>
            </a:r>
          </a:p>
          <a:p>
            <a:pPr lvl="1"/>
            <a:r>
              <a:rPr lang="sk-SK" sz="2800" dirty="0"/>
              <a:t>HTTP metóda (GET, POST)</a:t>
            </a:r>
          </a:p>
          <a:p>
            <a:pPr lvl="1"/>
            <a:r>
              <a:rPr lang="sk-SK" sz="2800" dirty="0"/>
              <a:t>Názov hostiteľa, </a:t>
            </a:r>
            <a:r>
              <a:rPr lang="sk-SK" sz="2800" dirty="0" err="1"/>
              <a:t>hostname</a:t>
            </a:r>
            <a:r>
              <a:rPr lang="sk-SK" sz="2800" dirty="0"/>
              <a:t> (www.example.com)</a:t>
            </a:r>
          </a:p>
          <a:p>
            <a:pPr lvl="1"/>
            <a:r>
              <a:rPr lang="sk-SK" sz="2800" dirty="0"/>
              <a:t>Dodatočné hodnoty z hlavička (</a:t>
            </a:r>
            <a:r>
              <a:rPr lang="sk-SK" sz="2800" dirty="0" err="1"/>
              <a:t>Content</a:t>
            </a:r>
            <a:r>
              <a:rPr lang="sk-SK" sz="2800" dirty="0"/>
              <a:t>-Type, </a:t>
            </a:r>
            <a:r>
              <a:rPr lang="sk-SK" sz="2800" dirty="0" err="1"/>
              <a:t>SessionId</a:t>
            </a:r>
            <a:r>
              <a:rPr lang="sk-SK" sz="2800" dirty="0"/>
              <a:t>, ...)</a:t>
            </a:r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5CC79D05-C2C2-A3BB-D013-F8822062D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 err="1"/>
              <a:t>Routovanie</a:t>
            </a:r>
            <a:r>
              <a:rPr lang="sk-SK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916815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1BAAE3-0A59-4CD0-91EA-D8A43F24F9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32261287-E5CE-A65E-72E8-CE6F3AA86E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130" y="1610468"/>
            <a:ext cx="11300411" cy="469222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sk-SK" dirty="0"/>
              <a:t>Príklady:</a:t>
            </a:r>
          </a:p>
          <a:p>
            <a:pPr lvl="1"/>
            <a:r>
              <a:rPr lang="sk-SK" sz="2800" dirty="0">
                <a:highlight>
                  <a:srgbClr val="FFFF00"/>
                </a:highlight>
                <a:latin typeface="Consolas" panose="020B0609020204030204" pitchFamily="49" charset="0"/>
              </a:rPr>
              <a:t>GET</a:t>
            </a:r>
            <a:r>
              <a:rPr lang="sk-SK" sz="2800" dirty="0"/>
              <a:t> </a:t>
            </a:r>
            <a:r>
              <a:rPr lang="sk-SK" sz="2800" dirty="0">
                <a:highlight>
                  <a:srgbClr val="FFFF00"/>
                </a:highlight>
                <a:latin typeface="Consolas" panose="020B0609020204030204" pitchFamily="49" charset="0"/>
              </a:rPr>
              <a:t>/</a:t>
            </a:r>
            <a:r>
              <a:rPr lang="sk-SK" sz="2800" dirty="0"/>
              <a:t> - hlavná stránka</a:t>
            </a:r>
          </a:p>
          <a:p>
            <a:pPr lvl="1"/>
            <a:r>
              <a:rPr lang="sk-SK" sz="2800" dirty="0">
                <a:highlight>
                  <a:srgbClr val="FFFF00"/>
                </a:highlight>
                <a:latin typeface="Consolas" panose="020B0609020204030204" pitchFamily="49" charset="0"/>
              </a:rPr>
              <a:t>GET</a:t>
            </a:r>
            <a:r>
              <a:rPr lang="sk-SK" sz="2800" dirty="0"/>
              <a:t> </a:t>
            </a:r>
            <a:r>
              <a:rPr lang="sk-SK" sz="2800" dirty="0">
                <a:highlight>
                  <a:srgbClr val="FFFF00"/>
                </a:highlight>
                <a:latin typeface="Consolas" panose="020B0609020204030204" pitchFamily="49" charset="0"/>
              </a:rPr>
              <a:t>/blog/prispevok-1</a:t>
            </a:r>
            <a:r>
              <a:rPr lang="sk-SK" sz="2800" dirty="0"/>
              <a:t> - konkrétny článok</a:t>
            </a:r>
          </a:p>
          <a:p>
            <a:pPr lvl="1"/>
            <a:r>
              <a:rPr lang="sk-SK" sz="2800" dirty="0">
                <a:highlight>
                  <a:srgbClr val="FFFF00"/>
                </a:highlight>
                <a:latin typeface="Consolas" panose="020B0609020204030204" pitchFamily="49" charset="0"/>
              </a:rPr>
              <a:t>POST</a:t>
            </a:r>
            <a:r>
              <a:rPr lang="sk-SK" sz="2800" dirty="0"/>
              <a:t> </a:t>
            </a:r>
            <a:r>
              <a:rPr lang="sk-SK" sz="2800" dirty="0">
                <a:highlight>
                  <a:srgbClr val="FFFF00"/>
                </a:highlight>
                <a:latin typeface="Consolas" panose="020B0609020204030204" pitchFamily="49" charset="0"/>
              </a:rPr>
              <a:t>/</a:t>
            </a:r>
            <a:r>
              <a:rPr lang="sk-SK" sz="2800" dirty="0" err="1">
                <a:highlight>
                  <a:srgbClr val="FFFF00"/>
                </a:highlight>
                <a:latin typeface="Consolas" panose="020B0609020204030204" pitchFamily="49" charset="0"/>
              </a:rPr>
              <a:t>api</a:t>
            </a:r>
            <a:r>
              <a:rPr lang="sk-SK" sz="2800" dirty="0">
                <a:highlight>
                  <a:srgbClr val="FFFF00"/>
                </a:highlight>
                <a:latin typeface="Consolas" panose="020B0609020204030204" pitchFamily="49" charset="0"/>
              </a:rPr>
              <a:t>/</a:t>
            </a:r>
            <a:r>
              <a:rPr lang="sk-SK" sz="2800" dirty="0" err="1">
                <a:highlight>
                  <a:srgbClr val="FFFF00"/>
                </a:highlight>
                <a:latin typeface="Consolas" panose="020B0609020204030204" pitchFamily="49" charset="0"/>
              </a:rPr>
              <a:t>login</a:t>
            </a:r>
            <a:r>
              <a:rPr lang="sk-SK" sz="2800" dirty="0"/>
              <a:t> - prihlásenie</a:t>
            </a:r>
          </a:p>
          <a:p>
            <a:pPr lvl="1"/>
            <a:r>
              <a:rPr lang="sk-SK" sz="2800" dirty="0">
                <a:highlight>
                  <a:srgbClr val="FFFF00"/>
                </a:highlight>
                <a:latin typeface="Consolas" panose="020B0609020204030204" pitchFamily="49" charset="0"/>
              </a:rPr>
              <a:t>GET</a:t>
            </a:r>
            <a:r>
              <a:rPr lang="sk-SK" sz="2800" dirty="0"/>
              <a:t> </a:t>
            </a:r>
            <a:r>
              <a:rPr lang="sk-SK" sz="2800" dirty="0">
                <a:highlight>
                  <a:srgbClr val="FFFF00"/>
                </a:highlight>
                <a:latin typeface="Consolas" panose="020B0609020204030204" pitchFamily="49" charset="0"/>
              </a:rPr>
              <a:t>/</a:t>
            </a:r>
            <a:r>
              <a:rPr lang="sk-SK" sz="2800" dirty="0" err="1">
                <a:highlight>
                  <a:srgbClr val="FFFF00"/>
                </a:highlight>
                <a:latin typeface="Consolas" panose="020B0609020204030204" pitchFamily="49" charset="0"/>
              </a:rPr>
              <a:t>images</a:t>
            </a:r>
            <a:r>
              <a:rPr lang="sk-SK" sz="2800" dirty="0">
                <a:highlight>
                  <a:srgbClr val="FFFF00"/>
                </a:highlight>
                <a:latin typeface="Consolas" panose="020B0609020204030204" pitchFamily="49" charset="0"/>
              </a:rPr>
              <a:t>/logo.png</a:t>
            </a:r>
            <a:r>
              <a:rPr lang="sk-SK" sz="2800" dirty="0"/>
              <a:t> - statický súbor</a:t>
            </a:r>
          </a:p>
          <a:p>
            <a:endParaRPr lang="pl-PL" dirty="0"/>
          </a:p>
          <a:p>
            <a:pPr marL="0" indent="0">
              <a:buNone/>
            </a:pPr>
            <a:r>
              <a:rPr lang="pl-PL" dirty="0"/>
              <a:t>Druhy routovania:</a:t>
            </a:r>
          </a:p>
          <a:p>
            <a:pPr lvl="1"/>
            <a:r>
              <a:rPr lang="pl-PL" sz="2800" dirty="0"/>
              <a:t>statické, URL zodpovedá vzoru. </a:t>
            </a:r>
            <a:r>
              <a:rPr lang="pl-PL" sz="2800" dirty="0">
                <a:highlight>
                  <a:srgbClr val="FFFF00"/>
                </a:highlight>
                <a:latin typeface="Consolas" panose="020B0609020204030204" pitchFamily="49" charset="0"/>
              </a:rPr>
              <a:t>/about</a:t>
            </a:r>
          </a:p>
          <a:p>
            <a:pPr lvl="1"/>
            <a:r>
              <a:rPr lang="pl-PL" sz="2800" dirty="0"/>
              <a:t>dynamické, časti cesty sú parametrizované. </a:t>
            </a:r>
            <a:r>
              <a:rPr lang="pl-PL" sz="2800" dirty="0">
                <a:highlight>
                  <a:srgbClr val="FFFF00"/>
                </a:highlight>
                <a:latin typeface="Consolas" panose="020B0609020204030204" pitchFamily="49" charset="0"/>
              </a:rPr>
              <a:t>/users/&lt;id&gt;</a:t>
            </a:r>
            <a:endParaRPr lang="sk-SK" sz="2800" dirty="0">
              <a:highlight>
                <a:srgbClr val="FFFF00"/>
              </a:highlight>
              <a:latin typeface="Consolas" panose="020B0609020204030204" pitchFamily="49" charset="0"/>
            </a:endParaRPr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F215A51E-D270-ACDE-4768-813F11177E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 err="1"/>
              <a:t>Routovanie</a:t>
            </a: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3006323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292CAC-2966-18AA-3059-C74D4420FE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E14E8758-620E-899F-6E7F-8B823F7B7B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130" y="1610468"/>
            <a:ext cx="11300411" cy="469222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sk-SK" dirty="0"/>
              <a:t>M</a:t>
            </a:r>
            <a:r>
              <a:rPr lang="en-US" dirty="0" err="1"/>
              <a:t>ikro</a:t>
            </a:r>
            <a:r>
              <a:rPr lang="en-US" dirty="0"/>
              <a:t> web framework - </a:t>
            </a: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pip install flask</a:t>
            </a:r>
            <a:endParaRPr lang="sk-SK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sk-SK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</a:rPr>
              <a:t>@app.route("/about")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</a:rPr>
              <a:t>def about():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</a:t>
            </a: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</a:rPr>
              <a:t>return </a:t>
            </a:r>
            <a:r>
              <a:rPr lang="en-US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render_template</a:t>
            </a:r>
            <a:r>
              <a:rPr lang="en-US" sz="2400" dirty="0">
                <a:highlight>
                  <a:srgbClr val="FFFF00"/>
                </a:highlight>
                <a:latin typeface="Consolas" panose="020B0609020204030204" pitchFamily="49" charset="0"/>
              </a:rPr>
              <a:t>("about.html")</a:t>
            </a: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sk-SK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r>
              <a:rPr lang="sk-SK" dirty="0"/>
              <a:t>"</a:t>
            </a:r>
            <a:r>
              <a:rPr lang="sk-SK" dirty="0" err="1"/>
              <a:t>routes</a:t>
            </a:r>
            <a:r>
              <a:rPr lang="sk-SK" dirty="0"/>
              <a:t>" pomocou anotácií </a:t>
            </a:r>
            <a:r>
              <a:rPr lang="en-US" dirty="0">
                <a:highlight>
                  <a:srgbClr val="FFFF00"/>
                </a:highlight>
                <a:latin typeface="Consolas" panose="020B0609020204030204" pitchFamily="49" charset="0"/>
              </a:rPr>
              <a:t>@</a:t>
            </a:r>
            <a:endParaRPr lang="sk-SK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r>
              <a:rPr lang="sk-SK" dirty="0"/>
              <a:t>Statické súbory do adresára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static</a:t>
            </a:r>
            <a:r>
              <a:rPr lang="sk-SK" dirty="0"/>
              <a:t>.</a:t>
            </a:r>
          </a:p>
          <a:p>
            <a:r>
              <a:rPr lang="sk-SK" dirty="0"/>
              <a:t>HTML stránky ako šablóny do adresára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templates</a:t>
            </a:r>
            <a:endParaRPr lang="sk-SK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r>
              <a:rPr lang="sk-SK" dirty="0"/>
              <a:t>Iné </a:t>
            </a:r>
            <a:r>
              <a:rPr lang="sk-SK" dirty="0" err="1"/>
              <a:t>statusové</a:t>
            </a:r>
            <a:r>
              <a:rPr lang="sk-SK" dirty="0"/>
              <a:t> kódy ako 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200 OK</a:t>
            </a:r>
            <a:r>
              <a:rPr lang="sk-SK" dirty="0"/>
              <a:t> pomocou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abort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()</a:t>
            </a:r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9901733E-ED47-69CD-2A2A-2B6B417C16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 err="1"/>
              <a:t>Flask</a:t>
            </a: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3031020049"/>
      </p:ext>
    </p:extLst>
  </p:cSld>
  <p:clrMapOvr>
    <a:masterClrMapping/>
  </p:clrMapOvr>
</p:sld>
</file>

<file path=ppt/theme/theme1.xml><?xml version="1.0" encoding="utf-8"?>
<a:theme xmlns:a="http://schemas.openxmlformats.org/drawingml/2006/main" name="Motív Office">
  <a:themeElements>
    <a:clrScheme name="Motív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Motív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Motív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21082</TotalTime>
  <Words>420</Words>
  <Application>Microsoft Office PowerPoint</Application>
  <PresentationFormat>Širokouhlá</PresentationFormat>
  <Paragraphs>70</Paragraphs>
  <Slides>9</Slides>
  <Notes>0</Notes>
  <HiddenSlides>0</HiddenSlides>
  <MMClips>0</MMClips>
  <ScaleCrop>false</ScaleCrop>
  <HeadingPairs>
    <vt:vector size="6" baseType="variant">
      <vt:variant>
        <vt:lpstr>Použité písma</vt:lpstr>
      </vt:variant>
      <vt:variant>
        <vt:i4>4</vt:i4>
      </vt:variant>
      <vt:variant>
        <vt:lpstr>Motív</vt:lpstr>
      </vt:variant>
      <vt:variant>
        <vt:i4>1</vt:i4>
      </vt:variant>
      <vt:variant>
        <vt:lpstr>Nadpisy snímok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Consolas</vt:lpstr>
      <vt:lpstr>Motív Office</vt:lpstr>
      <vt:lpstr>Objektovo orientované programovanie - pokročilí</vt:lpstr>
      <vt:lpstr>OPGP  Pokročilí 24 </vt:lpstr>
      <vt:lpstr>URL</vt:lpstr>
      <vt:lpstr>URL</vt:lpstr>
      <vt:lpstr>Percent encoding</vt:lpstr>
      <vt:lpstr>Parsovanie URL v Pythone</vt:lpstr>
      <vt:lpstr>Routovanie </vt:lpstr>
      <vt:lpstr>Routovanie</vt:lpstr>
      <vt:lpstr>Flask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Lenka Wagnerová</dc:creator>
  <cp:lastModifiedBy>Wagner Jozef Ing., PhD.</cp:lastModifiedBy>
  <cp:revision>78</cp:revision>
  <dcterms:created xsi:type="dcterms:W3CDTF">2025-09-05T09:09:34Z</dcterms:created>
  <dcterms:modified xsi:type="dcterms:W3CDTF">2026-04-16T21:48:08Z</dcterms:modified>
</cp:coreProperties>
</file>