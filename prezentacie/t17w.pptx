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287" r:id="rId5"/>
    <p:sldId id="288" r:id="rId6"/>
    <p:sldId id="290" r:id="rId7"/>
    <p:sldId id="291" r:id="rId8"/>
    <p:sldId id="292" r:id="rId9"/>
    <p:sldId id="289" r:id="rId10"/>
    <p:sldId id="293" r:id="rId11"/>
    <p:sldId id="294" r:id="rId12"/>
    <p:sldId id="295" r:id="rId13"/>
    <p:sldId id="296" r:id="rId14"/>
    <p:sldId id="29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17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Usporiadanie</a:t>
            </a:r>
            <a:r>
              <a:rPr lang="en-US" dirty="0"/>
              <a:t> </a:t>
            </a:r>
            <a:r>
              <a:rPr lang="en-US" dirty="0" err="1"/>
              <a:t>prvkov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Prirodzené usporiadanie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Comparator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Prirodzené </a:t>
            </a:r>
            <a:r>
              <a:rPr lang="sk-SK" dirty="0" err="1"/>
              <a:t>usporiadani</a:t>
            </a:r>
            <a:r>
              <a:rPr lang="en-US" dirty="0"/>
              <a:t>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Anglicky </a:t>
            </a:r>
            <a:r>
              <a:rPr lang="sk-SK" i="1" dirty="0" err="1"/>
              <a:t>Natural</a:t>
            </a:r>
            <a:r>
              <a:rPr lang="sk-SK" i="1" dirty="0"/>
              <a:t> </a:t>
            </a:r>
            <a:r>
              <a:rPr lang="sk-SK" i="1" dirty="0" err="1"/>
              <a:t>ordering</a:t>
            </a:r>
            <a:r>
              <a:rPr lang="sk-SK" dirty="0"/>
              <a:t>, predstavuje predvolené (</a:t>
            </a:r>
            <a:r>
              <a:rPr lang="sk-SK" dirty="0" err="1"/>
              <a:t>defaultné</a:t>
            </a:r>
            <a:r>
              <a:rPr lang="sk-SK" dirty="0"/>
              <a:t>) poradie prvkov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M</a:t>
            </a:r>
            <a:r>
              <a:rPr lang="sk-SK" dirty="0"/>
              <a:t>á ho väčšina štandardných dátových typov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en-US" sz="2800" dirty="0"/>
              <a:t>,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en-US" sz="2800" dirty="0"/>
              <a:t>,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sz="2800" dirty="0"/>
              <a:t>, ... - </a:t>
            </a:r>
            <a:r>
              <a:rPr lang="en-US" sz="2800" dirty="0" err="1"/>
              <a:t>číselne</a:t>
            </a:r>
            <a:r>
              <a:rPr lang="en-US" sz="2800" dirty="0"/>
              <a:t> </a:t>
            </a:r>
            <a:r>
              <a:rPr lang="en-US" sz="2800" dirty="0" err="1"/>
              <a:t>vzostupne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sz="2800" dirty="0"/>
              <a:t> - </a:t>
            </a:r>
            <a:r>
              <a:rPr lang="en-US" sz="2800" dirty="0" err="1"/>
              <a:t>lexikograficky</a:t>
            </a:r>
            <a:r>
              <a:rPr lang="en-US" sz="2800" dirty="0"/>
              <a:t> (</a:t>
            </a:r>
            <a:r>
              <a:rPr lang="en-US" sz="2800" dirty="0" err="1"/>
              <a:t>podľa</a:t>
            </a:r>
            <a:r>
              <a:rPr lang="en-US" sz="2800" dirty="0"/>
              <a:t> Unicode)</a:t>
            </a:r>
          </a:p>
          <a:p>
            <a:pPr lvl="1">
              <a:lnSpc>
                <a:spcPct val="100000"/>
              </a:lnSpc>
            </a:pP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</a:t>
            </a:r>
            <a:r>
              <a:rPr lang="en-US" sz="2800" dirty="0"/>
              <a:t> - od </a:t>
            </a:r>
            <a:r>
              <a:rPr lang="en-US" sz="2800" dirty="0" err="1"/>
              <a:t>najstaršieho</a:t>
            </a:r>
            <a:r>
              <a:rPr lang="en-US" sz="2800" dirty="0"/>
              <a:t> </a:t>
            </a:r>
            <a:r>
              <a:rPr lang="en-US" sz="2800" dirty="0" err="1"/>
              <a:t>dátumu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en-US" sz="2800" dirty="0"/>
              <a:t> - </a:t>
            </a:r>
            <a:r>
              <a:rPr lang="en-US" sz="2800" dirty="0" err="1"/>
              <a:t>podľa</a:t>
            </a:r>
            <a:r>
              <a:rPr lang="en-US" sz="2800" dirty="0"/>
              <a:t> </a:t>
            </a:r>
            <a:r>
              <a:rPr lang="en-US" sz="2800" dirty="0" err="1"/>
              <a:t>poradia</a:t>
            </a:r>
            <a:r>
              <a:rPr lang="en-US" sz="2800" dirty="0"/>
              <a:t> </a:t>
            </a:r>
            <a:r>
              <a:rPr lang="en-US" sz="2800" dirty="0" err="1"/>
              <a:t>deklarácie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580D0-B9D9-74F5-88D1-B0C7686F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1C3258-7EE6-025D-A0E9-E4FE7EA2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Usporiadanie </a:t>
            </a:r>
            <a:r>
              <a:rPr lang="en-US" dirty="0"/>
              <a:t>po</a:t>
            </a:r>
            <a:r>
              <a:rPr lang="sk-SK" dirty="0"/>
              <a:t>ľa čísel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CA75339-A71A-3322-1B57-1A1065A9C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95528"/>
            <a:ext cx="11512296" cy="59168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Vytvoríme pole čísel</a:t>
            </a: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poleCisel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{4, 5, 2, 1, 3};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4, 5, 2, 1, 3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Usporiadanie vzostupne (od najmenšieho po najväčšie)</a:t>
            </a:r>
          </a:p>
          <a:p>
            <a:pPr marL="0" indent="0"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Arrays.sort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poleCisel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1, 2, 3, 4, 5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Usporiadanie zostupne (od najväčšieho po najmenšie)</a:t>
            </a: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Arrays.sort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poleCisel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Comparator.reverseOrder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5, 4, 3, 2, 1</a:t>
            </a:r>
          </a:p>
        </p:txBody>
      </p:sp>
    </p:spTree>
    <p:extLst>
      <p:ext uri="{BB962C8B-B14F-4D97-AF65-F5344CB8AC3E}">
        <p14:creationId xmlns:p14="http://schemas.microsoft.com/office/powerpoint/2010/main" val="348878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40B33-9C55-5F2B-93DB-67631951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CEB6B0-63AD-48F9-204D-F53F6AA7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Usporiadanie </a:t>
            </a:r>
            <a:r>
              <a:rPr lang="en-US" dirty="0" err="1"/>
              <a:t>zoznamu</a:t>
            </a:r>
            <a:r>
              <a:rPr lang="sk-SK" dirty="0"/>
              <a:t> čísel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D2F65E8-43E2-A1DD-F7F6-E6F886E7A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95528"/>
            <a:ext cx="11512296" cy="59168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Zoznam čísel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List&lt;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ArrayList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&lt;&gt;();</a:t>
            </a: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cisla.add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(4);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cisla.add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(5);</a:t>
            </a: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cisla.add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(2);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cisla.add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(1);</a:t>
            </a: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cisla.add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(3);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Vytvorenie kópie zoznamu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kopírovací konštruktor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List&lt;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cislaVzostupne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ArrayList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&lt;&gt;(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Prirodzené zotriedenie vzostupne</a:t>
            </a:r>
          </a:p>
          <a:p>
            <a:pPr marL="0" indent="0"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Collections.sort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cislaVzostupne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1, 2, 3, 4, 5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614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39EB2-BC11-E546-47BC-8484FDD77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7F44CC-37B9-21AF-78C0-A590589E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Comparator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54B5B6-4621-4D65-D6CB-73DE6A7C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40696" cy="498007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Ak chceme iné ako prirodzené usporiadanie, alebo ak trieda nemá svoje prirodzené usporiadanie, musíme určiť vlastné pravidlá.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Vlastné </a:t>
            </a:r>
            <a:r>
              <a:rPr lang="sk-SK" dirty="0" err="1"/>
              <a:t>usporiadani</a:t>
            </a:r>
            <a:r>
              <a:rPr lang="en-US" dirty="0"/>
              <a:t>e </a:t>
            </a:r>
            <a:r>
              <a:rPr lang="en-US" dirty="0" err="1"/>
              <a:t>sa</a:t>
            </a:r>
            <a:r>
              <a:rPr lang="sk-SK" dirty="0"/>
              <a:t> implementuj</a:t>
            </a:r>
            <a:r>
              <a:rPr lang="en-US" dirty="0"/>
              <a:t>e</a:t>
            </a:r>
            <a:r>
              <a:rPr lang="sk-SK" dirty="0"/>
              <a:t> pomocou rozhrania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java.util.Comparator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Comparator</a:t>
            </a:r>
            <a:r>
              <a:rPr lang="sk-SK" dirty="0"/>
              <a:t> je malé rozhranie, ktoré vie porovnať dva objekty a povedať, ktorý má ísť skôr.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interface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Comparator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&lt;T&gt;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(T o1, T o2);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351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6F65B-290A-33EA-0016-9B13D175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344CBD-A506-D835-F8D4-D6229F57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Comparator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39F2B7E-39C2-E431-B931-96CF51336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Základom </a:t>
            </a:r>
            <a:r>
              <a:rPr lang="sk-SK" dirty="0" err="1"/>
              <a:t>Comparatora</a:t>
            </a:r>
            <a:r>
              <a:rPr lang="sk-SK" dirty="0"/>
              <a:t> je metóda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</a:t>
            </a:r>
            <a:r>
              <a:rPr lang="sk-SK" dirty="0"/>
              <a:t>, pomocou ktorej bude Java vedieť porovnať 2 objekty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sk-SK" dirty="0"/>
              <a:t>Táto metóda má vrátiť číslo podľa nasledovných pravidiel:</a:t>
            </a:r>
          </a:p>
          <a:p>
            <a:pPr lvl="1"/>
            <a:r>
              <a:rPr lang="sk-SK" sz="2800" dirty="0"/>
              <a:t>vráti číslo </a:t>
            </a:r>
            <a:r>
              <a:rPr lang="sk-SK" sz="2800" b="1" dirty="0"/>
              <a:t>menšie ako 0 </a:t>
            </a:r>
            <a:r>
              <a:rPr lang="sk-SK" sz="2800" dirty="0"/>
              <a:t>ak o1 je „menší“ ako o2</a:t>
            </a:r>
          </a:p>
          <a:p>
            <a:pPr lvl="1"/>
            <a:r>
              <a:rPr lang="sk-SK" sz="2800" dirty="0"/>
              <a:t>vráti </a:t>
            </a:r>
            <a:r>
              <a:rPr lang="sk-SK" sz="2800" b="1" dirty="0"/>
              <a:t>0</a:t>
            </a:r>
            <a:r>
              <a:rPr lang="sk-SK" sz="2800" dirty="0"/>
              <a:t> ak je rovnaké poradie</a:t>
            </a:r>
          </a:p>
          <a:p>
            <a:pPr lvl="1"/>
            <a:r>
              <a:rPr lang="sk-SK" sz="2800" dirty="0"/>
              <a:t>vráti číslo </a:t>
            </a:r>
            <a:r>
              <a:rPr lang="sk-SK" sz="2800" b="1" dirty="0"/>
              <a:t>väčšie ako 0 </a:t>
            </a:r>
            <a:r>
              <a:rPr lang="sk-SK" sz="2800" dirty="0"/>
              <a:t>ak o1 je „väčší“ ako o2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596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CA7307-AD4F-6B71-5EAF-A06D45A2C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15788C-2962-E5B2-AEA2-8BEF0E5D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Comparator</a:t>
            </a:r>
            <a:r>
              <a:rPr lang="sk-SK" dirty="0"/>
              <a:t> príklad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9DB53B9-7B9A-8AB9-407F-B8BB8B77D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35608"/>
            <a:ext cx="11265408" cy="523036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class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IntegerComparator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implements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Comparator&lt;Integer&gt;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@Override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public int compare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(Integer a, Integer b)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if (a &lt; b) return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-1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if (a &gt; b) return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return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};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//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Collections.sort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cisla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new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IntegerComparator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78381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BFA22-FFC1-3BBD-8C42-234D1B03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00D2C2-A337-E1B4-2CCC-A948B02A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Zotriedenie objektov podľa atribútu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1FE1BFF-947D-92B9-77B5-6302E9281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95528"/>
            <a:ext cx="11512296" cy="5916802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/>
              <a:t>Typické použitie </a:t>
            </a:r>
            <a:r>
              <a:rPr lang="sk-SK" dirty="0" err="1"/>
              <a:t>Comparatora</a:t>
            </a:r>
            <a:r>
              <a:rPr lang="sk-SK" dirty="0"/>
              <a:t> je pri usporiadaní objektov našich vlastných tried, </a:t>
            </a:r>
            <a:br>
              <a:rPr lang="sk-SK" dirty="0"/>
            </a:br>
            <a:r>
              <a:rPr lang="sk-SK" dirty="0"/>
              <a:t>ktoré nemajú prirodzené usporiadanie.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Osoba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priezvisko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Pohlavie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pohlavie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Osoba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priezvisko, </a:t>
            </a:r>
            <a:b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     Pohlavie pohlavie,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meno;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this.priezvisko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priezvisko;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this.pohlavie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pohlavie;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getMeno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getPriezvisko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priezvisko;}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2947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93067-32DC-F97F-87F8-ED4B97FA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4D66B8-74F0-DB2C-0CE8-8FCA65392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Zotriedenie objektov podľa atribútu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55259FF-DD68-22F3-E9DE-8403FCE1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" y="795528"/>
            <a:ext cx="11932920" cy="591680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/>
              <a:t>Keďže dátum narodenia je typu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</a:t>
            </a:r>
            <a:r>
              <a:rPr lang="sk-SK" sz="2400" dirty="0"/>
              <a:t> a táto trieda má prirodzené usporiadanie, vieme toto prirodzené usporiadanie využiť, a to pomocou volania metódy 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compareTo</a:t>
            </a:r>
            <a:r>
              <a:rPr lang="sk-SK" sz="2400" dirty="0"/>
              <a:t>, ktorá porovnáva 2 objekty podobne ako </a:t>
            </a:r>
            <a:r>
              <a:rPr lang="sk-SK" sz="2400" dirty="0" err="1"/>
              <a:t>comparator</a:t>
            </a:r>
            <a:r>
              <a:rPr lang="sk-SK" sz="2400" dirty="0"/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NarodenieComparator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&lt;Osoba&gt;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(Osoba a, Osoba b)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a.getDatumNarodenia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compareTo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b.getDatumNarodenia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List&lt;Osoba&gt;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zoradene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ArrayList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&lt;&gt;(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osoby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Collections.sort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zoradene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 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NarodenieComparator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04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471477-F944-3AB9-EF89-E3F99CB25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3B5AB6-D978-8376-5509-22E83231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Zotriedenie textu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7F81260-1C13-171F-98C9-1DE9AE52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" y="795528"/>
            <a:ext cx="11932920" cy="591680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/>
              <a:t>Prirodzené usporiadanie </a:t>
            </a:r>
            <a:r>
              <a:rPr lang="sk-SK" sz="2400" dirty="0" err="1"/>
              <a:t>Stringov</a:t>
            </a:r>
            <a:r>
              <a:rPr lang="sk-SK" sz="2400" dirty="0"/>
              <a:t> je lexikograficky, ktoré vyhovuje pre väčšinu prípadov. </a:t>
            </a:r>
            <a:br>
              <a:rPr lang="sk-SK" sz="2400" dirty="0"/>
            </a:br>
            <a:r>
              <a:rPr lang="sk-SK" sz="2400" dirty="0"/>
              <a:t>Ak však chceme porovnávať text v slovenčine, lexikografické porovnanie nám pri diakritike bude robiť problém.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PriezviskoComparator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&lt;Osoba&gt;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(Osoba a, Osoba b)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a.getPriezvisko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compareTo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b.getPriezvisko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...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List&lt;Osoba&gt; zoradene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ArrayList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&lt;&gt;(osoby);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Collections.sort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(zoradene,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PriezviskoComparator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84158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9629C-A8C4-7107-79F2-ED1F1A67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DFD5E2-4240-02AB-049C-3EFE43DC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Zotriedenie textu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4FBC14-D2E8-2258-9760-A350AFBE6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" y="795528"/>
            <a:ext cx="11932920" cy="591680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Podla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priezviska: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Andrej Bartoš, 1974-02-21: Javorová 5, Martin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Peter Horváth, 1978-11-04: Dlhá 7, Trnava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Martina Kováčová, 1992-07-25: Školská 45, Košice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Veronika Králiková, 2001-08-02: Lipová 10, Trenčín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Zuzana Miháliková, 1982-05-06: Líščia 21, Prešov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Ján Novák, 1985-03-12: Hlavná 12, Bratislava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Lucia Tóthová, 2000-01-18: Mlynská 3, Nitra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Tomáš Urban, 1999-12-14: Borovicová 6, Banská Bystrica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Marek Varga, 1995-09-30: Kvetná 18, Žilina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Katarína Šimková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1988-10-09: Dubová 8, Piešťany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/>
              <a:t>Ako vidno z výstupu, posledná osoba je na zlom mieste. Je to kvôli diakritike, </a:t>
            </a:r>
            <a:br>
              <a:rPr lang="sk-SK" sz="2400" dirty="0"/>
            </a:br>
            <a:r>
              <a:rPr lang="sk-SK" sz="2400" dirty="0"/>
              <a:t>kde písmeno Š je lexikograficky podľa </a:t>
            </a:r>
            <a:r>
              <a:rPr lang="sk-SK" sz="2400" dirty="0" err="1"/>
              <a:t>Unicode</a:t>
            </a:r>
            <a:r>
              <a:rPr lang="sk-SK" sz="2400" dirty="0"/>
              <a:t> až za klasickými písmenami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0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F7FDE-A819-EFF3-8F5A-5C83E820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C97B3B-3ECC-2994-38BD-3F3740966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Zotriedenie textu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B7326E2-D53A-4F16-589C-C4A4CFCC4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" y="795528"/>
            <a:ext cx="11932920" cy="591680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PriezviskoComparator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&lt;Osoba&gt;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Collator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collator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Collator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nakonfigurujeme v inicializačnom bloku triedy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collator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Collator.getInstance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Locale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", "SK"));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collator.setStrength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Collator.SECONDARY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(Osoba a, Osoba b)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collator.compare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a.getPriezvisko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b.getPriezvisko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6248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85721-BE91-73E9-AF02-E67982404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925141-EB68-FEE3-B90A-4202E839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Zotriedenie podľa viacerých atribútov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5C788C4-77D8-603D-CCF2-2EA33866B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" y="795528"/>
            <a:ext cx="11932920" cy="591680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MultiComparator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&lt;Osoba&gt;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(Osoba a, Osoba b)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r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a.getPohlavie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compareTo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b.getPohlavie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Ak prvé porovnanie objekty usporiadalo,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tak už nemusíme porovnávať podľa druhého atribútu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(r != 0)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r;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b.getDatumNarodenia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compareTo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a.getDatumNarodenia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883473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8958</TotalTime>
  <Words>1038</Words>
  <Application>Microsoft Office PowerPoint</Application>
  <PresentationFormat>Širokouhlá</PresentationFormat>
  <Paragraphs>154</Paragraphs>
  <Slides>14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17</vt:lpstr>
      <vt:lpstr>Prirodzené usporiadanie</vt:lpstr>
      <vt:lpstr>Usporiadanie poľa čísel</vt:lpstr>
      <vt:lpstr>Usporiadanie zoznamu čísel</vt:lpstr>
      <vt:lpstr>Comparator</vt:lpstr>
      <vt:lpstr>Comparator</vt:lpstr>
      <vt:lpstr>Comparator príklad</vt:lpstr>
      <vt:lpstr>Zotriedenie objektov podľa atribútu</vt:lpstr>
      <vt:lpstr>Zotriedenie objektov podľa atribútu</vt:lpstr>
      <vt:lpstr>Zotriedenie textu</vt:lpstr>
      <vt:lpstr>Zotriedenie textu</vt:lpstr>
      <vt:lpstr>Zotriedenie textu</vt:lpstr>
      <vt:lpstr>Zotriedenie podľa viacerých atribútov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68</cp:revision>
  <dcterms:created xsi:type="dcterms:W3CDTF">2025-09-05T09:09:34Z</dcterms:created>
  <dcterms:modified xsi:type="dcterms:W3CDTF">2026-01-18T18:48:12Z</dcterms:modified>
</cp:coreProperties>
</file>