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66" r:id="rId2"/>
    <p:sldId id="257" r:id="rId3"/>
    <p:sldId id="258" r:id="rId4"/>
    <p:sldId id="288" r:id="rId5"/>
    <p:sldId id="289" r:id="rId6"/>
    <p:sldId id="290" r:id="rId7"/>
    <p:sldId id="292" r:id="rId8"/>
    <p:sldId id="293" r:id="rId9"/>
    <p:sldId id="294" r:id="rId10"/>
    <p:sldId id="291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447" autoAdjust="0"/>
    <p:restoredTop sz="94660"/>
  </p:normalViewPr>
  <p:slideViewPr>
    <p:cSldViewPr snapToGrid="0">
      <p:cViewPr varScale="1">
        <p:scale>
          <a:sx n="84" d="100"/>
          <a:sy n="84" d="100"/>
        </p:scale>
        <p:origin x="86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á sním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sk-SK"/>
              <a:t>Kliknutím upravte štýl predlohy podnadpisu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25. 9. 2025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3913655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25. 9. 2025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0742699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Hlavička sekc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25. 9. 2025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1072810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25. 9. 2025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653527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25. 9. 2025</a:t>
            </a:fld>
            <a:endParaRPr lang="sk-S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6743690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en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25. 9. 2025</a:t>
            </a:fld>
            <a:endParaRPr lang="sk-S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9078421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25. 9. 2025</a:t>
            </a:fld>
            <a:endParaRPr lang="sk-S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5175150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25. 9. 2025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3081963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ok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sk-SK"/>
              <a:t>Kliknutím na ikonu pridáte obrázok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25. 9. 2025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6090709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z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25. 9. 2025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8880637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Z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25. 9. 2025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65209140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052495-8BC8-4CFB-94B1-B0429F101A0D}" type="datetimeFigureOut">
              <a:rPr lang="sk-SK" smtClean="0"/>
              <a:t>25. 9. 2025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6828127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oop.wagjo.com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4026A73-1F7F-49F2-B319-8CA3B3D532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8E144086-9642-901A-F3D2-FA2652CA9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899" y="1188637"/>
            <a:ext cx="3323955" cy="4480726"/>
          </a:xfrm>
        </p:spPr>
        <p:txBody>
          <a:bodyPr>
            <a:normAutofit/>
          </a:bodyPr>
          <a:lstStyle/>
          <a:p>
            <a:pPr algn="r"/>
            <a:r>
              <a:rPr lang="sk-SK" sz="4000" dirty="0"/>
              <a:t>Objektovo orientované programovanie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8685716B-C55C-CDF8-4632-389CB907CA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8928" y="1338729"/>
            <a:ext cx="4795584" cy="4180542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sk-SK" dirty="0"/>
          </a:p>
          <a:p>
            <a:pPr marL="0" indent="0">
              <a:buNone/>
            </a:pPr>
            <a:r>
              <a:rPr lang="sk-SK" dirty="0"/>
              <a:t>Učiteľ: </a:t>
            </a:r>
            <a:br>
              <a:rPr lang="sk-SK" dirty="0"/>
            </a:br>
            <a:r>
              <a:rPr lang="sk-SK" b="1" dirty="0"/>
              <a:t>Ing. Jozef Wagner PhD.</a:t>
            </a:r>
          </a:p>
          <a:p>
            <a:pPr marL="0" indent="0">
              <a:buNone/>
            </a:pPr>
            <a:endParaRPr lang="sk-SK" b="1" dirty="0"/>
          </a:p>
          <a:p>
            <a:pPr marL="0" indent="0">
              <a:buNone/>
            </a:pPr>
            <a:r>
              <a:rPr lang="sk-SK" dirty="0"/>
              <a:t>Učebnica: </a:t>
            </a:r>
            <a:br>
              <a:rPr lang="sk-SK" dirty="0"/>
            </a:br>
            <a:r>
              <a:rPr lang="sk-SK" dirty="0">
                <a:hlinkClick r:id="rId2"/>
              </a:rPr>
              <a:t>https://oop.wagjo.com/</a:t>
            </a:r>
            <a:r>
              <a:rPr lang="sk-SK" dirty="0"/>
              <a:t> </a:t>
            </a:r>
          </a:p>
          <a:p>
            <a:pPr marL="0" indent="0">
              <a:buNone/>
            </a:pP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25174436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4026A73-1F7F-49F2-B319-8CA3B3D532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B3680000-8E97-7BCD-0373-6D09E72013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786" y="1188637"/>
            <a:ext cx="3141430" cy="4480726"/>
          </a:xfrm>
        </p:spPr>
        <p:txBody>
          <a:bodyPr>
            <a:normAutofit/>
          </a:bodyPr>
          <a:lstStyle/>
          <a:p>
            <a:pPr algn="r"/>
            <a:r>
              <a:rPr lang="sk-SK" sz="4000" dirty="0"/>
              <a:t>OPG</a:t>
            </a:r>
            <a:br>
              <a:rPr lang="sk-SK" sz="4000" dirty="0"/>
            </a:br>
            <a:r>
              <a:rPr lang="sk-SK" sz="4000" dirty="0"/>
              <a:t>Teória </a:t>
            </a:r>
            <a:r>
              <a:rPr lang="en-US" sz="4000" dirty="0"/>
              <a:t>5</a:t>
            </a:r>
            <a:endParaRPr lang="sk-SK" sz="4000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19A88E58-5472-E350-E606-D7A492AB52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8928" y="1338729"/>
            <a:ext cx="4795584" cy="4180542"/>
          </a:xfrm>
        </p:spPr>
        <p:txBody>
          <a:bodyPr anchor="ctr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Spr</a:t>
            </a:r>
            <a:r>
              <a:rPr lang="sk-SK" dirty="0" err="1"/>
              <a:t>áva</a:t>
            </a:r>
            <a:r>
              <a:rPr lang="sk-SK" dirty="0"/>
              <a:t> chýb pomocou výnimiek</a:t>
            </a:r>
          </a:p>
        </p:txBody>
      </p:sp>
    </p:spTree>
    <p:extLst>
      <p:ext uri="{BB962C8B-B14F-4D97-AF65-F5344CB8AC3E}">
        <p14:creationId xmlns:p14="http://schemas.microsoft.com/office/powerpoint/2010/main" val="2991288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6D5FFFD-949C-5777-368D-7616CC67C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sz="4000" dirty="0"/>
              <a:t>Výnimka - </a:t>
            </a:r>
            <a:r>
              <a:rPr lang="sk-SK" sz="4000" dirty="0" err="1"/>
              <a:t>Exception</a:t>
            </a:r>
            <a:endParaRPr lang="sk-SK" sz="4000" dirty="0"/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F834EA18-2911-E0AA-A6B4-7AC44110B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89316" y="1603602"/>
            <a:ext cx="8953716" cy="4720998"/>
          </a:xfrm>
        </p:spPr>
        <p:txBody>
          <a:bodyPr>
            <a:normAutofit/>
          </a:bodyPr>
          <a:lstStyle/>
          <a:p>
            <a:pPr marL="0" indent="0">
              <a:spcBef>
                <a:spcPts val="1200"/>
              </a:spcBef>
              <a:buNone/>
            </a:pPr>
            <a:r>
              <a:rPr lang="sk-SK" dirty="0"/>
              <a:t>Výnimka je objekt, ktorý reprezentuje chybový alebo nečakaný stav počas behu programu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sk-SK" sz="2800" dirty="0"/>
              <a:t>Ak nastane chyba, program 'vyhodí' výnimku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sk-SK" sz="2800" dirty="0"/>
              <a:t>Vyhodená výnimka sa musí ošetriť v metóde, kde nastala, alebo v nadradených metódach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sk-SK" sz="2800" dirty="0"/>
              <a:t>Ak sa neošetrí ani v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main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  <a:r>
              <a:rPr lang="sk-SK" sz="2800" dirty="0"/>
              <a:t>, tak program skončí chybou</a:t>
            </a:r>
          </a:p>
          <a:p>
            <a:pPr marL="0" indent="0">
              <a:spcBef>
                <a:spcPts val="1200"/>
              </a:spcBef>
              <a:buNone/>
            </a:pPr>
            <a:endParaRPr lang="sk-SK" sz="2800" dirty="0"/>
          </a:p>
        </p:txBody>
      </p:sp>
    </p:spTree>
    <p:extLst>
      <p:ext uri="{BB962C8B-B14F-4D97-AF65-F5344CB8AC3E}">
        <p14:creationId xmlns:p14="http://schemas.microsoft.com/office/powerpoint/2010/main" val="4278490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5377E2-30BD-E96D-EE42-A331CC88A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F4BE05C-7362-5EA8-1FB8-F78DCC75AE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sz="4000" dirty="0"/>
              <a:t>Kategórie výnimiek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ADB6A392-C9C6-DDED-D19B-293D8E7532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7604" y="1996794"/>
            <a:ext cx="9484068" cy="3919374"/>
          </a:xfrm>
        </p:spPr>
        <p:txBody>
          <a:bodyPr>
            <a:normAutofit/>
          </a:bodyPr>
          <a:lstStyle/>
          <a:p>
            <a:pPr marL="514350" indent="-514350">
              <a:spcBef>
                <a:spcPts val="1200"/>
              </a:spcBef>
              <a:buFont typeface="+mj-lt"/>
              <a:buAutoNum type="arabicPeriod"/>
            </a:pPr>
            <a:r>
              <a:rPr lang="sk-SK" b="1" dirty="0" err="1"/>
              <a:t>Errors</a:t>
            </a:r>
            <a:r>
              <a:rPr lang="sk-SK" dirty="0"/>
              <a:t> - Veľmi vážne chyby programu, neošetrujeme, program by sa mal ukončiť</a:t>
            </a:r>
          </a:p>
          <a:p>
            <a:pPr marL="514350" indent="-514350">
              <a:spcBef>
                <a:spcPts val="1200"/>
              </a:spcBef>
              <a:buFont typeface="+mj-lt"/>
              <a:buAutoNum type="arabicPeriod"/>
            </a:pPr>
            <a:r>
              <a:rPr lang="sk-SK" b="1" dirty="0" err="1"/>
              <a:t>Unchecked</a:t>
            </a:r>
            <a:r>
              <a:rPr lang="sk-SK" b="1" dirty="0"/>
              <a:t> </a:t>
            </a:r>
            <a:r>
              <a:rPr lang="sk-SK" b="1" dirty="0" err="1"/>
              <a:t>Exceptions</a:t>
            </a:r>
            <a:r>
              <a:rPr lang="sk-SK" b="1" dirty="0"/>
              <a:t> </a:t>
            </a:r>
            <a:r>
              <a:rPr lang="sk-SK" dirty="0"/>
              <a:t>- Bežné chyby pri programovaní</a:t>
            </a:r>
          </a:p>
          <a:p>
            <a:pPr marL="514350" indent="-514350">
              <a:spcBef>
                <a:spcPts val="1200"/>
              </a:spcBef>
              <a:buFont typeface="+mj-lt"/>
              <a:buAutoNum type="arabicPeriod"/>
            </a:pPr>
            <a:r>
              <a:rPr lang="sk-SK" b="1" dirty="0" err="1"/>
              <a:t>Checked</a:t>
            </a:r>
            <a:r>
              <a:rPr lang="sk-SK" b="1" dirty="0"/>
              <a:t> </a:t>
            </a:r>
            <a:r>
              <a:rPr lang="sk-SK" b="1" dirty="0" err="1"/>
              <a:t>Exceptions</a:t>
            </a:r>
            <a:r>
              <a:rPr lang="sk-SK" b="1" dirty="0"/>
              <a:t> </a:t>
            </a:r>
            <a:r>
              <a:rPr lang="sk-SK" dirty="0"/>
              <a:t>- Vážnejšie chyby, ktoré musíme ošetriť, inak sa program ani neskompiluje a nespustí</a:t>
            </a:r>
          </a:p>
        </p:txBody>
      </p:sp>
    </p:spTree>
    <p:extLst>
      <p:ext uri="{BB962C8B-B14F-4D97-AF65-F5344CB8AC3E}">
        <p14:creationId xmlns:p14="http://schemas.microsoft.com/office/powerpoint/2010/main" val="8408257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9ADF89-7FDC-61EB-4CF3-69A68C647F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B4C42BD-60FE-8543-266F-0E0155B91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endParaRPr lang="sk-SK" sz="4000" dirty="0"/>
          </a:p>
        </p:txBody>
      </p:sp>
      <p:pic>
        <p:nvPicPr>
          <p:cNvPr id="12" name="Zástupný objekt pre obsah 11" descr="Obrázok, na ktorom je text, diagram, rad, snímka obrazovky&#10;&#10;Obsah vygenerovaný pomocou AI môže byť nesprávny.">
            <a:extLst>
              <a:ext uri="{FF2B5EF4-FFF2-40B4-BE49-F238E27FC236}">
                <a16:creationId xmlns:a16="http://schemas.microsoft.com/office/drawing/2014/main" id="{D6BE385F-EFFA-3A21-311D-BA61F2A2053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7590" y="190388"/>
            <a:ext cx="9507610" cy="6658087"/>
          </a:xfrm>
        </p:spPr>
      </p:pic>
    </p:spTree>
    <p:extLst>
      <p:ext uri="{BB962C8B-B14F-4D97-AF65-F5344CB8AC3E}">
        <p14:creationId xmlns:p14="http://schemas.microsoft.com/office/powerpoint/2010/main" val="16681727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8FEE28-EEB1-17ED-22C6-CAE951297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7D42DA8-9599-5ABC-55D0-D7CB7D6DD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Zachytenie výnimiek</a:t>
            </a:r>
            <a:endParaRPr lang="sk-SK" sz="4000" dirty="0"/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292BB5FB-2EE6-16DB-A093-A7B0177461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0148" y="1603602"/>
            <a:ext cx="10333652" cy="4720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sk-SK" dirty="0"/>
              <a:t>Pomocou </a:t>
            </a:r>
            <a:r>
              <a:rPr lang="sk-SK" dirty="0" err="1"/>
              <a:t>try-catch</a:t>
            </a:r>
            <a:r>
              <a:rPr lang="sk-SK" dirty="0"/>
              <a:t> blokov</a:t>
            </a:r>
          </a:p>
          <a:p>
            <a:pPr marL="0" indent="0">
              <a:spcBef>
                <a:spcPts val="0"/>
              </a:spcBef>
              <a:buNone/>
            </a:pPr>
            <a:endParaRPr lang="sk-SK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try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{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// kód, ktorý môže vyhodiť výnimku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}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catch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TypVynimky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e) 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{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// spracovanie výnimky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}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finally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{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// vždy sa vykoná, aj keď došlo k výnimke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</a:p>
          <a:p>
            <a:pPr marL="0" indent="0">
              <a:spcBef>
                <a:spcPts val="0"/>
              </a:spcBef>
              <a:buNone/>
            </a:pP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sk-SK" dirty="0"/>
              <a:t>Nepovinný blok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finally</a:t>
            </a:r>
            <a:r>
              <a:rPr lang="sk-SK" dirty="0"/>
              <a:t> sa vykoná vždy, či nastala chyba alebo nie</a:t>
            </a:r>
            <a:endParaRPr lang="sk-SK" sz="2800" dirty="0"/>
          </a:p>
        </p:txBody>
      </p:sp>
    </p:spTree>
    <p:extLst>
      <p:ext uri="{BB962C8B-B14F-4D97-AF65-F5344CB8AC3E}">
        <p14:creationId xmlns:p14="http://schemas.microsoft.com/office/powerpoint/2010/main" val="12646010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66FB7F-0306-7C1A-EB8B-7A8FE7B90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AAFC8DE-5CF0-1B8D-420C-6BBD181297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Zachytenie výnimiek</a:t>
            </a:r>
            <a:endParaRPr lang="sk-SK" sz="4000" dirty="0"/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C45C84BB-DC7B-8611-6D09-7C4917D793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0148" y="1603602"/>
            <a:ext cx="10333652" cy="4720998"/>
          </a:xfrm>
        </p:spPr>
        <p:txBody>
          <a:bodyPr>
            <a:norm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try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{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a = 10;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b = 0;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result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= a / b; // toto spôsobí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ArithmeticException</a:t>
            </a:r>
            <a:endParaRPr lang="sk-SK" sz="24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System.out.println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("Výsledok: " +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result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}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catch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(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ArithmeticException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e) {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System.out.println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("Chyba: nemožno deliť nulou!");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System.out.println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("Detail chyby: " +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e.getMessage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  <a:endParaRPr lang="sk-SK" sz="2400" b="1" dirty="0">
              <a:highlight>
                <a:srgbClr val="FFFF00"/>
              </a:highlight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92272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70B683-B02B-C18E-9A9C-0CDD8F46AC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56980C51-92B3-B5C4-C0F1-9889C12291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Zachytenie výnimiek</a:t>
            </a:r>
            <a:endParaRPr lang="sk-SK" sz="4000" dirty="0"/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1565F0B0-B9E0-9C23-FEF0-D3230EF4F8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0148" y="1603602"/>
            <a:ext cx="10333652" cy="4720998"/>
          </a:xfrm>
        </p:spPr>
        <p:txBody>
          <a:bodyPr>
            <a:norm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sk-SK" dirty="0"/>
              <a:t>Neošetrené </a:t>
            </a:r>
            <a:r>
              <a:rPr lang="sk-SK" b="1" dirty="0" err="1"/>
              <a:t>checked</a:t>
            </a:r>
            <a:r>
              <a:rPr lang="sk-SK" b="1" dirty="0"/>
              <a:t> výnimky</a:t>
            </a:r>
            <a:r>
              <a:rPr lang="sk-SK" dirty="0"/>
              <a:t> musíme uviesť v deklarácii metódy pomocou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throws</a:t>
            </a:r>
            <a:endParaRPr lang="en-US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en-US" dirty="0"/>
          </a:p>
          <a:p>
            <a:pPr marL="0" indent="0">
              <a:spcBef>
                <a:spcPts val="0"/>
              </a:spcBef>
              <a:buNone/>
            </a:pPr>
            <a:r>
              <a:rPr lang="en-US" sz="2400" dirty="0">
                <a:highlight>
                  <a:srgbClr val="FFFF00"/>
                </a:highlight>
                <a:latin typeface="Consolas" panose="020B0609020204030204" pitchFamily="49" charset="0"/>
              </a:rPr>
              <a:t>public void </a:t>
            </a:r>
            <a:r>
              <a:rPr lang="en-US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readFile</a:t>
            </a:r>
            <a:r>
              <a:rPr lang="en-US" sz="2400" dirty="0">
                <a:highlight>
                  <a:srgbClr val="FFFF00"/>
                </a:highlight>
                <a:latin typeface="Consolas" panose="020B0609020204030204" pitchFamily="49" charset="0"/>
              </a:rPr>
              <a:t>(String </a:t>
            </a:r>
            <a:r>
              <a:rPr lang="en-US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filePath</a:t>
            </a:r>
            <a:r>
              <a:rPr lang="en-US" sz="2400" dirty="0">
                <a:highlight>
                  <a:srgbClr val="FFFF00"/>
                </a:highlight>
                <a:latin typeface="Consolas" panose="020B0609020204030204" pitchFamily="49" charset="0"/>
              </a:rPr>
              <a:t>) </a:t>
            </a:r>
            <a:r>
              <a:rPr lang="en-US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throws </a:t>
            </a:r>
            <a:r>
              <a:rPr lang="en-US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IOException</a:t>
            </a:r>
            <a:r>
              <a:rPr lang="en-US" sz="2400" dirty="0">
                <a:highlight>
                  <a:srgbClr val="FFFF00"/>
                </a:highlight>
                <a:latin typeface="Consolas" panose="020B0609020204030204" pitchFamily="49" charset="0"/>
              </a:rPr>
              <a:t> {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en-US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BufferedReader</a:t>
            </a:r>
            <a:r>
              <a:rPr lang="en-US" sz="2400" dirty="0">
                <a:highlight>
                  <a:srgbClr val="FFFF00"/>
                </a:highlight>
                <a:latin typeface="Consolas" panose="020B0609020204030204" pitchFamily="49" charset="0"/>
              </a:rPr>
              <a:t> reader =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2400" dirty="0">
                <a:highlight>
                  <a:srgbClr val="FFFF00"/>
                </a:highlight>
                <a:latin typeface="Consolas" panose="020B0609020204030204" pitchFamily="49" charset="0"/>
              </a:rPr>
              <a:t>	  new </a:t>
            </a:r>
            <a:r>
              <a:rPr lang="en-US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BufferedReader</a:t>
            </a:r>
            <a:r>
              <a:rPr lang="en-US" sz="2400" dirty="0">
                <a:highlight>
                  <a:srgbClr val="FFFF00"/>
                </a:highlight>
                <a:latin typeface="Consolas" panose="020B0609020204030204" pitchFamily="49" charset="0"/>
              </a:rPr>
              <a:t>(new </a:t>
            </a:r>
            <a:r>
              <a:rPr lang="en-US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FileReader</a:t>
            </a:r>
            <a:r>
              <a:rPr lang="en-US" sz="2400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filePath</a:t>
            </a:r>
            <a:r>
              <a:rPr lang="en-US" sz="2400" dirty="0">
                <a:highlight>
                  <a:srgbClr val="FFFF00"/>
                </a:highlight>
                <a:latin typeface="Consolas" panose="020B0609020204030204" pitchFamily="49" charset="0"/>
              </a:rPr>
              <a:t>));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String line = </a:t>
            </a:r>
            <a:r>
              <a:rPr lang="en-US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reader.readLine</a:t>
            </a:r>
            <a:r>
              <a:rPr lang="en-US" sz="2400" dirty="0">
                <a:highlight>
                  <a:srgbClr val="FFFF00"/>
                </a:highlight>
                <a:latin typeface="Consolas" panose="020B0609020204030204" pitchFamily="49" charset="0"/>
              </a:rPr>
              <a:t>();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2400" dirty="0"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</a:p>
          <a:p>
            <a:pPr marL="0" indent="0">
              <a:spcBef>
                <a:spcPts val="0"/>
              </a:spcBef>
              <a:buNone/>
            </a:pPr>
            <a:endParaRPr lang="en-US" dirty="0"/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J</a:t>
            </a:r>
            <a:r>
              <a:rPr lang="sk-SK" dirty="0"/>
              <a:t>e dovolené zadeklarovať aj </a:t>
            </a:r>
            <a:r>
              <a:rPr lang="sk-SK" dirty="0" err="1"/>
              <a:t>unchecked</a:t>
            </a:r>
            <a:r>
              <a:rPr lang="sk-SK" dirty="0"/>
              <a:t> výnimky, ale nie je to nutné.</a:t>
            </a:r>
            <a:endParaRPr lang="sk-SK" sz="2400" b="1" dirty="0">
              <a:highlight>
                <a:srgbClr val="FFFF00"/>
              </a:highlight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39267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1F217D-7C29-1191-FBB0-B8D7097FB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7E6CA1B6-E593-6425-200D-46325F722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Vyhadzovanie výnimiek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07FD5B02-2015-1703-1505-40A9BDB4D0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0148" y="1603602"/>
            <a:ext cx="10333652" cy="4720998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spcBef>
                <a:spcPts val="600"/>
              </a:spcBef>
              <a:buNone/>
            </a:pPr>
            <a:r>
              <a:rPr lang="sk-SK" dirty="0"/>
              <a:t>Vyhadzovanie výnimiek robíme pomocou príkazu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throw</a:t>
            </a:r>
            <a:endParaRPr lang="en-US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10000"/>
              </a:lnSpc>
              <a:spcBef>
                <a:spcPts val="600"/>
              </a:spcBef>
              <a:buNone/>
            </a:pPr>
            <a:r>
              <a:rPr lang="sk-SK" dirty="0"/>
              <a:t>Pri vytváraní výnimky je vhodné uviesť krátku správu, aká chyba nastala</a:t>
            </a:r>
            <a:endParaRPr lang="en-US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en-US" sz="3000" dirty="0"/>
          </a:p>
          <a:p>
            <a:pPr marL="0" indent="0">
              <a:spcBef>
                <a:spcPts val="0"/>
              </a:spcBef>
              <a:buNone/>
            </a:pPr>
            <a:r>
              <a:rPr lang="en-US" sz="2400" dirty="0">
                <a:highlight>
                  <a:srgbClr val="FFFF00"/>
                </a:highlight>
                <a:latin typeface="Consolas" panose="020B0609020204030204" pitchFamily="49" charset="0"/>
              </a:rPr>
              <a:t>public double divide(double numerator, double denominator) {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if (denominator == 0) {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    </a:t>
            </a:r>
            <a:r>
              <a:rPr lang="en-US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throw new </a:t>
            </a:r>
            <a:r>
              <a:rPr lang="en-US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IllegalArgumentException</a:t>
            </a:r>
            <a:r>
              <a:rPr lang="en-US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("Delite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ľ je 0</a:t>
            </a:r>
            <a:r>
              <a:rPr lang="en-US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");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}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return numerator / denominator;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2400" dirty="0"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59011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A5F82C-263B-AAE7-56D4-1F8CC19909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8D6AAFC-BD48-1020-56FD-3CAD541DE0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sk-SK" dirty="0"/>
              <a:t>Automatické zatvorenie zdrojov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9FA5BBFA-6468-C2C0-C7C2-A3E5AF832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9342" y="1512797"/>
            <a:ext cx="10693316" cy="4980078"/>
          </a:xfrm>
        </p:spPr>
        <p:txBody>
          <a:bodyPr>
            <a:normAutofit/>
          </a:bodyPr>
          <a:lstStyle/>
          <a:p>
            <a:pPr marL="0" indent="0">
              <a:spcBef>
                <a:spcPts val="1200"/>
              </a:spcBef>
              <a:buNone/>
            </a:pPr>
            <a:r>
              <a:rPr lang="sk-SK" i="1" dirty="0" err="1"/>
              <a:t>try-with-resources</a:t>
            </a:r>
            <a:r>
              <a:rPr lang="sk-SK" dirty="0"/>
              <a:t> automatické zatvára zdroje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sk-SK" dirty="0"/>
              <a:t>Zdroje, ktoré chcem zatvoriť, dám do zátvoriek hneď za príkazom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</a:rPr>
              <a:t>try</a:t>
            </a:r>
            <a:endParaRPr lang="sk-SK" dirty="0"/>
          </a:p>
          <a:p>
            <a:pPr marL="0" indent="0">
              <a:spcBef>
                <a:spcPts val="1200"/>
              </a:spcBef>
              <a:buNone/>
            </a:pPr>
            <a:r>
              <a:rPr lang="pl-PL" dirty="0"/>
              <a:t>Je to lepšie ako použiť blok </a:t>
            </a:r>
            <a:r>
              <a:rPr lang="pl-PL" dirty="0">
                <a:highlight>
                  <a:srgbClr val="FFFF00"/>
                </a:highlight>
                <a:latin typeface="Consolas" panose="020B0609020204030204" pitchFamily="49" charset="0"/>
              </a:rPr>
              <a:t>finally</a:t>
            </a:r>
          </a:p>
          <a:p>
            <a:pPr marL="0" indent="0">
              <a:spcBef>
                <a:spcPts val="1200"/>
              </a:spcBef>
              <a:buNone/>
            </a:pPr>
            <a:endParaRPr lang="pl-PL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try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BufferedReader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reader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 = new 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BufferedReader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sk-SK" sz="2400" b="1" dirty="0" err="1">
                <a:highlight>
                  <a:srgbClr val="FFFF00"/>
                </a:highlight>
                <a:latin typeface="Consolas" panose="020B0609020204030204" pitchFamily="49" charset="0"/>
              </a:rPr>
              <a:t>fileReader</a:t>
            </a:r>
            <a:r>
              <a:rPr lang="sk-SK" sz="2400" b="1" dirty="0">
                <a:highlight>
                  <a:srgbClr val="FFFF00"/>
                </a:highlight>
                <a:latin typeface="Consolas" panose="020B0609020204030204" pitchFamily="49" charset="0"/>
              </a:rPr>
              <a:t>))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{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firstLine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=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reader.readLine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();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System.out.println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("Prvý riadok súboru: " +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firstLine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}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catch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(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IOException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e) {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System.out.println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("Chyba pri čítaní: " +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</a:rPr>
              <a:t>e.getMessage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());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867075619"/>
      </p:ext>
    </p:extLst>
  </p:cSld>
  <p:clrMapOvr>
    <a:masterClrMapping/>
  </p:clrMapOvr>
</p:sld>
</file>

<file path=ppt/theme/theme1.xml><?xml version="1.0" encoding="utf-8"?>
<a:theme xmlns:a="http://schemas.openxmlformats.org/drawingml/2006/main" name="Motív Office">
  <a:themeElements>
    <a:clrScheme name="Motív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Motív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Motív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364</TotalTime>
  <Words>456</Words>
  <Application>Microsoft Office PowerPoint</Application>
  <PresentationFormat>Širokouhlá</PresentationFormat>
  <Paragraphs>69</Paragraphs>
  <Slides>10</Slides>
  <Notes>0</Notes>
  <HiddenSlides>0</HiddenSlides>
  <MMClips>0</MMClips>
  <ScaleCrop>false</ScaleCrop>
  <HeadingPairs>
    <vt:vector size="6" baseType="variant">
      <vt:variant>
        <vt:lpstr>Použité písma</vt:lpstr>
      </vt:variant>
      <vt:variant>
        <vt:i4>4</vt:i4>
      </vt:variant>
      <vt:variant>
        <vt:lpstr>Motív</vt:lpstr>
      </vt:variant>
      <vt:variant>
        <vt:i4>1</vt:i4>
      </vt:variant>
      <vt:variant>
        <vt:lpstr>Nadpisy snímok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Consolas</vt:lpstr>
      <vt:lpstr>Motív Office</vt:lpstr>
      <vt:lpstr>Objektovo orientované programovanie</vt:lpstr>
      <vt:lpstr>OPG Teória 5</vt:lpstr>
      <vt:lpstr>Výnimka - Exception</vt:lpstr>
      <vt:lpstr>Kategórie výnimiek</vt:lpstr>
      <vt:lpstr>Prezentácia programu PowerPoint</vt:lpstr>
      <vt:lpstr>Zachytenie výnimiek</vt:lpstr>
      <vt:lpstr>Zachytenie výnimiek</vt:lpstr>
      <vt:lpstr>Zachytenie výnimiek</vt:lpstr>
      <vt:lpstr>Vyhadzovanie výnimiek</vt:lpstr>
      <vt:lpstr>Automatické zatvorenie zdrojov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Lenka Wagnerová</dc:creator>
  <cp:lastModifiedBy>Wagner Jozef Ing., PhD.</cp:lastModifiedBy>
  <cp:revision>17</cp:revision>
  <dcterms:created xsi:type="dcterms:W3CDTF">2025-09-05T09:09:34Z</dcterms:created>
  <dcterms:modified xsi:type="dcterms:W3CDTF">2025-09-25T18:20:57Z</dcterms:modified>
</cp:coreProperties>
</file>