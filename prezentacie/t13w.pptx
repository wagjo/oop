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6" r:id="rId2"/>
    <p:sldId id="257" r:id="rId3"/>
    <p:sldId id="286" r:id="rId4"/>
    <p:sldId id="303" r:id="rId5"/>
    <p:sldId id="287" r:id="rId6"/>
    <p:sldId id="317" r:id="rId7"/>
    <p:sldId id="318" r:id="rId8"/>
    <p:sldId id="319" r:id="rId9"/>
    <p:sldId id="320" r:id="rId10"/>
    <p:sldId id="321" r:id="rId11"/>
    <p:sldId id="322" r:id="rId12"/>
    <p:sldId id="323" r:id="rId13"/>
    <p:sldId id="324" r:id="rId14"/>
    <p:sldId id="32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2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1365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74269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07281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535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74369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07842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1751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08196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09070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88063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52091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8281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323955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86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</a:t>
            </a:r>
            <a:br>
              <a:rPr lang="sk-SK" sz="4000" dirty="0"/>
            </a:br>
            <a:r>
              <a:rPr lang="sk-SK" sz="4000" dirty="0"/>
              <a:t>Teória </a:t>
            </a:r>
            <a:r>
              <a:rPr lang="en-US" sz="4000" dirty="0"/>
              <a:t>1</a:t>
            </a:r>
            <a:r>
              <a:rPr lang="sk-SK" sz="4000" dirty="0"/>
              <a:t>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5458968" cy="4180542"/>
          </a:xfrm>
        </p:spPr>
        <p:txBody>
          <a:bodyPr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sk-SK" dirty="0"/>
              <a:t>Abstrakcia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Abstraktné triedy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Rozhrania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42C44-59E7-C8F0-1590-CED16FCC5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847628F-FCF0-D006-5EEC-0A3BE320B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Abstrakcia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34E8006-664C-5DF5-91F6-29AED5E4B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594458"/>
            <a:ext cx="896112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Abstrakcia je proces, pri ktorom skryjeme </a:t>
            </a:r>
            <a:br>
              <a:rPr lang="sk-SK" dirty="0"/>
            </a:br>
            <a:r>
              <a:rPr lang="sk-SK" dirty="0"/>
              <a:t>nepodstatné detaily a ponecháme iba dôležité veci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Cieľom je aby sa zverejnilo iba to, </a:t>
            </a:r>
            <a:br>
              <a:rPr lang="sk-SK" dirty="0"/>
            </a:br>
            <a:r>
              <a:rPr lang="sk-SK" b="1" dirty="0"/>
              <a:t>"čo" </a:t>
            </a:r>
            <a:r>
              <a:rPr lang="sk-SK" dirty="0"/>
              <a:t>robí objekt, nie </a:t>
            </a:r>
            <a:r>
              <a:rPr lang="sk-SK" b="1" dirty="0"/>
              <a:t>"ako" </a:t>
            </a:r>
            <a:r>
              <a:rPr lang="sk-SK" dirty="0"/>
              <a:t>to robí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To zjednodušuje kód, zvyšuje čitateľnosť a modularitu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Ciele abstrakcie: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Používateľ triedy by mal vidieť, čo trieda robí </a:t>
            </a:r>
            <a:br>
              <a:rPr lang="sk-SK" dirty="0"/>
            </a:br>
            <a:r>
              <a:rPr lang="sk-SK" i="1" dirty="0"/>
              <a:t>(API, verejné metódy)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Implementácia triedy </a:t>
            </a:r>
            <a:r>
              <a:rPr lang="sk-SK" i="1" dirty="0"/>
              <a:t>(ako to robí) </a:t>
            </a:r>
            <a:r>
              <a:rPr lang="sk-SK" dirty="0"/>
              <a:t>má byť skrytá</a:t>
            </a:r>
          </a:p>
        </p:txBody>
      </p:sp>
    </p:spTree>
    <p:extLst>
      <p:ext uri="{BB962C8B-B14F-4D97-AF65-F5344CB8AC3E}">
        <p14:creationId xmlns:p14="http://schemas.microsoft.com/office/powerpoint/2010/main" val="3417867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8E7315-CEE1-0943-15B0-737F96EE0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4783EC6-6E4D-8BCB-CD4F-2B40524F3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Abstraktná trieda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579FD30-4AE9-48ED-37AE-008C68EDD7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670252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Špeciálny typ triedy, ktorá obsahuje abstraktné metódy.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Abstraktné metódy sú bez implementácie - bez tela metódy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Definujú sa s kľúčovým slovom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Abstraktná trieda je taká napoly dokončená trieda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Abstraktná trieda môže mať atribúty, konštruktor, aj obyčajné metódy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br>
              <a:rPr lang="sk-SK" dirty="0"/>
            </a:b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81309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500484-6CDE-A4F1-17ED-33B161D1A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89B3A4D-1AB0-0EEF-8373-C830C063B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555"/>
            <a:ext cx="10515600" cy="732155"/>
          </a:xfrm>
        </p:spPr>
        <p:txBody>
          <a:bodyPr>
            <a:normAutofit/>
          </a:bodyPr>
          <a:lstStyle/>
          <a:p>
            <a:r>
              <a:rPr lang="sk-SK" dirty="0"/>
              <a:t>Abstraktná trieda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096F214-3C7A-E266-2972-A238A78F20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604" y="1046453"/>
            <a:ext cx="5863044" cy="498007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Zviera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protected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Zviera(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this.nazov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getNazov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// metóda nemá telo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zvuk();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Zástupný objekt pre obsah 2">
            <a:extLst>
              <a:ext uri="{FF2B5EF4-FFF2-40B4-BE49-F238E27FC236}">
                <a16:creationId xmlns:a16="http://schemas.microsoft.com/office/drawing/2014/main" id="{983342FE-9AF3-312B-7A5D-0B276581ED62}"/>
              </a:ext>
            </a:extLst>
          </p:cNvPr>
          <p:cNvSpPr txBox="1">
            <a:spLocks/>
          </p:cNvSpPr>
          <p:nvPr/>
        </p:nvSpPr>
        <p:spPr>
          <a:xfrm>
            <a:off x="6574538" y="1253364"/>
            <a:ext cx="5468110" cy="47731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b="1" dirty="0"/>
              <a:t>Nevieme priamo vytvoriť objekty abstraktnej triedy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sk-SK" sz="2400" b="1" dirty="0"/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Zviera z = </a:t>
            </a:r>
            <a:r>
              <a:rPr lang="sk-SK" sz="2400" strike="sngStrike" dirty="0">
                <a:highlight>
                  <a:srgbClr val="FFFF00"/>
                </a:highlight>
                <a:latin typeface="Consolas" panose="020B0609020204030204" pitchFamily="49" charset="0"/>
              </a:rPr>
              <a:t>new Zviera("Pes");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sk-SK" sz="2400" dirty="0"/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dirty="0"/>
              <a:t>Úlohou abstraktnej triedy je, </a:t>
            </a:r>
            <a:br>
              <a:rPr lang="sk-SK" dirty="0"/>
            </a:br>
            <a:r>
              <a:rPr lang="sk-SK" dirty="0"/>
              <a:t>aby ju dedili iné triedy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cxnSp>
        <p:nvCxnSpPr>
          <p:cNvPr id="7" name="Rovná spojnica 6">
            <a:extLst>
              <a:ext uri="{FF2B5EF4-FFF2-40B4-BE49-F238E27FC236}">
                <a16:creationId xmlns:a16="http://schemas.microsoft.com/office/drawing/2014/main" id="{3634EAB8-3D5E-A034-E505-0AC931125545}"/>
              </a:ext>
            </a:extLst>
          </p:cNvPr>
          <p:cNvCxnSpPr/>
          <p:nvPr/>
        </p:nvCxnSpPr>
        <p:spPr>
          <a:xfrm>
            <a:off x="6409944" y="1046453"/>
            <a:ext cx="0" cy="53269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6560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CE0DD4-FD6C-7C2B-3498-68F5374E6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850DAF0-9358-DC3C-DC57-06A65F13C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128" y="240553"/>
            <a:ext cx="10515600" cy="732155"/>
          </a:xfrm>
        </p:spPr>
        <p:txBody>
          <a:bodyPr>
            <a:normAutofit/>
          </a:bodyPr>
          <a:lstStyle/>
          <a:p>
            <a:r>
              <a:rPr lang="sk-SK" dirty="0"/>
              <a:t>Abstraktná trieda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5CEF557-09F7-6BAE-EAD4-73DFD96F0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834" y="1037309"/>
            <a:ext cx="5863044" cy="498007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Pes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Zviera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Pes(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super(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donesPapuce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// 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@Override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zvuk()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 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("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Haf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");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7" name="Rovná spojnica 6">
            <a:extLst>
              <a:ext uri="{FF2B5EF4-FFF2-40B4-BE49-F238E27FC236}">
                <a16:creationId xmlns:a16="http://schemas.microsoft.com/office/drawing/2014/main" id="{AD185EAE-3E1D-0D03-DA52-2B435FB20EF3}"/>
              </a:ext>
            </a:extLst>
          </p:cNvPr>
          <p:cNvCxnSpPr/>
          <p:nvPr/>
        </p:nvCxnSpPr>
        <p:spPr>
          <a:xfrm>
            <a:off x="5757672" y="1037309"/>
            <a:ext cx="0" cy="53269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Zástupný objekt pre obsah 2">
            <a:extLst>
              <a:ext uri="{FF2B5EF4-FFF2-40B4-BE49-F238E27FC236}">
                <a16:creationId xmlns:a16="http://schemas.microsoft.com/office/drawing/2014/main" id="{1D48B8A4-2602-ECA5-7DF8-F49FC92C7D15}"/>
              </a:ext>
            </a:extLst>
          </p:cNvPr>
          <p:cNvSpPr txBox="1">
            <a:spLocks/>
          </p:cNvSpPr>
          <p:nvPr/>
        </p:nvSpPr>
        <p:spPr>
          <a:xfrm>
            <a:off x="5880899" y="521941"/>
            <a:ext cx="6131267" cy="60108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Macka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Zviera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boolean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pazury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false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Macka(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super(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vysunPazury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pazury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true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@Override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zvuk()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("Mňau");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15287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262320-A407-F577-F80F-B07C0BCCC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406CB07-F377-10F2-A55E-8E7C98941F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024" y="433805"/>
            <a:ext cx="11521440" cy="498007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Zverinec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Zviera[]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zvierata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Zverinec(Zviera[]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zvierata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this.zvierata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zvierata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hluk()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Zviera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zviera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: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zvierata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zviera.zvuk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main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[]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args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Zviera[]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zvierata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{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new Pes("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Dunco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"), new Macka("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Elza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")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Zverinec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zverinec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new Zverinec(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zvierata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99550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8CFB37-E688-D849-D54A-C05EF43F0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D1E54B6-E615-8DD7-DA2E-FECDFD3C9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812" y="348574"/>
            <a:ext cx="10515600" cy="796163"/>
          </a:xfrm>
        </p:spPr>
        <p:txBody>
          <a:bodyPr>
            <a:normAutofit/>
          </a:bodyPr>
          <a:lstStyle/>
          <a:p>
            <a:r>
              <a:rPr lang="sk-SK" dirty="0"/>
              <a:t>Abstraktná trieda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8EFBAB-CC20-84F0-98C0-6DD1D7A0B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95677"/>
            <a:ext cx="5422392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V UML diagrame má značku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&lt;&lt;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&gt;&gt;</a:t>
            </a:r>
            <a:r>
              <a:rPr lang="sk-SK" dirty="0"/>
              <a:t>, a abstraktné metódy sú uvedené šikmým písmom (</a:t>
            </a:r>
            <a:r>
              <a:rPr lang="sk-SK" dirty="0" err="1"/>
              <a:t>italic</a:t>
            </a:r>
            <a:r>
              <a:rPr lang="sk-SK" dirty="0"/>
              <a:t>)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Abstraktné triedy používajú dedenie, teda IS-A </a:t>
            </a:r>
            <a:r>
              <a:rPr lang="sk-SK" b="1" dirty="0"/>
              <a:t>"je" </a:t>
            </a:r>
            <a:r>
              <a:rPr lang="sk-SK" dirty="0"/>
              <a:t>vzťah.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Pes je Zviera, Auto je Vozidlo</a:t>
            </a:r>
            <a:br>
              <a:rPr lang="sk-SK" dirty="0"/>
            </a:br>
            <a:endParaRPr lang="sk-SK" dirty="0"/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3D785CE3-BFCB-8E21-38ED-610843488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668" y="348574"/>
            <a:ext cx="4972744" cy="623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507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AFF621-F898-FEF3-8067-4309CC171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C8C5448-E17A-710E-C8C0-238DAA982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Rozhranie - Interface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53815FD-C032-F7C2-29DD-C52B51C4F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594458"/>
            <a:ext cx="896112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Sústredí sa vyslovene na správanie, teda na schopnosti 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Špeciálna trieda, ktorá </a:t>
            </a:r>
            <a:r>
              <a:rPr lang="sk-SK" b="1" dirty="0"/>
              <a:t>nemá atribúty ani konštruktory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Rozhranie je </a:t>
            </a:r>
            <a:r>
              <a:rPr lang="sk-SK" b="1" dirty="0"/>
              <a:t>čistý dizajn, bez stavu a bez konkrétnej implementácie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Rozhranie definujeme s kľúčovým slovom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interface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3688015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E03213-C0DE-892D-6B1D-3ACD81CD1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213AAB3-F565-3D1C-B5C9-615445494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555"/>
            <a:ext cx="10515600" cy="732155"/>
          </a:xfrm>
        </p:spPr>
        <p:txBody>
          <a:bodyPr>
            <a:normAutofit/>
          </a:bodyPr>
          <a:lstStyle/>
          <a:p>
            <a:r>
              <a:rPr lang="sk-SK" dirty="0"/>
              <a:t>Rozhranie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9D94A11-6C1B-FD29-8939-E69A92C2B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349" y="1046453"/>
            <a:ext cx="5405844" cy="498007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interface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Lietaj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vzlietni();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interface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Potapaj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ponorSa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interface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NadmorskaVyska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getNadmorskaVyska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Zástupný objekt pre obsah 2">
            <a:extLst>
              <a:ext uri="{FF2B5EF4-FFF2-40B4-BE49-F238E27FC236}">
                <a16:creationId xmlns:a16="http://schemas.microsoft.com/office/drawing/2014/main" id="{9F6A73A7-D682-E9B5-AF70-C54647879EE0}"/>
              </a:ext>
            </a:extLst>
          </p:cNvPr>
          <p:cNvSpPr txBox="1">
            <a:spLocks/>
          </p:cNvSpPr>
          <p:nvPr/>
        </p:nvSpPr>
        <p:spPr>
          <a:xfrm>
            <a:off x="5727192" y="365760"/>
            <a:ext cx="6324591" cy="62516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b="1" dirty="0"/>
              <a:t>Podtrieda môže implementovať viacero rozhraní!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Lietadlo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implements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Lietaj,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NadmorskaVyska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@Override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vzlietni()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// ...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@Override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getNadmorskaVyska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// ...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7" name="Rovná spojnica 6">
            <a:extLst>
              <a:ext uri="{FF2B5EF4-FFF2-40B4-BE49-F238E27FC236}">
                <a16:creationId xmlns:a16="http://schemas.microsoft.com/office/drawing/2014/main" id="{2DCFAA2B-EFFD-F814-9DBA-88FBF9E13341}"/>
              </a:ext>
            </a:extLst>
          </p:cNvPr>
          <p:cNvCxnSpPr>
            <a:cxnSpLocks/>
          </p:cNvCxnSpPr>
          <p:nvPr/>
        </p:nvCxnSpPr>
        <p:spPr>
          <a:xfrm>
            <a:off x="5678424" y="365760"/>
            <a:ext cx="0" cy="60076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1223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EE6B97-EC5D-471A-B6D5-4669ED7FB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8A0C126-805C-FFBC-0570-7A40C12C1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555"/>
            <a:ext cx="10515600" cy="732155"/>
          </a:xfrm>
        </p:spPr>
        <p:txBody>
          <a:bodyPr>
            <a:normAutofit/>
          </a:bodyPr>
          <a:lstStyle/>
          <a:p>
            <a:r>
              <a:rPr lang="sk-SK" dirty="0"/>
              <a:t>Rozhranie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449CACAD-D785-9779-C8D0-41353DC24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348" y="1046453"/>
            <a:ext cx="6957275" cy="498007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Kacka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implements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Lietaj,</a:t>
            </a:r>
            <a:b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Potapaj</a:t>
            </a:r>
            <a:r>
              <a:rPr lang="en-US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NadmorskaVyska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@Override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vzlietni()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// 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@Override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ponorSa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// 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@Override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getNadmorskaVyska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// 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Zástupný objekt pre obsah 2">
            <a:extLst>
              <a:ext uri="{FF2B5EF4-FFF2-40B4-BE49-F238E27FC236}">
                <a16:creationId xmlns:a16="http://schemas.microsoft.com/office/drawing/2014/main" id="{1E468FEC-766D-C90A-61ED-FCA988D9C02D}"/>
              </a:ext>
            </a:extLst>
          </p:cNvPr>
          <p:cNvSpPr txBox="1">
            <a:spLocks/>
          </p:cNvSpPr>
          <p:nvPr/>
        </p:nvSpPr>
        <p:spPr>
          <a:xfrm>
            <a:off x="6446522" y="1046453"/>
            <a:ext cx="5568686" cy="53863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</a:rPr>
              <a:t> Mesto </a:t>
            </a:r>
            <a:r>
              <a:rPr lang="sk-SK" sz="20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implements</a:t>
            </a:r>
            <a:r>
              <a:rPr lang="sk-SK" sz="20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0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NadmorskaVyska</a:t>
            </a:r>
            <a: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</a:rPr>
              <a:t>    @Override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getNadmorskaVyska</a:t>
            </a:r>
            <a: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</a:rPr>
              <a:t>        // ...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sk-SK" dirty="0"/>
              <a:t>Rozhranie sa sústredí na schopnosti triedy, </a:t>
            </a:r>
            <a:br>
              <a:rPr lang="sk-SK" dirty="0"/>
            </a:br>
            <a:r>
              <a:rPr lang="sk-SK" dirty="0"/>
              <a:t>teda ide o CAN-DO </a:t>
            </a:r>
            <a:r>
              <a:rPr lang="sk-SK" b="1" dirty="0"/>
              <a:t>"vie" </a:t>
            </a:r>
            <a:r>
              <a:rPr lang="sk-SK" dirty="0"/>
              <a:t>vzťah.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sk-SK" dirty="0"/>
              <a:t>Lietadlo vie Lietať, 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/>
              <a:t>Súbor vieme Zatvoriť</a:t>
            </a:r>
            <a:endParaRPr lang="sk-SK" sz="20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cxnSp>
        <p:nvCxnSpPr>
          <p:cNvPr id="7" name="Rovná spojnica 6">
            <a:extLst>
              <a:ext uri="{FF2B5EF4-FFF2-40B4-BE49-F238E27FC236}">
                <a16:creationId xmlns:a16="http://schemas.microsoft.com/office/drawing/2014/main" id="{B234BAB2-0A7B-65C5-39BE-F639DD18E846}"/>
              </a:ext>
            </a:extLst>
          </p:cNvPr>
          <p:cNvCxnSpPr>
            <a:cxnSpLocks/>
          </p:cNvCxnSpPr>
          <p:nvPr/>
        </p:nvCxnSpPr>
        <p:spPr>
          <a:xfrm>
            <a:off x="6355080" y="1124712"/>
            <a:ext cx="0" cy="53080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5806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300EC0-9255-97EC-6512-030C8D584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BE7E8C9-7A9C-C79C-BA24-C46BD2E7B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812" y="348574"/>
            <a:ext cx="10515600" cy="796163"/>
          </a:xfrm>
        </p:spPr>
        <p:txBody>
          <a:bodyPr>
            <a:normAutofit/>
          </a:bodyPr>
          <a:lstStyle/>
          <a:p>
            <a:r>
              <a:rPr lang="sk-SK" dirty="0"/>
              <a:t>Rozhranie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4E41A36C-03E8-6923-D7AA-5E289C1D85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95677"/>
            <a:ext cx="4553712" cy="49800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/>
              <a:t>Rozhrania v UML </a:t>
            </a:r>
            <a:r>
              <a:rPr lang="sk-SK" dirty="0" err="1"/>
              <a:t>Class</a:t>
            </a:r>
            <a:r>
              <a:rPr lang="sk-SK" dirty="0"/>
              <a:t> diagrame majú pred menom značku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&lt;&lt;interface&gt;&gt;</a:t>
            </a:r>
            <a:r>
              <a:rPr lang="sk-SK" dirty="0"/>
              <a:t>, a abstraktné metódy sú uvedené šikmým písmom (</a:t>
            </a:r>
            <a:r>
              <a:rPr lang="sk-SK" dirty="0" err="1"/>
              <a:t>italic</a:t>
            </a:r>
            <a:r>
              <a:rPr lang="sk-SK" dirty="0"/>
              <a:t>).</a:t>
            </a:r>
          </a:p>
          <a:p>
            <a:pPr marL="0" indent="0">
              <a:buNone/>
            </a:pPr>
            <a:r>
              <a:rPr lang="sk-SK" dirty="0"/>
              <a:t>Od triedy, ktorá implementuje rozhranie, vedie prerušovaná uzatvorená šípka k danému rozhraniu.</a:t>
            </a: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3EDF8F96-994F-85B9-DD75-18DFB5F9A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1144737"/>
            <a:ext cx="7162800" cy="5239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919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CFA226-BFC0-2842-15F2-4CCF9B4DD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2619216-F70B-73D2-7873-39814842A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Rozhrania v Java API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40DB3C8-4E6F-EC73-AF60-7E60A7AA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9993084" cy="49800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/>
              <a:t>Rozhrania sa vo veľkom používajú aj v knižniciach Javy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List</a:t>
            </a:r>
            <a:r>
              <a:rPr lang="sk-SK" sz="2800" dirty="0"/>
              <a:t>, 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Set</a:t>
            </a:r>
            <a:r>
              <a:rPr lang="sk-SK" sz="2800" dirty="0"/>
              <a:t>,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Map</a:t>
            </a:r>
            <a:r>
              <a:rPr lang="sk-SK" sz="2800" dirty="0"/>
              <a:t> - kolekcie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Iterable</a:t>
            </a:r>
            <a:r>
              <a:rPr lang="sk-SK" sz="2800" dirty="0"/>
              <a:t>,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Iterator</a:t>
            </a:r>
            <a:r>
              <a:rPr lang="sk-SK" sz="2800" dirty="0"/>
              <a:t> - iterácia prvkov v cykle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Comparable</a:t>
            </a:r>
            <a:r>
              <a:rPr lang="sk-SK" sz="2800" dirty="0"/>
              <a:t>,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Comparator</a:t>
            </a:r>
            <a:r>
              <a:rPr lang="sk-SK" sz="2800" dirty="0"/>
              <a:t> - zoradenie hodnôt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AutoCloseable</a:t>
            </a:r>
            <a:r>
              <a:rPr lang="sk-SK" sz="2800" dirty="0"/>
              <a:t>,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Cloneable</a:t>
            </a:r>
            <a:r>
              <a:rPr lang="sk-SK" sz="2800" dirty="0"/>
              <a:t> - zatvorenie a kopírovanie</a:t>
            </a:r>
            <a:br>
              <a:rPr lang="sk-SK" sz="2800" dirty="0"/>
            </a:br>
            <a:endParaRPr lang="sk-SK" sz="2800" dirty="0"/>
          </a:p>
        </p:txBody>
      </p:sp>
    </p:spTree>
    <p:extLst>
      <p:ext uri="{BB962C8B-B14F-4D97-AF65-F5344CB8AC3E}">
        <p14:creationId xmlns:p14="http://schemas.microsoft.com/office/powerpoint/2010/main" val="669697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6EE690-3C98-EF11-9A89-CE76C48B0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864FD42-4A49-B809-68E1-1020CC107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Abstraktná trieda </a:t>
            </a:r>
            <a:r>
              <a:rPr lang="sk-SK" dirty="0" err="1"/>
              <a:t>Vs</a:t>
            </a:r>
            <a:r>
              <a:rPr lang="sk-SK" dirty="0"/>
              <a:t> Rozhranie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8B132E4-4668-49B1-608A-9BA58C4DE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9420060" cy="49800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/>
              <a:t>Rozhranie je jednoduchšie, flexibilnejšie a menej obmedzujúce</a:t>
            </a:r>
          </a:p>
          <a:p>
            <a:pPr marL="0" indent="0">
              <a:buNone/>
            </a:pPr>
            <a:r>
              <a:rPr lang="sk-SK" dirty="0"/>
              <a:t>Cieľom je zložitosť umenšovať a skrývať do implementácie, nie ju pridávať</a:t>
            </a:r>
          </a:p>
          <a:p>
            <a:pPr marL="0" indent="0">
              <a:buNone/>
            </a:pPr>
            <a:r>
              <a:rPr lang="sk-SK" b="1" dirty="0"/>
              <a:t>Abstraktná trieda</a:t>
            </a:r>
            <a:r>
              <a:rPr lang="sk-SK" dirty="0"/>
              <a:t>: Pre IS-A "je" vzťahy (napr. Pes je Zviera), zdieľa stav a správanie</a:t>
            </a:r>
          </a:p>
          <a:p>
            <a:pPr marL="0" indent="0">
              <a:buNone/>
            </a:pPr>
            <a:r>
              <a:rPr lang="sk-SK" b="1" dirty="0"/>
              <a:t>Rozhranie</a:t>
            </a:r>
            <a:r>
              <a:rPr lang="sk-SK" dirty="0"/>
              <a:t>: Pre </a:t>
            </a:r>
            <a:r>
              <a:rPr lang="sk-SK" b="1" dirty="0"/>
              <a:t>"môže-robiť" </a:t>
            </a:r>
            <a:r>
              <a:rPr lang="sk-SK" dirty="0"/>
              <a:t>vzťahy (napr. Lietadlo môže Lietať), čisto o správaní</a:t>
            </a:r>
          </a:p>
          <a:p>
            <a:pPr marL="0" indent="0">
              <a:buNone/>
            </a:pPr>
            <a:r>
              <a:rPr lang="sk-SK" dirty="0"/>
              <a:t>Obidve prístupy môžeme kombinovať</a:t>
            </a:r>
            <a:br>
              <a:rPr lang="sk-SK" sz="2800" dirty="0"/>
            </a:br>
            <a:endParaRPr lang="sk-SK" sz="2800" dirty="0"/>
          </a:p>
        </p:txBody>
      </p:sp>
    </p:spTree>
    <p:extLst>
      <p:ext uri="{BB962C8B-B14F-4D97-AF65-F5344CB8AC3E}">
        <p14:creationId xmlns:p14="http://schemas.microsoft.com/office/powerpoint/2010/main" val="1597691336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1101</TotalTime>
  <Words>817</Words>
  <Application>Microsoft Office PowerPoint</Application>
  <PresentationFormat>Širokouhlá</PresentationFormat>
  <Paragraphs>167</Paragraphs>
  <Slides>14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Consolas</vt:lpstr>
      <vt:lpstr>Motív Office</vt:lpstr>
      <vt:lpstr>Objektovo orientované programovanie</vt:lpstr>
      <vt:lpstr>OPG Teória 13</vt:lpstr>
      <vt:lpstr>Abstrakcia</vt:lpstr>
      <vt:lpstr>Abstraktná trieda</vt:lpstr>
      <vt:lpstr>Abstraktná trieda</vt:lpstr>
      <vt:lpstr>Abstraktná trieda</vt:lpstr>
      <vt:lpstr>Prezentácia programu PowerPoint</vt:lpstr>
      <vt:lpstr>Abstraktná trieda</vt:lpstr>
      <vt:lpstr>Rozhranie - Interface</vt:lpstr>
      <vt:lpstr>Rozhranie</vt:lpstr>
      <vt:lpstr>Rozhranie</vt:lpstr>
      <vt:lpstr>Rozhranie</vt:lpstr>
      <vt:lpstr>Rozhrania v Java API</vt:lpstr>
      <vt:lpstr>Abstraktná trieda Vs Rozhranie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51</cp:revision>
  <dcterms:created xsi:type="dcterms:W3CDTF">2025-09-05T09:09:34Z</dcterms:created>
  <dcterms:modified xsi:type="dcterms:W3CDTF">2025-12-03T18:21:05Z</dcterms:modified>
</cp:coreProperties>
</file>