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66" r:id="rId2"/>
    <p:sldId id="257" r:id="rId3"/>
    <p:sldId id="286" r:id="rId4"/>
    <p:sldId id="324" r:id="rId5"/>
    <p:sldId id="334" r:id="rId6"/>
    <p:sldId id="335" r:id="rId7"/>
    <p:sldId id="336" r:id="rId8"/>
    <p:sldId id="328" r:id="rId9"/>
    <p:sldId id="330" r:id="rId10"/>
    <p:sldId id="337" r:id="rId11"/>
    <p:sldId id="338" r:id="rId12"/>
    <p:sldId id="331" r:id="rId13"/>
    <p:sldId id="339" r:id="rId14"/>
    <p:sldId id="34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k-SK"/>
              <a:t>Kliknutím upravte štýl predlohy podnadpisu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1. 4. 2026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391365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1. 4. 2026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074269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1. 4. 2026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107281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1. 4. 2026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65352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1. 4. 2026</a:t>
            </a:fld>
            <a:endParaRPr lang="sk-S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674369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1. 4. 2026</a:t>
            </a:fld>
            <a:endParaRPr lang="sk-S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907842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1. 4. 2026</a:t>
            </a:fld>
            <a:endParaRPr lang="sk-S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5175150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1. 4. 2026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308196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sk-SK"/>
              <a:t>Kliknutím na ikonu pridáte obrázok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1. 4. 2026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609070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1. 4. 2026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888063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1. 4. 2026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652091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052495-8BC8-4CFB-94B1-B0429F101A0D}" type="datetimeFigureOut">
              <a:rPr lang="sk-SK" smtClean="0"/>
              <a:t>1. 4. 2026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682812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oop.wagjo.com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E144086-9642-901A-F3D2-FA2652CA9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899" y="1188637"/>
            <a:ext cx="3323955" cy="4480726"/>
          </a:xfrm>
        </p:spPr>
        <p:txBody>
          <a:bodyPr>
            <a:normAutofit/>
          </a:bodyPr>
          <a:lstStyle/>
          <a:p>
            <a:pPr algn="r"/>
            <a:r>
              <a:rPr lang="sk-SK" sz="4000" dirty="0"/>
              <a:t>Objektovo orientované programovanie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8685716B-C55C-CDF8-4632-389CB907CA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8" y="1338729"/>
            <a:ext cx="4795584" cy="418054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r>
              <a:rPr lang="sk-SK" dirty="0"/>
              <a:t>Učiteľ: </a:t>
            </a:r>
            <a:br>
              <a:rPr lang="sk-SK" dirty="0"/>
            </a:br>
            <a:r>
              <a:rPr lang="sk-SK" b="1" dirty="0"/>
              <a:t>Ing. Jozef Wagner</a:t>
            </a:r>
            <a:r>
              <a:rPr lang="en-US" b="1" dirty="0"/>
              <a:t>,</a:t>
            </a:r>
            <a:r>
              <a:rPr lang="sk-SK" b="1" dirty="0"/>
              <a:t> PhD.</a:t>
            </a:r>
          </a:p>
          <a:p>
            <a:pPr marL="0" indent="0">
              <a:buNone/>
            </a:pPr>
            <a:endParaRPr lang="sk-SK" b="1" dirty="0"/>
          </a:p>
          <a:p>
            <a:pPr marL="0" indent="0">
              <a:buNone/>
            </a:pPr>
            <a:r>
              <a:rPr lang="sk-SK" dirty="0"/>
              <a:t>Učebnica: </a:t>
            </a:r>
            <a:br>
              <a:rPr lang="sk-SK" dirty="0"/>
            </a:br>
            <a:r>
              <a:rPr lang="sk-SK" dirty="0">
                <a:hlinkClick r:id="rId2"/>
              </a:rPr>
              <a:t>https://oop.wagjo.com/</a:t>
            </a:r>
            <a:r>
              <a:rPr lang="sk-SK" dirty="0"/>
              <a:t> </a:t>
            </a:r>
          </a:p>
          <a:p>
            <a:pPr marL="0" indent="0">
              <a:buNone/>
            </a:pP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5174436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3680000-8E97-7BCD-0373-6D09E7201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7786" y="1188637"/>
            <a:ext cx="3141430" cy="4480726"/>
          </a:xfrm>
        </p:spPr>
        <p:txBody>
          <a:bodyPr>
            <a:normAutofit/>
          </a:bodyPr>
          <a:lstStyle/>
          <a:p>
            <a:pPr algn="r"/>
            <a:r>
              <a:rPr lang="sk-SK" sz="4000" dirty="0"/>
              <a:t>OPG</a:t>
            </a:r>
            <a:br>
              <a:rPr lang="sk-SK" sz="4000" dirty="0"/>
            </a:br>
            <a:r>
              <a:rPr lang="sk-SK" sz="4000" dirty="0"/>
              <a:t>Teória 25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9A88E58-5472-E350-E606-D7A492AB52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8" y="1338729"/>
            <a:ext cx="5870448" cy="4180542"/>
          </a:xfrm>
        </p:spPr>
        <p:txBody>
          <a:bodyPr anchor="ctr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sk-SK" dirty="0" err="1"/>
              <a:t>Property</a:t>
            </a:r>
            <a:r>
              <a:rPr lang="sk-SK" dirty="0"/>
              <a:t> objekt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sk-SK" dirty="0"/>
              <a:t>Prepojenie - </a:t>
            </a:r>
            <a:r>
              <a:rPr lang="sk-SK" dirty="0" err="1"/>
              <a:t>binding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sk-SK" dirty="0"/>
              <a:t>Transformácia </a:t>
            </a:r>
            <a:r>
              <a:rPr lang="sk-SK" dirty="0" err="1"/>
              <a:t>property</a:t>
            </a:r>
            <a:r>
              <a:rPr lang="sk-SK" dirty="0"/>
              <a:t> objektov</a:t>
            </a:r>
          </a:p>
        </p:txBody>
      </p:sp>
    </p:spTree>
    <p:extLst>
      <p:ext uri="{BB962C8B-B14F-4D97-AF65-F5344CB8AC3E}">
        <p14:creationId xmlns:p14="http://schemas.microsoft.com/office/powerpoint/2010/main" val="2991288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442C44-59E7-C8F0-1590-CED16FCC5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847628F-FCF0-D006-5EEC-0A3BE320B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/>
              <a:t>Opakovanie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C34E8006-664C-5DF5-91F6-29AED5E4BB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5314"/>
            <a:ext cx="10902696" cy="498007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/>
              <a:t>Na </a:t>
            </a:r>
            <a:r>
              <a:rPr lang="en-US" dirty="0" err="1"/>
              <a:t>sledovanie</a:t>
            </a:r>
            <a:r>
              <a:rPr lang="en-US" dirty="0"/>
              <a:t> </a:t>
            </a:r>
            <a:r>
              <a:rPr lang="en-US" dirty="0" err="1"/>
              <a:t>zmeny</a:t>
            </a:r>
            <a:r>
              <a:rPr lang="en-US" dirty="0"/>
              <a:t> </a:t>
            </a:r>
            <a:r>
              <a:rPr lang="en-US" dirty="0" err="1"/>
              <a:t>hodnoty</a:t>
            </a:r>
            <a:r>
              <a:rPr lang="en-US" dirty="0"/>
              <a:t> </a:t>
            </a:r>
            <a:r>
              <a:rPr lang="en-US" dirty="0" err="1"/>
              <a:t>používame</a:t>
            </a:r>
            <a:r>
              <a:rPr lang="en-US" dirty="0"/>
              <a:t> interface </a:t>
            </a:r>
            <a:r>
              <a:rPr lang="en-US" dirty="0" err="1">
                <a:highlight>
                  <a:srgbClr val="FFFF00"/>
                </a:highlight>
                <a:latin typeface="Consolas" panose="020B0609020204030204" pitchFamily="49" charset="0"/>
              </a:rPr>
              <a:t>ObservableValue</a:t>
            </a: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sk-SK" dirty="0"/>
              <a:t>Počúvanie na zmenu hodnoty sa robí pomocou metódy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addListener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()</a:t>
            </a:r>
            <a:endParaRPr lang="en-US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sk-SK" dirty="0">
                <a:highlight>
                  <a:srgbClr val="FFFF00"/>
                </a:highlight>
              </a:rPr>
              <a:t>Takýto objekt sa volá </a:t>
            </a:r>
            <a:r>
              <a:rPr lang="sk-SK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property</a:t>
            </a:r>
            <a:r>
              <a:rPr lang="sk-SK" dirty="0">
                <a:highlight>
                  <a:srgbClr val="FFFF00"/>
                </a:highlight>
              </a:rPr>
              <a:t>, získame ho väčšinou pomocou metódy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valueProperty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()</a:t>
            </a:r>
          </a:p>
          <a:p>
            <a:pPr marL="0" indent="0">
              <a:spcBef>
                <a:spcPts val="0"/>
              </a:spcBef>
              <a:buNone/>
            </a:pPr>
            <a:endParaRPr lang="sk-SK" b="1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slider.valueProperty</a:t>
            </a:r>
            <a:r>
              <a:rPr lang="sk-SK" b="1" dirty="0">
                <a:highlight>
                  <a:srgbClr val="FFFF00"/>
                </a:highlight>
                <a:latin typeface="Consolas" panose="020B0609020204030204" pitchFamily="49" charset="0"/>
              </a:rPr>
              <a:t>().</a:t>
            </a:r>
            <a:r>
              <a:rPr lang="sk-SK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addListener</a:t>
            </a:r>
            <a:r>
              <a:rPr lang="sk-SK" b="1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(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observable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,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oldValue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,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newValue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) -&gt;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...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});</a:t>
            </a:r>
          </a:p>
          <a:p>
            <a:pPr marL="0" indent="0">
              <a:lnSpc>
                <a:spcPct val="100000"/>
              </a:lnSpc>
              <a:buNone/>
            </a:pP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dirty="0"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78679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5EE462-68AC-5DFC-4A18-979C55ECD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8F72686-C27E-D351-7B34-EEAE2DB7B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 err="1"/>
              <a:t>javafx.beans.property.Property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53518A30-43A0-1421-262F-A89C48DF60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543" y="1585314"/>
            <a:ext cx="10865333" cy="498007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sk-SK" dirty="0" err="1"/>
              <a:t>Property</a:t>
            </a:r>
            <a:r>
              <a:rPr lang="sk-SK" dirty="0"/>
              <a:t> o</a:t>
            </a:r>
            <a:r>
              <a:rPr lang="en-US" dirty="0" err="1"/>
              <a:t>balí</a:t>
            </a:r>
            <a:r>
              <a:rPr lang="en-US" dirty="0"/>
              <a:t> (wrap) </a:t>
            </a:r>
            <a:r>
              <a:rPr lang="en-US" dirty="0" err="1"/>
              <a:t>bežnú</a:t>
            </a:r>
            <a:r>
              <a:rPr lang="en-US" dirty="0"/>
              <a:t> </a:t>
            </a:r>
            <a:r>
              <a:rPr lang="en-US" dirty="0" err="1"/>
              <a:t>hodnotu</a:t>
            </a:r>
            <a:r>
              <a:rPr lang="en-US" dirty="0"/>
              <a:t> (int, String, </a:t>
            </a:r>
            <a:r>
              <a:rPr lang="en-US" dirty="0" err="1"/>
              <a:t>atď</a:t>
            </a:r>
            <a:r>
              <a:rPr lang="en-US" dirty="0"/>
              <a:t>.) a </a:t>
            </a:r>
            <a:r>
              <a:rPr lang="en-US" dirty="0" err="1"/>
              <a:t>pridá</a:t>
            </a:r>
            <a:r>
              <a:rPr lang="en-US" dirty="0"/>
              <a:t> </a:t>
            </a:r>
            <a:r>
              <a:rPr lang="en-US" dirty="0" err="1"/>
              <a:t>ku</a:t>
            </a:r>
            <a:r>
              <a:rPr lang="en-US" dirty="0"/>
              <a:t> </a:t>
            </a:r>
            <a:r>
              <a:rPr lang="en-US" dirty="0" err="1"/>
              <a:t>nej</a:t>
            </a:r>
            <a:r>
              <a:rPr lang="en-US" dirty="0"/>
              <a:t> </a:t>
            </a:r>
            <a:r>
              <a:rPr lang="en-US" dirty="0" err="1"/>
              <a:t>ďalšie</a:t>
            </a:r>
            <a:r>
              <a:rPr lang="en-US" dirty="0"/>
              <a:t> </a:t>
            </a:r>
            <a:r>
              <a:rPr lang="en-US" dirty="0" err="1"/>
              <a:t>schopnosti</a:t>
            </a:r>
            <a:r>
              <a:rPr lang="en-US" dirty="0"/>
              <a:t>:</a:t>
            </a:r>
          </a:p>
          <a:p>
            <a:pPr lvl="1">
              <a:lnSpc>
                <a:spcPct val="100000"/>
              </a:lnSpc>
            </a:pPr>
            <a:r>
              <a:rPr lang="en-US" sz="2800" b="1" dirty="0" err="1"/>
              <a:t>Výpočet</a:t>
            </a:r>
            <a:r>
              <a:rPr lang="en-US" sz="2800" b="1" dirty="0"/>
              <a:t> </a:t>
            </a:r>
            <a:r>
              <a:rPr lang="en-US" sz="2800" b="1" dirty="0" err="1"/>
              <a:t>aktuálnej</a:t>
            </a:r>
            <a:r>
              <a:rPr lang="en-US" sz="2800" b="1" dirty="0"/>
              <a:t> </a:t>
            </a:r>
            <a:r>
              <a:rPr lang="en-US" sz="2800" b="1" dirty="0" err="1"/>
              <a:t>hodnoty</a:t>
            </a:r>
            <a:r>
              <a:rPr lang="en-US" sz="2800" b="1" dirty="0"/>
              <a:t> </a:t>
            </a:r>
            <a:r>
              <a:rPr lang="en-US" sz="2800" dirty="0"/>
              <a:t>- </a:t>
            </a:r>
            <a:r>
              <a:rPr lang="en-US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getValue</a:t>
            </a:r>
            <a:endParaRPr lang="en-US" sz="28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lvl="1">
              <a:lnSpc>
                <a:spcPct val="100000"/>
              </a:lnSpc>
            </a:pPr>
            <a:r>
              <a:rPr lang="en-US" sz="2800" b="1" dirty="0" err="1"/>
              <a:t>Zmena</a:t>
            </a:r>
            <a:r>
              <a:rPr lang="en-US" sz="2800" b="1" dirty="0"/>
              <a:t> </a:t>
            </a:r>
            <a:r>
              <a:rPr lang="en-US" sz="2800" b="1" dirty="0" err="1"/>
              <a:t>hodnoty</a:t>
            </a:r>
            <a:r>
              <a:rPr lang="en-US" sz="2800" b="1" dirty="0"/>
              <a:t> </a:t>
            </a:r>
            <a:r>
              <a:rPr lang="en-US" sz="2800" dirty="0"/>
              <a:t>- </a:t>
            </a:r>
            <a:r>
              <a:rPr lang="en-US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setValue</a:t>
            </a:r>
            <a:endParaRPr lang="en-US" sz="28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lvl="1">
              <a:lnSpc>
                <a:spcPct val="100000"/>
              </a:lnSpc>
            </a:pPr>
            <a:r>
              <a:rPr lang="en-US" sz="2800" b="1" dirty="0"/>
              <a:t>Change listeners </a:t>
            </a:r>
            <a:r>
              <a:rPr lang="en-US" sz="2800" dirty="0"/>
              <a:t>- </a:t>
            </a:r>
            <a:r>
              <a:rPr lang="en-US" sz="2800" dirty="0" err="1"/>
              <a:t>upozornenie</a:t>
            </a:r>
            <a:r>
              <a:rPr lang="en-US" sz="2800" dirty="0"/>
              <a:t> </a:t>
            </a:r>
            <a:r>
              <a:rPr lang="en-US" sz="2800" dirty="0" err="1"/>
              <a:t>pri</a:t>
            </a:r>
            <a:r>
              <a:rPr lang="en-US" sz="2800" dirty="0"/>
              <a:t> </a:t>
            </a:r>
            <a:r>
              <a:rPr lang="en-US" sz="2800" dirty="0" err="1"/>
              <a:t>zmene</a:t>
            </a:r>
            <a:r>
              <a:rPr lang="en-US" sz="2800" dirty="0"/>
              <a:t> </a:t>
            </a:r>
            <a:r>
              <a:rPr lang="en-US" sz="2800" dirty="0" err="1"/>
              <a:t>hodnoty</a:t>
            </a:r>
            <a:r>
              <a:rPr lang="en-US" sz="2800" dirty="0"/>
              <a:t> - </a:t>
            </a:r>
            <a:r>
              <a:rPr lang="en-US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addListener</a:t>
            </a:r>
            <a:endParaRPr lang="en-US" sz="28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lvl="1">
              <a:lnSpc>
                <a:spcPct val="100000"/>
              </a:lnSpc>
            </a:pPr>
            <a:r>
              <a:rPr lang="en-US" sz="2800" b="1" dirty="0"/>
              <a:t>Binding</a:t>
            </a:r>
            <a:r>
              <a:rPr lang="en-US" sz="2800" dirty="0"/>
              <a:t> - </a:t>
            </a:r>
            <a:r>
              <a:rPr lang="en-US" sz="2800" dirty="0" err="1"/>
              <a:t>prepojenie</a:t>
            </a:r>
            <a:r>
              <a:rPr lang="en-US" sz="2800" dirty="0"/>
              <a:t> </a:t>
            </a:r>
            <a:r>
              <a:rPr lang="en-US" sz="2800" dirty="0" err="1"/>
              <a:t>viacerých</a:t>
            </a:r>
            <a:r>
              <a:rPr lang="en-US" sz="2800" dirty="0"/>
              <a:t> properties - </a:t>
            </a:r>
            <a:r>
              <a:rPr lang="en-US" sz="2800" dirty="0">
                <a:highlight>
                  <a:srgbClr val="FFFF00"/>
                </a:highlight>
                <a:latin typeface="Consolas" panose="020B0609020204030204" pitchFamily="49" charset="0"/>
              </a:rPr>
              <a:t>bind</a:t>
            </a:r>
            <a:r>
              <a:rPr lang="en-US" sz="2800" dirty="0"/>
              <a:t> a </a:t>
            </a:r>
            <a:r>
              <a:rPr lang="en-US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bindBidirectional</a:t>
            </a:r>
            <a:endParaRPr lang="en-US" sz="2800" dirty="0"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53753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205FF0-6D33-56AD-0391-FDD95D24E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928A198-3283-8E89-E9BD-E0D8A98E2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 err="1"/>
              <a:t>Property</a:t>
            </a:r>
            <a:r>
              <a:rPr lang="sk-SK" dirty="0"/>
              <a:t> objekty v komponentoch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9C71911B-4B97-0C87-017F-3B7F4C7562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265" y="1585314"/>
            <a:ext cx="11159611" cy="4980078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sk-SK" dirty="0"/>
              <a:t>Komponenty poskytujú </a:t>
            </a:r>
            <a:r>
              <a:rPr lang="sk-SK" dirty="0" err="1"/>
              <a:t>property</a:t>
            </a:r>
            <a:r>
              <a:rPr lang="sk-SK" dirty="0"/>
              <a:t> pre svoje vnútorné hodnoty</a:t>
            </a:r>
          </a:p>
          <a:p>
            <a:pPr lvl="1">
              <a:lnSpc>
                <a:spcPct val="110000"/>
              </a:lnSpc>
            </a:pPr>
            <a:r>
              <a:rPr lang="sk-SK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textProperty</a:t>
            </a:r>
            <a:r>
              <a:rPr lang="sk-SK" sz="2800" dirty="0">
                <a:highlight>
                  <a:srgbClr val="FFFF00"/>
                </a:highlight>
                <a:latin typeface="Consolas" panose="020B0609020204030204" pitchFamily="49" charset="0"/>
              </a:rPr>
              <a:t>()</a:t>
            </a:r>
            <a:r>
              <a:rPr lang="sk-SK" sz="2800" dirty="0"/>
              <a:t> - text (</a:t>
            </a:r>
            <a:r>
              <a:rPr lang="sk-SK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sk-SK" sz="2800" dirty="0"/>
              <a:t>) ak má komponent nejaký text (</a:t>
            </a:r>
            <a:r>
              <a:rPr lang="sk-SK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Label</a:t>
            </a:r>
            <a:r>
              <a:rPr lang="sk-SK" sz="2800" dirty="0"/>
              <a:t>, </a:t>
            </a:r>
            <a:r>
              <a:rPr lang="sk-SK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TextField</a:t>
            </a:r>
            <a:r>
              <a:rPr lang="sk-SK" sz="2800" dirty="0"/>
              <a:t>, </a:t>
            </a:r>
            <a:r>
              <a:rPr lang="sk-SK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TextArea</a:t>
            </a:r>
            <a:r>
              <a:rPr lang="sk-SK" sz="2800" dirty="0"/>
              <a:t>, ...)</a:t>
            </a:r>
          </a:p>
          <a:p>
            <a:pPr lvl="1">
              <a:lnSpc>
                <a:spcPct val="110000"/>
              </a:lnSpc>
            </a:pPr>
            <a:r>
              <a:rPr lang="sk-SK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valueProperty</a:t>
            </a:r>
            <a:r>
              <a:rPr lang="sk-SK" sz="2800" dirty="0">
                <a:highlight>
                  <a:srgbClr val="FFFF00"/>
                </a:highlight>
                <a:latin typeface="Consolas" panose="020B0609020204030204" pitchFamily="49" charset="0"/>
              </a:rPr>
              <a:t>()</a:t>
            </a:r>
            <a:r>
              <a:rPr lang="sk-SK" sz="2800" dirty="0"/>
              <a:t> - číslo (</a:t>
            </a:r>
            <a:r>
              <a:rPr lang="sk-SK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Double</a:t>
            </a:r>
            <a:r>
              <a:rPr lang="sk-SK" sz="2800" dirty="0"/>
              <a:t>) pri komponentoch s číselnou hodnotou (</a:t>
            </a:r>
            <a:r>
              <a:rPr lang="sk-SK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Slider</a:t>
            </a:r>
            <a:r>
              <a:rPr lang="sk-SK" sz="2800" dirty="0"/>
              <a:t>)</a:t>
            </a:r>
          </a:p>
          <a:p>
            <a:pPr lvl="1">
              <a:lnSpc>
                <a:spcPct val="110000"/>
              </a:lnSpc>
            </a:pPr>
            <a:r>
              <a:rPr lang="sk-SK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rotateProperty</a:t>
            </a:r>
            <a:r>
              <a:rPr lang="sk-SK" sz="2800" dirty="0">
                <a:highlight>
                  <a:srgbClr val="FFFF00"/>
                </a:highlight>
                <a:latin typeface="Consolas" panose="020B0609020204030204" pitchFamily="49" charset="0"/>
              </a:rPr>
              <a:t>()</a:t>
            </a:r>
            <a:r>
              <a:rPr lang="sk-SK" sz="2800" dirty="0"/>
              <a:t> - stupeň natočenia (</a:t>
            </a:r>
            <a:r>
              <a:rPr lang="sk-SK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Double</a:t>
            </a:r>
            <a:r>
              <a:rPr lang="sk-SK" sz="2800" dirty="0"/>
              <a:t>), má ho takmer každý komponent</a:t>
            </a:r>
          </a:p>
          <a:p>
            <a:pPr lvl="1">
              <a:lnSpc>
                <a:spcPct val="110000"/>
              </a:lnSpc>
            </a:pPr>
            <a:r>
              <a:rPr lang="sk-SK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disableProperty</a:t>
            </a:r>
            <a:r>
              <a:rPr lang="sk-SK" sz="2800" dirty="0">
                <a:highlight>
                  <a:srgbClr val="FFFF00"/>
                </a:highlight>
                <a:latin typeface="Consolas" panose="020B0609020204030204" pitchFamily="49" charset="0"/>
              </a:rPr>
              <a:t>()</a:t>
            </a:r>
            <a:r>
              <a:rPr lang="sk-SK" sz="2800" dirty="0"/>
              <a:t> - </a:t>
            </a:r>
            <a:r>
              <a:rPr lang="sk-SK" sz="2800" dirty="0">
                <a:highlight>
                  <a:srgbClr val="FFFF00"/>
                </a:highlight>
                <a:latin typeface="Consolas" panose="020B0609020204030204" pitchFamily="49" charset="0"/>
              </a:rPr>
              <a:t>boolean</a:t>
            </a:r>
            <a:r>
              <a:rPr lang="sk-SK" sz="2800" dirty="0"/>
              <a:t>, či je komponent neaktívny (</a:t>
            </a:r>
            <a:r>
              <a:rPr lang="sk-SK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Button</a:t>
            </a:r>
            <a:r>
              <a:rPr lang="sk-SK" sz="2800" dirty="0"/>
              <a:t>, </a:t>
            </a:r>
            <a:r>
              <a:rPr lang="sk-SK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CheckBox</a:t>
            </a:r>
            <a:r>
              <a:rPr lang="sk-SK" sz="2800" dirty="0"/>
              <a:t>)</a:t>
            </a:r>
          </a:p>
          <a:p>
            <a:pPr lvl="1">
              <a:lnSpc>
                <a:spcPct val="110000"/>
              </a:lnSpc>
            </a:pPr>
            <a:r>
              <a:rPr lang="sk-SK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selectedProperty</a:t>
            </a:r>
            <a:r>
              <a:rPr lang="sk-SK" sz="2800" dirty="0">
                <a:highlight>
                  <a:srgbClr val="FFFF00"/>
                </a:highlight>
                <a:latin typeface="Consolas" panose="020B0609020204030204" pitchFamily="49" charset="0"/>
              </a:rPr>
              <a:t>()</a:t>
            </a:r>
            <a:r>
              <a:rPr lang="sk-SK" sz="2800" dirty="0"/>
              <a:t> - </a:t>
            </a:r>
            <a:r>
              <a:rPr lang="sk-SK" sz="2800" dirty="0">
                <a:highlight>
                  <a:srgbClr val="FFFF00"/>
                </a:highlight>
                <a:latin typeface="Consolas" panose="020B0609020204030204" pitchFamily="49" charset="0"/>
              </a:rPr>
              <a:t>boolean</a:t>
            </a:r>
            <a:r>
              <a:rPr lang="sk-SK" sz="2800" dirty="0"/>
              <a:t>, či je komponent vybraný (</a:t>
            </a:r>
            <a:r>
              <a:rPr lang="sk-SK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CheckBox</a:t>
            </a:r>
            <a:r>
              <a:rPr lang="sk-SK" sz="2800" dirty="0"/>
              <a:t>, </a:t>
            </a:r>
            <a:r>
              <a:rPr lang="sk-SK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RadioButton</a:t>
            </a:r>
            <a:r>
              <a:rPr lang="sk-SK" sz="2800" dirty="0"/>
              <a:t>)</a:t>
            </a:r>
            <a:endParaRPr lang="en-US" sz="2800" dirty="0"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98449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E2CE7D-2138-DBED-56E8-5E69B291B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34E18B7-D6FC-358D-1D57-6AB6F0073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/>
              <a:t>Vlastné </a:t>
            </a:r>
            <a:r>
              <a:rPr lang="sk-SK" dirty="0" err="1"/>
              <a:t>property</a:t>
            </a:r>
            <a:r>
              <a:rPr lang="sk-SK" dirty="0"/>
              <a:t> objekty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61C6CEA9-7301-C6F3-016D-C94C415524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135" y="1585314"/>
            <a:ext cx="11739717" cy="498007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sk-SK" dirty="0"/>
              <a:t>Základné abstraktné typy </a:t>
            </a:r>
            <a:r>
              <a:rPr lang="sk-SK" dirty="0" err="1"/>
              <a:t>property</a:t>
            </a:r>
            <a:r>
              <a:rPr lang="sk-SK" dirty="0"/>
              <a:t> objektov sú:</a:t>
            </a:r>
          </a:p>
          <a:p>
            <a:pPr lvl="1">
              <a:lnSpc>
                <a:spcPct val="100000"/>
              </a:lnSpc>
            </a:pPr>
            <a:r>
              <a:rPr lang="sk-SK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DoubleProperty</a:t>
            </a:r>
            <a:r>
              <a:rPr lang="sk-SK" sz="2800" dirty="0"/>
              <a:t> - uchováva reálnu číselnú hodnotu</a:t>
            </a:r>
          </a:p>
          <a:p>
            <a:pPr lvl="1">
              <a:lnSpc>
                <a:spcPct val="100000"/>
              </a:lnSpc>
            </a:pPr>
            <a:r>
              <a:rPr lang="sk-SK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IntegerProperty</a:t>
            </a:r>
            <a:r>
              <a:rPr lang="sk-SK" sz="2800" dirty="0"/>
              <a:t> - uchováva celočíselnú hodnotu</a:t>
            </a:r>
          </a:p>
          <a:p>
            <a:pPr lvl="1">
              <a:lnSpc>
                <a:spcPct val="100000"/>
              </a:lnSpc>
            </a:pPr>
            <a:r>
              <a:rPr lang="sk-SK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StringProperty</a:t>
            </a:r>
            <a:r>
              <a:rPr lang="sk-SK" sz="2800" dirty="0"/>
              <a:t> - uchováva textovú hodnotu</a:t>
            </a:r>
          </a:p>
          <a:p>
            <a:pPr lvl="1">
              <a:lnSpc>
                <a:spcPct val="100000"/>
              </a:lnSpc>
            </a:pPr>
            <a:r>
              <a:rPr lang="sk-SK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BooleanProperty</a:t>
            </a:r>
            <a:r>
              <a:rPr lang="sk-SK" sz="2800" dirty="0"/>
              <a:t> - uchováva booleovskú hodnotu</a:t>
            </a:r>
          </a:p>
          <a:p>
            <a:pPr marL="457200" lvl="1" indent="0">
              <a:lnSpc>
                <a:spcPct val="100000"/>
              </a:lnSpc>
              <a:buNone/>
            </a:pPr>
            <a:endParaRPr lang="sk-SK" dirty="0"/>
          </a:p>
          <a:p>
            <a:pPr marL="0" indent="0">
              <a:lnSpc>
                <a:spcPct val="100000"/>
              </a:lnSpc>
              <a:buNone/>
            </a:pPr>
            <a:r>
              <a:rPr lang="sk-SK" dirty="0"/>
              <a:t>Nové objekty vytvoríme pomocou '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Simple</a:t>
            </a:r>
            <a:r>
              <a:rPr lang="sk-SK" dirty="0"/>
              <a:t>' tried (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SimpleDoubleProperty</a:t>
            </a:r>
            <a:r>
              <a:rPr lang="sk-SK" dirty="0"/>
              <a:t>,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SimpleIntegerProperty</a:t>
            </a:r>
            <a:r>
              <a:rPr lang="sk-SK" dirty="0"/>
              <a:t> atď.)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IntegerProperty</a:t>
            </a: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vekProperty</a:t>
            </a: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 = new </a:t>
            </a:r>
            <a:r>
              <a:rPr lang="en-US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SimpleIntegerProperty</a:t>
            </a: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(18);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BooleanProperty</a:t>
            </a: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isStudentProperty</a:t>
            </a: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 = new </a:t>
            </a:r>
            <a:r>
              <a:rPr lang="en-US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SimpleBooleanProperty</a:t>
            </a: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(true);</a:t>
            </a: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05847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C4E49D-2ECF-BE43-F270-35F8788D1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F6CE188-7E29-6BC6-6949-381947C26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/>
              <a:t>Prepojenie </a:t>
            </a:r>
            <a:r>
              <a:rPr lang="sk-SK" dirty="0" err="1"/>
              <a:t>property</a:t>
            </a:r>
            <a:r>
              <a:rPr lang="sk-SK" dirty="0"/>
              <a:t> objektov - </a:t>
            </a:r>
            <a:r>
              <a:rPr lang="sk-SK" dirty="0" err="1"/>
              <a:t>Binding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E26F0FE-7F5A-75B7-D627-C4BFD24600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135" y="1585314"/>
            <a:ext cx="11739717" cy="4980078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sk-SK" b="1" dirty="0" err="1"/>
              <a:t>Binding</a:t>
            </a:r>
            <a:r>
              <a:rPr lang="sk-SK" b="1" dirty="0"/>
              <a:t> - Najdôležitejšia funkcionalita </a:t>
            </a:r>
            <a:r>
              <a:rPr lang="sk-SK" b="1" dirty="0" err="1"/>
              <a:t>property</a:t>
            </a:r>
            <a:r>
              <a:rPr lang="sk-SK" b="1" dirty="0"/>
              <a:t> objektov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sk-SK" dirty="0"/>
              <a:t>Zmena hodnoty v </a:t>
            </a:r>
            <a:r>
              <a:rPr lang="sk-SK" dirty="0" err="1"/>
              <a:t>property</a:t>
            </a:r>
            <a:r>
              <a:rPr lang="sk-SK" dirty="0"/>
              <a:t> sa automaticky prejaví na prepojených </a:t>
            </a:r>
            <a:r>
              <a:rPr lang="sk-SK" dirty="0" err="1"/>
              <a:t>property</a:t>
            </a:r>
            <a:endParaRPr lang="sk-SK" dirty="0"/>
          </a:p>
          <a:p>
            <a:pPr lvl="1">
              <a:lnSpc>
                <a:spcPct val="100000"/>
              </a:lnSpc>
            </a:pPr>
            <a:r>
              <a:rPr lang="sk-SK" sz="2800" b="1" dirty="0"/>
              <a:t>jednosmerné prepojenie </a:t>
            </a:r>
            <a:r>
              <a:rPr lang="sk-SK" sz="2800" dirty="0"/>
              <a:t>- </a:t>
            </a:r>
            <a:r>
              <a:rPr lang="sk-SK" sz="2800" dirty="0" err="1"/>
              <a:t>unidirectional</a:t>
            </a:r>
            <a:r>
              <a:rPr lang="sk-SK" sz="2800" dirty="0"/>
              <a:t> </a:t>
            </a:r>
            <a:r>
              <a:rPr lang="sk-SK" sz="2800" dirty="0" err="1"/>
              <a:t>bind</a:t>
            </a:r>
            <a:r>
              <a:rPr lang="sk-SK" sz="2800" dirty="0"/>
              <a:t> - zmena propagovaná jedným smerom</a:t>
            </a:r>
          </a:p>
          <a:p>
            <a:pPr lvl="1">
              <a:lnSpc>
                <a:spcPct val="100000"/>
              </a:lnSpc>
            </a:pPr>
            <a:r>
              <a:rPr lang="sk-SK" sz="2800" b="1" dirty="0"/>
              <a:t>obojsmerné prepojenie </a:t>
            </a:r>
            <a:r>
              <a:rPr lang="sk-SK" sz="2800" dirty="0"/>
              <a:t>- </a:t>
            </a:r>
            <a:r>
              <a:rPr lang="sk-SK" sz="2800" dirty="0" err="1"/>
              <a:t>bidirectional</a:t>
            </a:r>
            <a:r>
              <a:rPr lang="sk-SK" sz="2800" dirty="0"/>
              <a:t> </a:t>
            </a:r>
            <a:r>
              <a:rPr lang="sk-SK" sz="2800" dirty="0" err="1"/>
              <a:t>bind</a:t>
            </a:r>
            <a:r>
              <a:rPr lang="sk-SK" sz="2800" dirty="0"/>
              <a:t> - zmena propagovaná oboma smermi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sk-SK" dirty="0"/>
              <a:t>Prepojenie sa robí pomocou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bind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()</a:t>
            </a:r>
            <a:r>
              <a:rPr lang="sk-SK" dirty="0"/>
              <a:t> resp.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bindBidirectional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()</a:t>
            </a:r>
          </a:p>
          <a:p>
            <a:pPr marL="0" indent="0">
              <a:lnSpc>
                <a:spcPct val="100000"/>
              </a:lnSpc>
              <a:buNone/>
            </a:pPr>
            <a:r>
              <a:rPr kumimoji="0" lang="sk-SK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Príklad: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fooProperty.bind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barProperty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sk-SK" dirty="0"/>
              <a:t>Keď sa zmení hodnota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barProperty</a:t>
            </a:r>
            <a:r>
              <a:rPr lang="sk-SK" dirty="0"/>
              <a:t> tak sa automaticky zmení aj hodnota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fooProperty</a:t>
            </a:r>
            <a:r>
              <a:rPr lang="sk-SK" dirty="0"/>
              <a:t>. </a:t>
            </a:r>
            <a:r>
              <a:rPr lang="sk-SK" i="1" dirty="0"/>
              <a:t>Druhým smerom to nebude platiť</a:t>
            </a:r>
            <a:r>
              <a:rPr lang="sk-SK" dirty="0"/>
              <a:t>.</a:t>
            </a: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0021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lider1">
            <a:extLst>
              <a:ext uri="{FF2B5EF4-FFF2-40B4-BE49-F238E27FC236}">
                <a16:creationId xmlns:a16="http://schemas.microsoft.com/office/drawing/2014/main" id="{00F0BABE-178A-171E-87C2-B12C8465488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2142" y="82251"/>
            <a:ext cx="5439172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BlokTextu 4">
            <a:extLst>
              <a:ext uri="{FF2B5EF4-FFF2-40B4-BE49-F238E27FC236}">
                <a16:creationId xmlns:a16="http://schemas.microsoft.com/office/drawing/2014/main" id="{A2B54106-F2FF-7D04-7833-EC55DB1B84B6}"/>
              </a:ext>
            </a:extLst>
          </p:cNvPr>
          <p:cNvSpPr txBox="1"/>
          <p:nvPr/>
        </p:nvSpPr>
        <p:spPr>
          <a:xfrm>
            <a:off x="77483" y="3429000"/>
            <a:ext cx="11839214" cy="298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k-SK" sz="2800" dirty="0"/>
              <a:t>V tomto príklade sú pre nás zaujímavé </a:t>
            </a:r>
            <a:br>
              <a:rPr lang="sk-SK" sz="2800" dirty="0"/>
            </a:br>
            <a:r>
              <a:rPr lang="sk-SK" sz="2800" dirty="0"/>
              <a:t>nasledovné </a:t>
            </a:r>
            <a:r>
              <a:rPr lang="sk-SK" sz="2800" dirty="0" err="1"/>
              <a:t>property</a:t>
            </a:r>
            <a:r>
              <a:rPr lang="sk-SK" sz="2800" dirty="0"/>
              <a:t> objekty:</a:t>
            </a:r>
          </a:p>
          <a:p>
            <a:endParaRPr lang="sk-SK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sk-SK" sz="2600" dirty="0" err="1"/>
              <a:t>Slider</a:t>
            </a:r>
            <a:r>
              <a:rPr lang="sk-SK" sz="2600" dirty="0"/>
              <a:t> má </a:t>
            </a:r>
            <a:r>
              <a:rPr lang="sk-SK" sz="2600" dirty="0" err="1"/>
              <a:t>property</a:t>
            </a:r>
            <a:r>
              <a:rPr lang="sk-SK" sz="2600" dirty="0"/>
              <a:t> so svojou hodnotou - </a:t>
            </a:r>
            <a:r>
              <a:rPr lang="sk-SK" sz="2600" dirty="0" err="1">
                <a:highlight>
                  <a:srgbClr val="FFFF00"/>
                </a:highlight>
                <a:latin typeface="Consolas" panose="020B0609020204030204" pitchFamily="49" charset="0"/>
              </a:rPr>
              <a:t>slider.ValueProperty</a:t>
            </a:r>
            <a:r>
              <a:rPr lang="sk-SK" sz="2600" dirty="0">
                <a:highlight>
                  <a:srgbClr val="FFFF00"/>
                </a:highlight>
                <a:latin typeface="Consolas" panose="020B0609020204030204" pitchFamily="49" charset="0"/>
              </a:rPr>
              <a:t>()</a:t>
            </a:r>
            <a:r>
              <a:rPr lang="sk-SK" sz="2600" dirty="0"/>
              <a:t> - </a:t>
            </a:r>
            <a:r>
              <a:rPr lang="sk-SK" sz="2600" dirty="0" err="1"/>
              <a:t>Double</a:t>
            </a:r>
            <a:endParaRPr lang="sk-SK" sz="26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sk-SK" sz="2600" dirty="0"/>
              <a:t>Komponent s logom má </a:t>
            </a:r>
            <a:r>
              <a:rPr lang="sk-SK" sz="2600" dirty="0" err="1"/>
              <a:t>property</a:t>
            </a:r>
            <a:r>
              <a:rPr lang="sk-SK" sz="2600" dirty="0"/>
              <a:t> nad hodnotou otočenia - </a:t>
            </a:r>
            <a:r>
              <a:rPr lang="sk-SK" sz="2600" dirty="0" err="1">
                <a:highlight>
                  <a:srgbClr val="FFFF00"/>
                </a:highlight>
                <a:latin typeface="Consolas" panose="020B0609020204030204" pitchFamily="49" charset="0"/>
              </a:rPr>
              <a:t>obrazok.rotateProperty</a:t>
            </a:r>
            <a:r>
              <a:rPr lang="sk-SK" sz="2600" dirty="0">
                <a:highlight>
                  <a:srgbClr val="FFFF00"/>
                </a:highlight>
                <a:latin typeface="Consolas" panose="020B0609020204030204" pitchFamily="49" charset="0"/>
              </a:rPr>
              <a:t>()</a:t>
            </a:r>
            <a:r>
              <a:rPr lang="sk-SK" sz="2600" dirty="0"/>
              <a:t> - </a:t>
            </a:r>
            <a:r>
              <a:rPr lang="sk-SK" sz="2600" dirty="0" err="1"/>
              <a:t>Double</a:t>
            </a:r>
            <a:endParaRPr lang="sk-SK" sz="26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sk-SK" sz="2600" dirty="0" err="1"/>
              <a:t>Label</a:t>
            </a:r>
            <a:r>
              <a:rPr lang="sk-SK" sz="2600" dirty="0"/>
              <a:t> má </a:t>
            </a:r>
            <a:r>
              <a:rPr lang="sk-SK" sz="2600" dirty="0" err="1"/>
              <a:t>property</a:t>
            </a:r>
            <a:r>
              <a:rPr lang="sk-SK" sz="2600" dirty="0"/>
              <a:t> s textom - </a:t>
            </a:r>
            <a:r>
              <a:rPr lang="sk-SK" sz="2600" dirty="0" err="1">
                <a:highlight>
                  <a:srgbClr val="FFFF00"/>
                </a:highlight>
                <a:latin typeface="Consolas" panose="020B0609020204030204" pitchFamily="49" charset="0"/>
              </a:rPr>
              <a:t>label.textProperty</a:t>
            </a:r>
            <a:r>
              <a:rPr lang="sk-SK" sz="2600" dirty="0">
                <a:highlight>
                  <a:srgbClr val="FFFF00"/>
                </a:highlight>
                <a:latin typeface="Consolas" panose="020B0609020204030204" pitchFamily="49" charset="0"/>
              </a:rPr>
              <a:t>()</a:t>
            </a:r>
            <a:r>
              <a:rPr lang="sk-SK" sz="2600" dirty="0"/>
              <a:t> - </a:t>
            </a:r>
            <a:r>
              <a:rPr lang="sk-SK" sz="2600" dirty="0" err="1"/>
              <a:t>String</a:t>
            </a:r>
            <a:endParaRPr lang="sk-SK" sz="2600" dirty="0"/>
          </a:p>
        </p:txBody>
      </p:sp>
    </p:spTree>
    <p:extLst>
      <p:ext uri="{BB962C8B-B14F-4D97-AF65-F5344CB8AC3E}">
        <p14:creationId xmlns:p14="http://schemas.microsoft.com/office/powerpoint/2010/main" val="24753383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54B101F6-D46C-A9AA-3CE6-FF13F5D515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645" y="167148"/>
            <a:ext cx="11759381" cy="6449962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latin typeface="Consolas" panose="020B0609020204030204" pitchFamily="49" charset="0"/>
              </a:rPr>
              <a:t>Namiesto: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initialize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()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slider.valueProperty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().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addListener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obs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,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oldVal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,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newVal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) -&gt;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obrazok.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setRotate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newVal.doubleValue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());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});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latin typeface="Consolas" panose="020B0609020204030204" pitchFamily="49" charset="0"/>
              </a:rPr>
              <a:t>Použijeme prepojenie: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initialize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()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obrazok.rotateProperty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().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bind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slider.valueProperty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());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latin typeface="Consolas" panose="020B0609020204030204" pitchFamily="49" charset="0"/>
              </a:rPr>
              <a:t>Ostáva nám prepojiť </a:t>
            </a:r>
            <a:r>
              <a:rPr lang="sk-SK" dirty="0" err="1">
                <a:latin typeface="Consolas" panose="020B0609020204030204" pitchFamily="49" charset="0"/>
              </a:rPr>
              <a:t>label</a:t>
            </a:r>
            <a:r>
              <a:rPr lang="sk-SK" dirty="0">
                <a:latin typeface="Consolas" panose="020B0609020204030204" pitchFamily="49" charset="0"/>
              </a:rPr>
              <a:t>, ale </a:t>
            </a:r>
            <a:r>
              <a:rPr lang="sk-SK" dirty="0" err="1">
                <a:latin typeface="Consolas" panose="020B0609020204030204" pitchFamily="49" charset="0"/>
              </a:rPr>
              <a:t>Double</a:t>
            </a:r>
            <a:r>
              <a:rPr lang="sk-SK" dirty="0">
                <a:latin typeface="Consolas" panose="020B0609020204030204" pitchFamily="49" charset="0"/>
              </a:rPr>
              <a:t> </a:t>
            </a:r>
            <a:r>
              <a:rPr lang="sk-SK" dirty="0" err="1">
                <a:latin typeface="Consolas" panose="020B0609020204030204" pitchFamily="49" charset="0"/>
              </a:rPr>
              <a:t>property</a:t>
            </a:r>
            <a:r>
              <a:rPr lang="sk-SK" dirty="0">
                <a:latin typeface="Consolas" panose="020B0609020204030204" pitchFamily="49" charset="0"/>
              </a:rPr>
              <a:t> sa nedá priamo prepojiť so </a:t>
            </a:r>
            <a:r>
              <a:rPr lang="sk-SK" dirty="0" err="1">
                <a:latin typeface="Consolas" panose="020B0609020204030204" pitchFamily="49" charset="0"/>
              </a:rPr>
              <a:t>String</a:t>
            </a:r>
            <a:r>
              <a:rPr lang="sk-SK" dirty="0">
                <a:latin typeface="Consolas" panose="020B0609020204030204" pitchFamily="49" charset="0"/>
              </a:rPr>
              <a:t> </a:t>
            </a:r>
            <a:r>
              <a:rPr lang="sk-SK" dirty="0" err="1">
                <a:latin typeface="Consolas" panose="020B0609020204030204" pitchFamily="49" charset="0"/>
              </a:rPr>
              <a:t>property</a:t>
            </a:r>
            <a:endParaRPr lang="sk-SK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7300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1A91B7-B240-5CCC-C4C0-653AD81AA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5C45588-907E-D42B-2CE3-C0AF46E5F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/>
              <a:t>Transformácia </a:t>
            </a:r>
            <a:r>
              <a:rPr lang="sk-SK" dirty="0" err="1"/>
              <a:t>property</a:t>
            </a:r>
            <a:r>
              <a:rPr lang="sk-SK" dirty="0"/>
              <a:t> objektov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B9342438-46C9-1E5E-9B99-9C167EEBC6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135" y="1585314"/>
            <a:ext cx="11739717" cy="498007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sk-SK" dirty="0" err="1"/>
              <a:t>javafx.beans.binding.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Bindings</a:t>
            </a:r>
            <a:r>
              <a:rPr lang="sk-SK" dirty="0"/>
              <a:t> poskytuje metódy na transformáciu hodnôt</a:t>
            </a:r>
          </a:p>
          <a:p>
            <a:pPr lvl="1">
              <a:lnSpc>
                <a:spcPct val="100000"/>
              </a:lnSpc>
            </a:pPr>
            <a:r>
              <a:rPr lang="sk-SK" sz="2800" dirty="0"/>
              <a:t>Manipulácie s číslami: </a:t>
            </a:r>
            <a:r>
              <a:rPr lang="sk-SK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add</a:t>
            </a:r>
            <a:r>
              <a:rPr lang="sk-SK" sz="2800" dirty="0"/>
              <a:t>, </a:t>
            </a:r>
            <a:r>
              <a:rPr lang="sk-SK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subract</a:t>
            </a:r>
            <a:r>
              <a:rPr lang="sk-SK" sz="2800" dirty="0"/>
              <a:t>, </a:t>
            </a:r>
            <a:r>
              <a:rPr lang="sk-SK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multiply</a:t>
            </a:r>
            <a:r>
              <a:rPr lang="sk-SK" sz="2800" dirty="0"/>
              <a:t>, </a:t>
            </a:r>
            <a:r>
              <a:rPr lang="sk-SK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divide</a:t>
            </a:r>
            <a:r>
              <a:rPr lang="sk-SK" sz="2800" dirty="0"/>
              <a:t>, </a:t>
            </a:r>
            <a:r>
              <a:rPr lang="sk-SK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negate</a:t>
            </a:r>
            <a:r>
              <a:rPr lang="sk-SK" sz="2800" dirty="0"/>
              <a:t>, </a:t>
            </a:r>
            <a:r>
              <a:rPr lang="sk-SK" sz="2800" dirty="0">
                <a:highlight>
                  <a:srgbClr val="FFFF00"/>
                </a:highlight>
                <a:latin typeface="Consolas" panose="020B0609020204030204" pitchFamily="49" charset="0"/>
              </a:rPr>
              <a:t>max</a:t>
            </a:r>
            <a:r>
              <a:rPr lang="sk-SK" sz="2800" dirty="0"/>
              <a:t>, </a:t>
            </a:r>
            <a:r>
              <a:rPr lang="sk-SK" sz="2800" dirty="0">
                <a:highlight>
                  <a:srgbClr val="FFFF00"/>
                </a:highlight>
                <a:latin typeface="Consolas" panose="020B0609020204030204" pitchFamily="49" charset="0"/>
              </a:rPr>
              <a:t>min</a:t>
            </a:r>
            <a:r>
              <a:rPr lang="sk-SK" sz="2800" dirty="0"/>
              <a:t>. </a:t>
            </a:r>
          </a:p>
          <a:p>
            <a:pPr lvl="1">
              <a:lnSpc>
                <a:spcPct val="100000"/>
              </a:lnSpc>
            </a:pPr>
            <a:r>
              <a:rPr lang="sk-SK" sz="2800" dirty="0"/>
              <a:t>Prevod na text: </a:t>
            </a:r>
            <a:r>
              <a:rPr lang="sk-SK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format</a:t>
            </a:r>
            <a:r>
              <a:rPr lang="sk-SK" sz="2800" dirty="0"/>
              <a:t> - funguje podobne ako </a:t>
            </a:r>
            <a:r>
              <a:rPr lang="sk-SK" sz="2800" dirty="0" err="1"/>
              <a:t>String.format</a:t>
            </a:r>
            <a:endParaRPr lang="sk-SK" sz="2800" dirty="0"/>
          </a:p>
          <a:p>
            <a:pPr lvl="1">
              <a:lnSpc>
                <a:spcPct val="100000"/>
              </a:lnSpc>
            </a:pPr>
            <a:r>
              <a:rPr lang="sk-SK" sz="2800" dirty="0"/>
              <a:t>Prevod na booleovskú hodnotu: </a:t>
            </a:r>
            <a:r>
              <a:rPr lang="sk-SK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notEqual</a:t>
            </a:r>
            <a:r>
              <a:rPr lang="sk-SK" sz="2800" dirty="0"/>
              <a:t>, </a:t>
            </a:r>
            <a:r>
              <a:rPr lang="sk-SK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lessThan</a:t>
            </a:r>
            <a:r>
              <a:rPr lang="sk-SK" sz="2800" dirty="0"/>
              <a:t>, </a:t>
            </a:r>
            <a:r>
              <a:rPr lang="sk-SK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greaterThan</a:t>
            </a:r>
            <a:r>
              <a:rPr lang="sk-SK" dirty="0"/>
              <a:t>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sk-SK" dirty="0"/>
              <a:t>Príklady: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Bindings.add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(10,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property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Bindings.notEqual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(property1, property2)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sk-SK" dirty="0"/>
              <a:t>Transformácie vieme voľne kombinovať</a:t>
            </a: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40875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B3F33-FCCB-23C3-CE77-1EF912DCB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lokTextu 4">
            <a:extLst>
              <a:ext uri="{FF2B5EF4-FFF2-40B4-BE49-F238E27FC236}">
                <a16:creationId xmlns:a16="http://schemas.microsoft.com/office/drawing/2014/main" id="{CDD2750A-AC91-2389-E0F6-BD3A2CBC1F2F}"/>
              </a:ext>
            </a:extLst>
          </p:cNvPr>
          <p:cNvSpPr txBox="1"/>
          <p:nvPr/>
        </p:nvSpPr>
        <p:spPr>
          <a:xfrm>
            <a:off x="87315" y="3041571"/>
            <a:ext cx="11839214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sk-SK" sz="2800" dirty="0"/>
          </a:p>
          <a:p>
            <a:endParaRPr lang="sk-SK" sz="2800" dirty="0"/>
          </a:p>
          <a:p>
            <a:endParaRPr lang="sk-SK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sk-SK" sz="2600" dirty="0" err="1"/>
              <a:t>Slider</a:t>
            </a:r>
            <a:r>
              <a:rPr lang="sk-SK" sz="2600" dirty="0"/>
              <a:t> má </a:t>
            </a:r>
            <a:r>
              <a:rPr lang="sk-SK" sz="2600" dirty="0" err="1"/>
              <a:t>property</a:t>
            </a:r>
            <a:r>
              <a:rPr lang="sk-SK" sz="2600" dirty="0"/>
              <a:t> so svojou hodnotou - </a:t>
            </a:r>
            <a:r>
              <a:rPr lang="sk-SK" sz="2600" dirty="0" err="1">
                <a:highlight>
                  <a:srgbClr val="FFFF00"/>
                </a:highlight>
                <a:latin typeface="Consolas" panose="020B0609020204030204" pitchFamily="49" charset="0"/>
              </a:rPr>
              <a:t>slider.ValueProperty</a:t>
            </a:r>
            <a:r>
              <a:rPr lang="sk-SK" sz="2600" dirty="0">
                <a:highlight>
                  <a:srgbClr val="FFFF00"/>
                </a:highlight>
                <a:latin typeface="Consolas" panose="020B0609020204030204" pitchFamily="49" charset="0"/>
              </a:rPr>
              <a:t>()</a:t>
            </a:r>
            <a:r>
              <a:rPr lang="sk-SK" sz="2600" dirty="0"/>
              <a:t> - </a:t>
            </a:r>
            <a:r>
              <a:rPr lang="sk-SK" sz="2600" dirty="0" err="1"/>
              <a:t>Double</a:t>
            </a:r>
            <a:endParaRPr lang="sk-SK" sz="26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sk-SK" sz="2600" dirty="0"/>
              <a:t>Komponent s logom má </a:t>
            </a:r>
            <a:r>
              <a:rPr lang="sk-SK" sz="2600" dirty="0" err="1"/>
              <a:t>property</a:t>
            </a:r>
            <a:r>
              <a:rPr lang="sk-SK" sz="2600" dirty="0"/>
              <a:t> nad hodnotou otočenia - </a:t>
            </a:r>
            <a:r>
              <a:rPr lang="sk-SK" sz="2600" dirty="0" err="1">
                <a:highlight>
                  <a:srgbClr val="FFFF00"/>
                </a:highlight>
                <a:latin typeface="Consolas" panose="020B0609020204030204" pitchFamily="49" charset="0"/>
              </a:rPr>
              <a:t>obrazok.rotateProperty</a:t>
            </a:r>
            <a:r>
              <a:rPr lang="sk-SK" sz="2600" dirty="0">
                <a:highlight>
                  <a:srgbClr val="FFFF00"/>
                </a:highlight>
                <a:latin typeface="Consolas" panose="020B0609020204030204" pitchFamily="49" charset="0"/>
              </a:rPr>
              <a:t>()</a:t>
            </a:r>
            <a:r>
              <a:rPr lang="sk-SK" sz="2600" dirty="0"/>
              <a:t> - </a:t>
            </a:r>
            <a:r>
              <a:rPr lang="sk-SK" sz="2600" dirty="0" err="1"/>
              <a:t>Double</a:t>
            </a:r>
            <a:endParaRPr lang="sk-SK" sz="26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sk-SK" sz="2600" dirty="0" err="1"/>
              <a:t>Label</a:t>
            </a:r>
            <a:r>
              <a:rPr lang="sk-SK" sz="2600" dirty="0"/>
              <a:t> má </a:t>
            </a:r>
            <a:r>
              <a:rPr lang="sk-SK" sz="2600" dirty="0" err="1"/>
              <a:t>property</a:t>
            </a:r>
            <a:r>
              <a:rPr lang="sk-SK" sz="2600" dirty="0"/>
              <a:t> s textom - </a:t>
            </a:r>
            <a:r>
              <a:rPr lang="sk-SK" sz="2600" dirty="0" err="1">
                <a:highlight>
                  <a:srgbClr val="FFFF00"/>
                </a:highlight>
                <a:latin typeface="Consolas" panose="020B0609020204030204" pitchFamily="49" charset="0"/>
              </a:rPr>
              <a:t>label.textProperty</a:t>
            </a:r>
            <a:r>
              <a:rPr lang="sk-SK" sz="2600" dirty="0">
                <a:highlight>
                  <a:srgbClr val="FFFF00"/>
                </a:highlight>
                <a:latin typeface="Consolas" panose="020B0609020204030204" pitchFamily="49" charset="0"/>
              </a:rPr>
              <a:t>()</a:t>
            </a:r>
            <a:r>
              <a:rPr lang="sk-SK" sz="2600" dirty="0"/>
              <a:t> – </a:t>
            </a:r>
            <a:r>
              <a:rPr lang="sk-SK" sz="2600" dirty="0" err="1"/>
              <a:t>String</a:t>
            </a:r>
            <a:endParaRPr lang="sk-SK" sz="26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sk-SK" sz="2600" i="1" dirty="0"/>
              <a:t>Tlačidlá majú </a:t>
            </a:r>
            <a:r>
              <a:rPr lang="sk-SK" sz="2600" i="1" dirty="0" err="1"/>
              <a:t>property</a:t>
            </a:r>
            <a:r>
              <a:rPr lang="sk-SK" sz="2600" i="1" dirty="0"/>
              <a:t> </a:t>
            </a:r>
            <a:r>
              <a:rPr lang="sk-SK" sz="2600" i="1" dirty="0" err="1"/>
              <a:t>neaktívnosti</a:t>
            </a:r>
            <a:r>
              <a:rPr lang="sk-SK" sz="2600" i="1" dirty="0"/>
              <a:t> - </a:t>
            </a:r>
            <a:r>
              <a:rPr lang="sk-SK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plusButton.disableProperty</a:t>
            </a:r>
            <a:r>
              <a:rPr lang="sk-SK" sz="2800" dirty="0">
                <a:highlight>
                  <a:srgbClr val="FFFF00"/>
                </a:highlight>
                <a:latin typeface="Consolas" panose="020B0609020204030204" pitchFamily="49" charset="0"/>
              </a:rPr>
              <a:t>()</a:t>
            </a:r>
            <a:r>
              <a:rPr lang="sk-SK" sz="2600" i="1" dirty="0"/>
              <a:t> - Boolean</a:t>
            </a:r>
          </a:p>
        </p:txBody>
      </p:sp>
      <p:pic>
        <p:nvPicPr>
          <p:cNvPr id="6" name="Picture 2" descr="Slider">
            <a:extLst>
              <a:ext uri="{FF2B5EF4-FFF2-40B4-BE49-F238E27FC236}">
                <a16:creationId xmlns:a16="http://schemas.microsoft.com/office/drawing/2014/main" id="{A4343AAF-083E-5CAB-3392-98A5D376CC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4715" y="0"/>
            <a:ext cx="4604057" cy="4301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61986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8376C-C4CF-1918-20F2-F68B2D06C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7117568F-AEFD-3255-27AB-2A0918C44E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645" y="167148"/>
            <a:ext cx="11759381" cy="6449962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initialize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()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obrazok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.rotateProperty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().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bind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slider.valueProperty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());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label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.textProperty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().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bind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b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</a:b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Bindings.format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("%.2f°",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slider.valueProperty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()));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minusButton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.disableProperty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().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bind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b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</a:b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Bindings.lessThanOrEqual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slider.valueProperty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(),0));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plusButton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.disableProperty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().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bind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b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</a:b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Bindings.greaterThanOrEqual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slider.valueProperty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(), 360));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051474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B3FC6A-D923-2569-41D4-CD6868D72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Slider">
            <a:extLst>
              <a:ext uri="{FF2B5EF4-FFF2-40B4-BE49-F238E27FC236}">
                <a16:creationId xmlns:a16="http://schemas.microsoft.com/office/drawing/2014/main" id="{FD9F5558-DF18-7D17-D28A-1BCAF06BCD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6635" y="352623"/>
            <a:ext cx="8967236" cy="3857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8694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BBED0F-EBC3-1EB3-4099-181123BB2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9840D42F-B80C-B37E-DFC9-B39DD69A7A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645" y="167148"/>
            <a:ext cx="11759381" cy="6449962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initialize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()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obrazok1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.rotateProperty().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bind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b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</a:b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Bindings.divide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slider.valueProperty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(), 4.0));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obrazok2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.rotateProperty().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bind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b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</a:b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Bindings.divide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slider.valueProperty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(), 2.0));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obrazok3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.rotateProperty().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bind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b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</a:b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slider.valueProperty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());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obrazok4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.rotateProperty().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bind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b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</a:b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Bindings.multiply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slider.valueProperty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(), 2.0));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label.textProperty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().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bind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b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</a:b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Bindings.format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("%.2f°",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slider.valueProperty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()));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minusButton.disableProperty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().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bind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b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</a:b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slider.valueProperty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().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lessThanOrEqualTo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(0));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plusButton.disableProperty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().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bind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b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</a:b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slider.valueProperty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().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greaterThanOrEqualTo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(360));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78421694"/>
      </p:ext>
    </p:extLst>
  </p:cSld>
  <p:clrMapOvr>
    <a:masterClrMapping/>
  </p:clrMapOvr>
</p:sld>
</file>

<file path=ppt/theme/theme1.xml><?xml version="1.0" encoding="utf-8"?>
<a:theme xmlns:a="http://schemas.openxmlformats.org/drawingml/2006/main" name="Motív Office">
  <a:themeElements>
    <a:clrScheme name="Motív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Motív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Motív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27948</TotalTime>
  <Words>821</Words>
  <Application>Microsoft Office PowerPoint</Application>
  <PresentationFormat>Širokouhlá</PresentationFormat>
  <Paragraphs>104</Paragraphs>
  <Slides>14</Slides>
  <Notes>0</Notes>
  <HiddenSlides>0</HiddenSlides>
  <MMClips>0</MMClips>
  <ScaleCrop>false</ScaleCrop>
  <HeadingPairs>
    <vt:vector size="6" baseType="variant">
      <vt:variant>
        <vt:lpstr>Použité písma</vt:lpstr>
      </vt:variant>
      <vt:variant>
        <vt:i4>4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Consolas</vt:lpstr>
      <vt:lpstr>Motív Office</vt:lpstr>
      <vt:lpstr>Objektovo orientované programovanie</vt:lpstr>
      <vt:lpstr>OPG Teória 25</vt:lpstr>
      <vt:lpstr>Opakovanie</vt:lpstr>
      <vt:lpstr>javafx.beans.property.Property</vt:lpstr>
      <vt:lpstr>Property objekty v komponentoch</vt:lpstr>
      <vt:lpstr>Vlastné property objekty</vt:lpstr>
      <vt:lpstr>Prepojenie property objektov - Binding</vt:lpstr>
      <vt:lpstr>Prezentácia programu PowerPoint</vt:lpstr>
      <vt:lpstr>Prezentácia programu PowerPoint</vt:lpstr>
      <vt:lpstr>Transformácia property objektov</vt:lpstr>
      <vt:lpstr>Prezentácia programu PowerPoint</vt:lpstr>
      <vt:lpstr>Prezentácia programu PowerPoint</vt:lpstr>
      <vt:lpstr>Prezentácia programu PowerPoint</vt:lpstr>
      <vt:lpstr>Prezentácia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Lenka Wagnerová</dc:creator>
  <cp:lastModifiedBy>Wagner Jozef Ing., PhD.</cp:lastModifiedBy>
  <cp:revision>89</cp:revision>
  <dcterms:created xsi:type="dcterms:W3CDTF">2025-09-05T09:09:34Z</dcterms:created>
  <dcterms:modified xsi:type="dcterms:W3CDTF">2026-04-01T19:34:06Z</dcterms:modified>
</cp:coreProperties>
</file>